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67" r:id="rId2"/>
    <p:sldId id="369" r:id="rId3"/>
    <p:sldId id="370" r:id="rId4"/>
    <p:sldId id="371" r:id="rId5"/>
    <p:sldId id="372" r:id="rId6"/>
    <p:sldId id="268" r:id="rId7"/>
    <p:sldId id="373" r:id="rId8"/>
    <p:sldId id="375" r:id="rId9"/>
    <p:sldId id="37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33" autoAdjust="0"/>
    <p:restoredTop sz="93603" autoAdjust="0"/>
  </p:normalViewPr>
  <p:slideViewPr>
    <p:cSldViewPr snapToGrid="0">
      <p:cViewPr varScale="1">
        <p:scale>
          <a:sx n="83" d="100"/>
          <a:sy n="83" d="100"/>
        </p:scale>
        <p:origin x="84"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26F87-5AC5-4A09-AD6F-5DE45DC7D315}" type="datetimeFigureOut">
              <a:rPr lang="zh-CN" altLang="en-US" smtClean="0"/>
              <a:t>2026/5/28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B498B-863B-4F01-85D4-98FC22D0115B}" type="slidenum">
              <a:rPr lang="zh-CN" altLang="en-US" smtClean="0"/>
              <a:t>‹#›</a:t>
            </a:fld>
            <a:endParaRPr lang="zh-CN" altLang="en-US"/>
          </a:p>
        </p:txBody>
      </p:sp>
    </p:spTree>
    <p:extLst>
      <p:ext uri="{BB962C8B-B14F-4D97-AF65-F5344CB8AC3E}">
        <p14:creationId xmlns:p14="http://schemas.microsoft.com/office/powerpoint/2010/main" val="3490817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dirty="0">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5194A-2EA9-8FC0-BA2D-CA8561E071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4C0424-82B2-8E49-702D-1EECB49486C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DA576A2-5B7E-D956-F001-079D7BE7D71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56FF82B-F958-5DC6-0500-4C2B656A030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E3CF89-91F4-45FB-A589-58532703FCA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13546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CC23E-5DFE-578F-2ED7-3D587848F4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7F8453-89AB-CB5E-5836-AA2E4CE735D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0E3EA18-765A-D325-B83F-4B8C61C4CD0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1D7A174-FA1C-6E1A-49FB-2006B647991B}"/>
              </a:ext>
            </a:extLst>
          </p:cNvPr>
          <p:cNvSpPr>
            <a:spLocks noGrp="1"/>
          </p:cNvSpPr>
          <p:nvPr>
            <p:ph type="sldNum" sz="quarter" idx="10"/>
          </p:nvPr>
        </p:nvSpPr>
        <p:spPr/>
        <p:txBody>
          <a:bodyPr/>
          <a:lstStyle/>
          <a:p>
            <a:fld id="{59E3CF89-91F4-45FB-A589-58532703FCA1}" type="slidenum">
              <a:rPr lang="zh-CN" altLang="en-US" smtClean="0"/>
              <a:t>3</a:t>
            </a:fld>
            <a:endParaRPr lang="zh-CN" altLang="en-US"/>
          </a:p>
        </p:txBody>
      </p:sp>
    </p:spTree>
    <p:extLst>
      <p:ext uri="{BB962C8B-B14F-4D97-AF65-F5344CB8AC3E}">
        <p14:creationId xmlns:p14="http://schemas.microsoft.com/office/powerpoint/2010/main" val="2054659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D5F60-7A3D-ADDF-3AC0-DB888140A2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C3A20F-3F5A-13AD-B652-9ED949D823D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FE51580-F0F2-6977-3DFB-0496300DC28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151B81C-3757-A049-06CE-33F30137E61B}"/>
              </a:ext>
            </a:extLst>
          </p:cNvPr>
          <p:cNvSpPr>
            <a:spLocks noGrp="1"/>
          </p:cNvSpPr>
          <p:nvPr>
            <p:ph type="sldNum" sz="quarter" idx="10"/>
          </p:nvPr>
        </p:nvSpPr>
        <p:spPr/>
        <p:txBody>
          <a:bodyPr/>
          <a:lstStyle/>
          <a:p>
            <a:fld id="{59E3CF89-91F4-45FB-A589-58532703FCA1}" type="slidenum">
              <a:rPr lang="zh-CN" altLang="en-US" smtClean="0"/>
              <a:t>4</a:t>
            </a:fld>
            <a:endParaRPr lang="zh-CN" altLang="en-US"/>
          </a:p>
        </p:txBody>
      </p:sp>
    </p:spTree>
    <p:extLst>
      <p:ext uri="{BB962C8B-B14F-4D97-AF65-F5344CB8AC3E}">
        <p14:creationId xmlns:p14="http://schemas.microsoft.com/office/powerpoint/2010/main" val="378951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331EF-ED12-A3B9-3C7D-131DF60932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CB400B-0F09-50E2-490F-717E1A0C744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D137252-3F01-38C7-DDB2-EA9344C88A9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850FC8D-8656-45D0-6CEA-551401304346}"/>
              </a:ext>
            </a:extLst>
          </p:cNvPr>
          <p:cNvSpPr>
            <a:spLocks noGrp="1"/>
          </p:cNvSpPr>
          <p:nvPr>
            <p:ph type="sldNum" sz="quarter" idx="10"/>
          </p:nvPr>
        </p:nvSpPr>
        <p:spPr/>
        <p:txBody>
          <a:bodyPr/>
          <a:lstStyle/>
          <a:p>
            <a:fld id="{59E3CF89-91F4-45FB-A589-58532703FCA1}" type="slidenum">
              <a:rPr lang="zh-CN" altLang="en-US" smtClean="0"/>
              <a:t>5</a:t>
            </a:fld>
            <a:endParaRPr lang="zh-CN" altLang="en-US"/>
          </a:p>
        </p:txBody>
      </p:sp>
    </p:spTree>
    <p:extLst>
      <p:ext uri="{BB962C8B-B14F-4D97-AF65-F5344CB8AC3E}">
        <p14:creationId xmlns:p14="http://schemas.microsoft.com/office/powerpoint/2010/main" val="3351607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Noto Sans SC"/>
                <a:ea typeface="Noto Sans SC"/>
                <a:cs typeface="Noto Sans SC"/>
                <a:sym typeface="Noto Sans SC"/>
              </a:rPr>
              <a:t>通过本项目，我们预期将取得一系列成果。包括一个可运行的三维仿真系统，一套高性能的开源算法模块，一个高精度的三维场景模型，以及一段高真实感的演示视频。同时，我们还计划撰写一篇学术论文，并申请一项软件著作权，以全面展示我们的研究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a:ea typeface="Noto Sans SC"/>
                <a:cs typeface="Noto Sans SC"/>
                <a:sym typeface="Noto Sans SC"/>
              </a:rPr>
              <a:t>最后，我要诚挚地感谢我的母校，为我们提供了这样宝贵的实践平台。感谢我们的指导老师，在项目过程中给予我们的悉心指导和无私帮助。同时，也要感谢团队成员的通力合作和所有帮助过我们的老师和同学们。感谢各位评委老师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D6725-CDA8-9891-0E42-59B84CA160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4616E9-B732-59E0-3104-8579833151A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F91C1A0-5C1E-B38C-9120-DE72E058B7F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0872075-6BD3-D2D8-480E-A60497769D77}"/>
              </a:ext>
            </a:extLst>
          </p:cNvPr>
          <p:cNvSpPr>
            <a:spLocks noGrp="1"/>
          </p:cNvSpPr>
          <p:nvPr>
            <p:ph type="sldNum" sz="quarter" idx="10"/>
          </p:nvPr>
        </p:nvSpPr>
        <p:spPr/>
        <p:txBody>
          <a:bodyPr/>
          <a:lstStyle/>
          <a:p>
            <a:fld id="{59E3CF89-91F4-45FB-A589-58532703FCA1}" type="slidenum">
              <a:rPr lang="zh-CN" altLang="en-US" smtClean="0"/>
              <a:t>8</a:t>
            </a:fld>
            <a:endParaRPr lang="zh-CN" altLang="en-US"/>
          </a:p>
        </p:txBody>
      </p:sp>
    </p:spTree>
    <p:extLst>
      <p:ext uri="{BB962C8B-B14F-4D97-AF65-F5344CB8AC3E}">
        <p14:creationId xmlns:p14="http://schemas.microsoft.com/office/powerpoint/2010/main" val="1557712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9B27D-3F08-63F3-E8B7-43D2BB7FDC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10305A-3989-87CA-98C5-57F2F652C17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8CA56FA-5D20-5E46-5CBE-E0C83606EF7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BE15530-4E73-1FD8-72B9-C37068D3B54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EC1F-4C1A-4575-A29E-535B091AA9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36311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34BB9C-DABC-9C44-E093-E8F393D613D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B0DA1E8-2369-CA40-5147-8DCB0AF36D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D1B978-41F1-AD7F-634D-C368C3904EAE}"/>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3B8DD83F-CD01-0474-53BA-4C135DC11F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C8D1E8B-8FB2-DDD4-A550-5B26B037750B}"/>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374875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48F4E8-6933-8DEA-186F-59CBCB8F8B3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F193AE2-5A36-CE6E-F5A4-60B399C67F0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F37432D-4DC6-22B5-611D-C66AE3A0A34D}"/>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AA6B7AF9-FD39-4DFC-DB0C-C21D0752B34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5F011D-89B0-915B-F9CF-F271438D3E93}"/>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272917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CC753-D50B-0489-87DB-76FBCD71630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6247781-B706-E93E-2283-0F45204C8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808DCA3-5FE3-AE2E-907F-1BAB3463F57C}"/>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A51A2D29-4861-1E0B-1D4A-E9740E87BB2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A0EF1CE-7AE8-493E-9044-BBF9B8A48AB6}"/>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277984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40E34-1759-B93C-12E8-D1842D94CA7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9080574-FAFC-77A5-DC63-714AE176373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B22CA24-2146-CB85-4A0B-DCCACC69359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8AA4710-C972-0CF2-7655-E04C5BCFE9B8}"/>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6" name="页脚占位符 5">
            <a:extLst>
              <a:ext uri="{FF2B5EF4-FFF2-40B4-BE49-F238E27FC236}">
                <a16:creationId xmlns:a16="http://schemas.microsoft.com/office/drawing/2014/main" id="{F6DCF4A1-15CA-C5A2-E67F-38ABCF628EA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1289D9C-05B0-76AC-AAAF-4EC645E17299}"/>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70745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D62C81-83B3-3442-D6A8-DF56F420E89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A2FC20D-4179-9DC8-8EC5-7288D89F7E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E522FB1-4847-8D9B-3394-FC263D0AD54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3F729AE-0336-ABBE-2FFD-A3C3878FDF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364D76B-B923-9CD6-707E-F57646C30D0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8C6F5EC-918E-6BE4-FEC1-0AF243891D97}"/>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8" name="页脚占位符 7">
            <a:extLst>
              <a:ext uri="{FF2B5EF4-FFF2-40B4-BE49-F238E27FC236}">
                <a16:creationId xmlns:a16="http://schemas.microsoft.com/office/drawing/2014/main" id="{752B7E94-A591-2A27-D856-451283A711C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9C61018-8CB6-2744-AA8A-4FD95375A1BC}"/>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127121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69CDAE-7CA1-4B17-F614-F5859D6D6BD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7E5C6A0-6E10-2B34-14AD-ADB6E9332ACC}"/>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4" name="页脚占位符 3">
            <a:extLst>
              <a:ext uri="{FF2B5EF4-FFF2-40B4-BE49-F238E27FC236}">
                <a16:creationId xmlns:a16="http://schemas.microsoft.com/office/drawing/2014/main" id="{E9E3D141-EB53-4260-A5CF-18E6BFDAC0D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D2EEB24-9FA1-CF34-1C64-6470274A67AD}"/>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1531821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09264A5-6BAC-EE08-B1B8-C8449788F309}"/>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3" name="页脚占位符 2">
            <a:extLst>
              <a:ext uri="{FF2B5EF4-FFF2-40B4-BE49-F238E27FC236}">
                <a16:creationId xmlns:a16="http://schemas.microsoft.com/office/drawing/2014/main" id="{A7EEE55B-EF49-079C-7518-D027B772B31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3397499-2FCF-9746-E6D2-2423E4E92810}"/>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2195650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BAF29A-D9DA-30E9-A2D0-E3FC4FFF41D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4D20CA7-2EA4-4D8C-9A78-EDAF8137E8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E095A29-D712-E66A-FCDB-26B9A45C2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1B3AB19-735C-19C3-0B62-EBA3B8AB876F}"/>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6" name="页脚占位符 5">
            <a:extLst>
              <a:ext uri="{FF2B5EF4-FFF2-40B4-BE49-F238E27FC236}">
                <a16:creationId xmlns:a16="http://schemas.microsoft.com/office/drawing/2014/main" id="{99B601F0-9DAF-886A-B991-E1180092C1D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0742B3-BE45-2074-C2EA-E94ADDF0B7C3}"/>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472345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5C4905-1721-B05D-D97F-A4E2DFFF4A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4F994CD-83C3-BDC5-D131-0F67C1F0F5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A92163B-7D67-C241-3119-BA9AA6C74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18BEE73-27A0-6B75-FB10-1118B66A8B0E}"/>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6" name="页脚占位符 5">
            <a:extLst>
              <a:ext uri="{FF2B5EF4-FFF2-40B4-BE49-F238E27FC236}">
                <a16:creationId xmlns:a16="http://schemas.microsoft.com/office/drawing/2014/main" id="{99236CDE-A782-51FC-CA2F-25497229656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0CB24A-D582-79ED-4B54-9BD26C35744F}"/>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2892625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8AFDF-B4AF-CF5C-AAA8-022C0BA8DCC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5DE826E-E6F9-4699-FF6F-271F428DDA3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1C7069F-55BB-5AD4-7449-F2D63DBF4B26}"/>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2CCA09AA-BDC2-5D90-8411-D5753EC672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E164F9-22E5-3D64-400A-0E5A02227727}"/>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1844589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EA05A53-C8C8-A7B7-D350-C31AAEC909E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F3EF259-1F2D-76B5-C4D3-06794686D49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BB910B-35D0-B31C-B2AC-156398C414F2}"/>
              </a:ext>
            </a:extLst>
          </p:cNvPr>
          <p:cNvSpPr>
            <a:spLocks noGrp="1"/>
          </p:cNvSpPr>
          <p:nvPr>
            <p:ph type="dt" sz="half" idx="10"/>
          </p:nvPr>
        </p:nvSpPr>
        <p:spPr/>
        <p:txBody>
          <a:bodyPr/>
          <a:lstStyle/>
          <a:p>
            <a:fld id="{01612B23-9E09-4BC6-9AAB-493506A3F1B3}"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B4F7C94B-CCA4-281C-6017-FB6D85283C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31C3EE-0ED1-9B69-EB30-CBA996D37FA8}"/>
              </a:ext>
            </a:extLst>
          </p:cNvPr>
          <p:cNvSpPr>
            <a:spLocks noGrp="1"/>
          </p:cNvSpPr>
          <p:nvPr>
            <p:ph type="sldNum" sz="quarter" idx="12"/>
          </p:nvPr>
        </p:nvSpPr>
        <p:spPr/>
        <p:txBody>
          <a:body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2260755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666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5" name="矩形 4"/>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06898" y="752801"/>
            <a:ext cx="3629564" cy="456129"/>
          </a:xfrm>
          <a:prstGeom prst="rect">
            <a:avLst/>
          </a:prstGeom>
        </p:spPr>
        <p:txBody>
          <a:bodyPr>
            <a:noAutofit/>
          </a:bodyPr>
          <a:lstStyle>
            <a:lvl1pPr>
              <a:defRPr sz="2400" b="1">
                <a:solidFill>
                  <a:srgbClr val="244C89"/>
                </a:solidFill>
                <a:ea typeface="思源黑体" panose="020B0500000000000000" pitchFamily="34" charset="-122"/>
              </a:defRPr>
            </a:lvl1pPr>
          </a:lstStyle>
          <a:p>
            <a:r>
              <a:rPr lang="zh-CN" altLang="en-US" dirty="0"/>
              <a:t>单击编辑标题</a:t>
            </a:r>
          </a:p>
        </p:txBody>
      </p:sp>
      <p:sp>
        <p:nvSpPr>
          <p:cNvPr id="9" name="Freeform 5"/>
          <p:cNvSpPr>
            <a:spLocks noEditPoints="1"/>
          </p:cNvSpPr>
          <p:nvPr userDrawn="1"/>
        </p:nvSpPr>
        <p:spPr bwMode="auto">
          <a:xfrm>
            <a:off x="861588" y="85797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rgbClr val="244C89"/>
          </a:solidFill>
          <a:ln>
            <a:noFill/>
          </a:ln>
        </p:spPr>
        <p:txBody>
          <a:bodyPr vert="horz" wrap="square" lIns="91392" tIns="45696" rIns="91392" bIns="45696" numCol="1" anchor="t" anchorCtr="0" compatLnSpc="1"/>
          <a:lstStyle/>
          <a:p>
            <a:endParaRPr lang="zh-CN" altLang="en-US" sz="1800">
              <a:solidFill>
                <a:schemeClr val="bg1"/>
              </a:solidFill>
            </a:endParaRPr>
          </a:p>
        </p:txBody>
      </p:sp>
      <p:sp>
        <p:nvSpPr>
          <p:cNvPr id="6" name="PA_文本框 1"/>
          <p:cNvSpPr txBox="1"/>
          <p:nvPr userDrawn="1">
            <p:custDataLst>
              <p:tags r:id="rId1"/>
            </p:custDataLst>
          </p:nvPr>
        </p:nvSpPr>
        <p:spPr>
          <a:xfrm>
            <a:off x="1508454" y="1130748"/>
            <a:ext cx="1982056" cy="314766"/>
          </a:xfrm>
          <a:prstGeom prst="rect">
            <a:avLst/>
          </a:prstGeom>
          <a:noFill/>
        </p:spPr>
        <p:txBody>
          <a:bodyPr wrap="square" lIns="0" tIns="0" rIns="0" rtlCol="0">
            <a:spAutoFit/>
          </a:bodyPr>
          <a:lstStyle/>
          <a:p>
            <a:pPr>
              <a:lnSpc>
                <a:spcPts val="2300"/>
              </a:lnSpc>
            </a:pPr>
            <a:r>
              <a:rPr lang="en-US" altLang="zh-CN" sz="1400" dirty="0">
                <a:solidFill>
                  <a:srgbClr val="313D51"/>
                </a:solidFill>
                <a:cs typeface="+mn-ea"/>
                <a:sym typeface="+mn-lt"/>
              </a:rPr>
              <a:t>GRADUATION DEFENSE</a:t>
            </a:r>
          </a:p>
        </p:txBody>
      </p:sp>
    </p:spTree>
    <p:extLst>
      <p:ext uri="{BB962C8B-B14F-4D97-AF65-F5344CB8AC3E}">
        <p14:creationId xmlns:p14="http://schemas.microsoft.com/office/powerpoint/2010/main" val="3168849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50286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C92BC38-639F-83C5-3A38-1FD943F097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BB83C5A-F80C-555A-2AAA-95DD151670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BE3E49-6482-4ED3-AAC1-35F7F7DF6C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612B23-9E09-4BC6-9AAB-493506A3F1B3}"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29717F37-E3BA-C7CD-EAA0-E22BA77E9A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8AB4904-451D-247D-F84A-F98C39EF13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74FB97-FFB4-4DE7-862A-ED4EBDF1599D}" type="slidenum">
              <a:rPr lang="zh-CN" altLang="en-US" smtClean="0"/>
              <a:t>‹#›</a:t>
            </a:fld>
            <a:endParaRPr lang="zh-CN" altLang="en-US"/>
          </a:p>
        </p:txBody>
      </p:sp>
    </p:spTree>
    <p:extLst>
      <p:ext uri="{BB962C8B-B14F-4D97-AF65-F5344CB8AC3E}">
        <p14:creationId xmlns:p14="http://schemas.microsoft.com/office/powerpoint/2010/main" val="2298793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4318"/>
            <a:ext cx="12192000" cy="6858000"/>
          </a:xfrm>
          <a:prstGeom prst="rect">
            <a:avLst/>
          </a:prstGeom>
          <a:noFill/>
          <a:ln w="25400" cap="flat" cmpd="sng">
            <a:noFill/>
            <a:prstDash val="solid"/>
            <a:round/>
          </a:ln>
        </p:spPr>
      </p:pic>
      <p:sp>
        <p:nvSpPr>
          <p:cNvPr id="3" name="AutoShape 3"/>
          <p:cNvSpPr/>
          <p:nvPr/>
        </p:nvSpPr>
        <p:spPr>
          <a:xfrm>
            <a:off x="393700" y="444500"/>
            <a:ext cx="11404600" cy="5956300"/>
          </a:xfrm>
          <a:prstGeom prst="roundRect">
            <a:avLst>
              <a:gd name="adj" fmla="val 0"/>
            </a:avLst>
          </a:prstGeom>
          <a:solidFill>
            <a:srgbClr val="FFFFFF">
              <a:alpha val="100000"/>
            </a:srgbClr>
          </a:solidFill>
          <a:ln w="25400" cap="flat" cmpd="sng">
            <a:noFill/>
            <a:prstDash val="solid"/>
            <a:round/>
          </a:ln>
          <a:effectLst>
            <a:outerShdw blurRad="190500" dist="63500" dir="2700000" algn="tl" rotWithShape="0">
              <a:srgbClr val="000000">
                <a:alpha val="30000"/>
              </a:srgbClr>
            </a:outerShdw>
          </a:effectLst>
        </p:spPr>
        <p:txBody>
          <a:bodyPr vert="horz" wrap="square" lIns="63500" tIns="63500" rIns="63500" bIns="63500" rtlCol="0" anchor="ctr"/>
          <a:lstStyle/>
          <a:p>
            <a:pPr algn="ctr">
              <a:defRPr/>
            </a:pPr>
            <a:endParaRPr/>
          </a:p>
        </p:txBody>
      </p:sp>
      <p:sp>
        <p:nvSpPr>
          <p:cNvPr id="4" name="Freeform 4"/>
          <p:cNvSpPr/>
          <p:nvPr/>
        </p:nvSpPr>
        <p:spPr>
          <a:xfrm>
            <a:off x="863600" y="863600"/>
            <a:ext cx="441095" cy="525189"/>
          </a:xfrm>
          <a:custGeom>
            <a:avLst/>
            <a:gdLst/>
            <a:ahLst/>
            <a:cxnLst/>
            <a:rect l="l" t="t" r="r" b="b"/>
            <a:pathLst>
              <a:path w="441095" h="525189">
                <a:moveTo>
                  <a:pt x="220958" y="0"/>
                </a:moveTo>
                <a:lnTo>
                  <a:pt x="331027" y="65754"/>
                </a:lnTo>
                <a:lnTo>
                  <a:pt x="441095" y="131508"/>
                </a:lnTo>
                <a:lnTo>
                  <a:pt x="441095" y="262174"/>
                </a:lnTo>
                <a:lnTo>
                  <a:pt x="441095" y="393682"/>
                </a:lnTo>
                <a:lnTo>
                  <a:pt x="331027" y="459436"/>
                </a:lnTo>
                <a:lnTo>
                  <a:pt x="220958" y="525189"/>
                </a:lnTo>
                <a:lnTo>
                  <a:pt x="110068" y="459436"/>
                </a:lnTo>
                <a:lnTo>
                  <a:pt x="0" y="393682"/>
                </a:lnTo>
                <a:lnTo>
                  <a:pt x="0" y="262174"/>
                </a:lnTo>
                <a:lnTo>
                  <a:pt x="0" y="131508"/>
                </a:lnTo>
                <a:lnTo>
                  <a:pt x="110068" y="65754"/>
                </a:lnTo>
                <a:lnTo>
                  <a:pt x="220958" y="0"/>
                </a:lnTo>
                <a:close/>
                <a:moveTo>
                  <a:pt x="220958" y="44679"/>
                </a:moveTo>
                <a:lnTo>
                  <a:pt x="312134" y="98631"/>
                </a:lnTo>
                <a:lnTo>
                  <a:pt x="404132" y="153426"/>
                </a:lnTo>
                <a:lnTo>
                  <a:pt x="404132" y="262174"/>
                </a:lnTo>
                <a:lnTo>
                  <a:pt x="404132" y="371763"/>
                </a:lnTo>
                <a:lnTo>
                  <a:pt x="312134" y="425715"/>
                </a:lnTo>
                <a:lnTo>
                  <a:pt x="220958" y="480511"/>
                </a:lnTo>
                <a:lnTo>
                  <a:pt x="128961" y="425715"/>
                </a:lnTo>
                <a:lnTo>
                  <a:pt x="37785" y="371763"/>
                </a:lnTo>
                <a:lnTo>
                  <a:pt x="37785" y="262174"/>
                </a:lnTo>
                <a:lnTo>
                  <a:pt x="37785" y="153426"/>
                </a:lnTo>
                <a:lnTo>
                  <a:pt x="128961" y="98631"/>
                </a:lnTo>
                <a:lnTo>
                  <a:pt x="220958" y="44679"/>
                </a:lnTo>
                <a:close/>
                <a:moveTo>
                  <a:pt x="176602" y="383565"/>
                </a:moveTo>
                <a:lnTo>
                  <a:pt x="301456" y="383565"/>
                </a:lnTo>
                <a:cubicBezTo>
                  <a:pt x="304742" y="383565"/>
                  <a:pt x="308027" y="386095"/>
                  <a:pt x="308027" y="390310"/>
                </a:cubicBezTo>
                <a:cubicBezTo>
                  <a:pt x="308027" y="393682"/>
                  <a:pt x="304742" y="397054"/>
                  <a:pt x="301456" y="397054"/>
                </a:cubicBezTo>
                <a:lnTo>
                  <a:pt x="176602" y="397054"/>
                </a:lnTo>
                <a:cubicBezTo>
                  <a:pt x="173317" y="397054"/>
                  <a:pt x="170031" y="393682"/>
                  <a:pt x="170031" y="390310"/>
                </a:cubicBezTo>
                <a:cubicBezTo>
                  <a:pt x="170031" y="386095"/>
                  <a:pt x="173317" y="383565"/>
                  <a:pt x="176602" y="383565"/>
                </a:cubicBezTo>
                <a:close/>
                <a:moveTo>
                  <a:pt x="179066" y="320341"/>
                </a:moveTo>
                <a:lnTo>
                  <a:pt x="248064" y="204006"/>
                </a:lnTo>
                <a:lnTo>
                  <a:pt x="271885" y="219180"/>
                </a:lnTo>
                <a:lnTo>
                  <a:pt x="203709" y="335515"/>
                </a:lnTo>
                <a:lnTo>
                  <a:pt x="179066" y="320341"/>
                </a:lnTo>
                <a:close/>
                <a:moveTo>
                  <a:pt x="130603" y="289993"/>
                </a:moveTo>
                <a:lnTo>
                  <a:pt x="199602" y="174502"/>
                </a:lnTo>
                <a:lnTo>
                  <a:pt x="223422" y="188832"/>
                </a:lnTo>
                <a:lnTo>
                  <a:pt x="155246" y="305167"/>
                </a:lnTo>
                <a:lnTo>
                  <a:pt x="130603" y="289993"/>
                </a:lnTo>
                <a:close/>
                <a:moveTo>
                  <a:pt x="119925" y="384409"/>
                </a:moveTo>
                <a:lnTo>
                  <a:pt x="126497" y="326241"/>
                </a:lnTo>
                <a:lnTo>
                  <a:pt x="173317" y="355746"/>
                </a:lnTo>
                <a:lnTo>
                  <a:pt x="127318" y="388624"/>
                </a:lnTo>
                <a:cubicBezTo>
                  <a:pt x="122390" y="391996"/>
                  <a:pt x="119104" y="390310"/>
                  <a:pt x="119925" y="384409"/>
                </a:cubicBezTo>
                <a:close/>
                <a:moveTo>
                  <a:pt x="218495" y="141624"/>
                </a:moveTo>
                <a:lnTo>
                  <a:pt x="207815" y="158485"/>
                </a:lnTo>
                <a:lnTo>
                  <a:pt x="280921" y="204006"/>
                </a:lnTo>
                <a:lnTo>
                  <a:pt x="290778" y="187146"/>
                </a:lnTo>
                <a:lnTo>
                  <a:pt x="218495" y="141624"/>
                </a:lnTo>
                <a:close/>
                <a:moveTo>
                  <a:pt x="234100" y="116335"/>
                </a:moveTo>
                <a:cubicBezTo>
                  <a:pt x="238208" y="108748"/>
                  <a:pt x="248064" y="106218"/>
                  <a:pt x="255457" y="110433"/>
                </a:cubicBezTo>
                <a:lnTo>
                  <a:pt x="300634" y="139095"/>
                </a:lnTo>
                <a:cubicBezTo>
                  <a:pt x="308027" y="143311"/>
                  <a:pt x="310491" y="153426"/>
                  <a:pt x="306385" y="161013"/>
                </a:cubicBezTo>
                <a:lnTo>
                  <a:pt x="299813" y="171972"/>
                </a:lnTo>
                <a:lnTo>
                  <a:pt x="227529" y="126450"/>
                </a:lnTo>
                <a:lnTo>
                  <a:pt x="234100" y="116335"/>
                </a:ln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511300" y="1130300"/>
            <a:ext cx="1981200" cy="317500"/>
          </a:xfrm>
          <a:prstGeom prst="rect">
            <a:avLst/>
          </a:prstGeom>
          <a:noFill/>
          <a:ln w="12700" cap="flat" cmpd="sng">
            <a:noFill/>
            <a:prstDash val="solid"/>
            <a:round/>
          </a:ln>
        </p:spPr>
        <p:txBody>
          <a:bodyPr vert="horz" wrap="square" lIns="0" tIns="0" rIns="0" bIns="50800" rtlCol="0" anchor="t" anchorCtr="0"/>
          <a:lstStyle/>
          <a:p>
            <a:pPr marL="0" indent="0" algn="l">
              <a:lnSpc>
                <a:spcPts val="2300"/>
              </a:lnSpc>
              <a:defRPr/>
            </a:pPr>
            <a:r>
              <a:rPr lang="en-US" sz="1400" b="0" i="0" u="none" strike="noStrike" dirty="0">
                <a:solidFill>
                  <a:srgbClr val="313D51"/>
                </a:solidFill>
                <a:latin typeface="Calibri"/>
                <a:ea typeface="Calibri"/>
                <a:cs typeface="Calibri"/>
                <a:sym typeface="Calibri"/>
              </a:rPr>
              <a:t>TECHNICAL ROADMAP</a:t>
            </a:r>
            <a:endParaRPr lang="en-US" sz="1100" dirty="0"/>
          </a:p>
        </p:txBody>
      </p:sp>
      <p:sp>
        <p:nvSpPr>
          <p:cNvPr id="6" name="AutoShape 6"/>
          <p:cNvSpPr/>
          <p:nvPr/>
        </p:nvSpPr>
        <p:spPr>
          <a:xfrm>
            <a:off x="1409700" y="749300"/>
            <a:ext cx="36322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2400" b="1" i="0" u="none" strike="noStrike" dirty="0" err="1">
                <a:solidFill>
                  <a:srgbClr val="244C89"/>
                </a:solidFill>
                <a:latin typeface="Noto Sans SC"/>
                <a:ea typeface="Noto Sans SC"/>
                <a:cs typeface="Noto Sans SC"/>
                <a:sym typeface="Noto Sans SC"/>
              </a:rPr>
              <a:t>技术路线图</a:t>
            </a:r>
            <a:endParaRPr lang="en-US" sz="1100" dirty="0"/>
          </a:p>
        </p:txBody>
      </p:sp>
      <p:sp>
        <p:nvSpPr>
          <p:cNvPr id="7" name="AutoShape 7"/>
          <p:cNvSpPr/>
          <p:nvPr/>
        </p:nvSpPr>
        <p:spPr>
          <a:xfrm>
            <a:off x="1304695" y="1828800"/>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a:ea typeface="Agency FB"/>
                <a:cs typeface="Agency FB"/>
                <a:sym typeface="Agency FB"/>
              </a:rPr>
              <a:t>Step 01</a:t>
            </a:r>
            <a:endParaRPr lang="en-US" sz="1100"/>
          </a:p>
        </p:txBody>
      </p:sp>
      <p:sp>
        <p:nvSpPr>
          <p:cNvPr id="8" name="AutoShape 8"/>
          <p:cNvSpPr/>
          <p:nvPr/>
        </p:nvSpPr>
        <p:spPr>
          <a:xfrm>
            <a:off x="6384695" y="1828800"/>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a:ea typeface="Agency FB"/>
                <a:cs typeface="Agency FB"/>
                <a:sym typeface="Agency FB"/>
              </a:rPr>
              <a:t>Step 02</a:t>
            </a:r>
            <a:endParaRPr lang="en-US" sz="1100"/>
          </a:p>
        </p:txBody>
      </p:sp>
      <p:sp>
        <p:nvSpPr>
          <p:cNvPr id="9" name="AutoShape 9"/>
          <p:cNvSpPr/>
          <p:nvPr/>
        </p:nvSpPr>
        <p:spPr>
          <a:xfrm>
            <a:off x="1304695" y="3383915"/>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a:ea typeface="Agency FB"/>
                <a:cs typeface="Agency FB"/>
                <a:sym typeface="Agency FB"/>
              </a:rPr>
              <a:t>Step 03</a:t>
            </a:r>
            <a:endParaRPr lang="en-US" sz="1100"/>
          </a:p>
        </p:txBody>
      </p:sp>
      <p:sp>
        <p:nvSpPr>
          <p:cNvPr id="10" name="AutoShape 10"/>
          <p:cNvSpPr/>
          <p:nvPr/>
        </p:nvSpPr>
        <p:spPr>
          <a:xfrm>
            <a:off x="6384695" y="3383915"/>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solidFill>
                <a:latin typeface="Agency FB"/>
                <a:ea typeface="Agency FB"/>
                <a:cs typeface="Agency FB"/>
                <a:sym typeface="Agency FB"/>
              </a:rPr>
              <a:t>Step 04</a:t>
            </a:r>
            <a:endParaRPr lang="en-US" sz="1100"/>
          </a:p>
        </p:txBody>
      </p:sp>
      <p:sp>
        <p:nvSpPr>
          <p:cNvPr id="11" name="AutoShape 11"/>
          <p:cNvSpPr/>
          <p:nvPr/>
        </p:nvSpPr>
        <p:spPr>
          <a:xfrm>
            <a:off x="2447695" y="18288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a:ea typeface="Noto Sans SC"/>
                <a:cs typeface="Noto Sans SC"/>
                <a:sym typeface="Noto Sans SC"/>
              </a:rPr>
              <a:t>场景数据获取 &amp; 建模</a:t>
            </a:r>
            <a:endParaRPr lang="en-US" sz="1400"/>
          </a:p>
        </p:txBody>
      </p:sp>
      <p:sp>
        <p:nvSpPr>
          <p:cNvPr id="12" name="AutoShape 12"/>
          <p:cNvSpPr/>
          <p:nvPr/>
        </p:nvSpPr>
        <p:spPr>
          <a:xfrm>
            <a:off x="2447695" y="2273300"/>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a:ea typeface="Noto Sans SC"/>
                <a:cs typeface="Noto Sans SC"/>
                <a:sym typeface="Noto Sans SC"/>
              </a:rPr>
              <a:t>OpenStreetMap获取数据，Blender三维建模与Webots仿真环境搭建</a:t>
            </a:r>
            <a:r>
              <a:rPr lang="en-US" sz="1600" b="0" i="0" u="none" strike="noStrike" dirty="0">
                <a:solidFill>
                  <a:srgbClr val="595959"/>
                </a:solidFill>
                <a:latin typeface="Noto Sans SC"/>
                <a:ea typeface="Noto Sans SC"/>
                <a:cs typeface="Noto Sans SC"/>
                <a:sym typeface="Noto Sans SC"/>
              </a:rPr>
              <a:t>。</a:t>
            </a:r>
            <a:endParaRPr lang="en-US" sz="1600" dirty="0"/>
          </a:p>
        </p:txBody>
      </p:sp>
      <p:sp>
        <p:nvSpPr>
          <p:cNvPr id="13" name="AutoShape 13"/>
          <p:cNvSpPr/>
          <p:nvPr/>
        </p:nvSpPr>
        <p:spPr>
          <a:xfrm>
            <a:off x="7527695" y="18288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a:ea typeface="Noto Sans SC"/>
                <a:cs typeface="Noto Sans SC"/>
                <a:sym typeface="Noto Sans SC"/>
              </a:rPr>
              <a:t>地图构建 &amp; 全局规划</a:t>
            </a:r>
            <a:endParaRPr lang="en-US" sz="1400"/>
          </a:p>
        </p:txBody>
      </p:sp>
      <p:sp>
        <p:nvSpPr>
          <p:cNvPr id="14" name="AutoShape 14"/>
          <p:cNvSpPr/>
          <p:nvPr/>
        </p:nvSpPr>
        <p:spPr>
          <a:xfrm>
            <a:off x="7527695" y="2273300"/>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a:ea typeface="Noto Sans SC"/>
                <a:cs typeface="Noto Sans SC"/>
                <a:sym typeface="Noto Sans SC"/>
              </a:rPr>
              <a:t>OctoMap八叉树地图构建，改进CBMBA</a:t>
            </a:r>
            <a:r>
              <a:rPr lang="en-US" sz="1600" b="0" i="0" u="none" strike="noStrike" dirty="0">
                <a:solidFill>
                  <a:srgbClr val="595959"/>
                </a:solidFill>
                <a:latin typeface="Noto Sans SC"/>
                <a:ea typeface="Noto Sans SC"/>
                <a:cs typeface="Noto Sans SC"/>
                <a:sym typeface="Noto Sans SC"/>
              </a:rPr>
              <a:t> A*</a:t>
            </a:r>
            <a:r>
              <a:rPr lang="en-US" sz="1600" b="0" i="0" u="none" strike="noStrike" dirty="0" err="1">
                <a:solidFill>
                  <a:srgbClr val="595959"/>
                </a:solidFill>
                <a:latin typeface="Noto Sans SC"/>
                <a:ea typeface="Noto Sans SC"/>
                <a:cs typeface="Noto Sans SC"/>
                <a:sym typeface="Noto Sans SC"/>
              </a:rPr>
              <a:t>全局路径规划算法</a:t>
            </a:r>
            <a:r>
              <a:rPr lang="en-US" sz="1600" b="0" i="0" u="none" strike="noStrike" dirty="0">
                <a:solidFill>
                  <a:srgbClr val="595959"/>
                </a:solidFill>
                <a:latin typeface="Noto Sans SC"/>
                <a:ea typeface="Noto Sans SC"/>
                <a:cs typeface="Noto Sans SC"/>
                <a:sym typeface="Noto Sans SC"/>
              </a:rPr>
              <a:t>。</a:t>
            </a:r>
            <a:endParaRPr lang="en-US" sz="1600" dirty="0"/>
          </a:p>
        </p:txBody>
      </p:sp>
      <p:sp>
        <p:nvSpPr>
          <p:cNvPr id="15" name="AutoShape 15"/>
          <p:cNvSpPr/>
          <p:nvPr/>
        </p:nvSpPr>
        <p:spPr>
          <a:xfrm>
            <a:off x="2447695" y="3383915"/>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a:ea typeface="Noto Sans SC"/>
                <a:cs typeface="Noto Sans SC"/>
                <a:sym typeface="Noto Sans SC"/>
              </a:rPr>
              <a:t>传感器模拟 &amp; 局部避障</a:t>
            </a:r>
            <a:endParaRPr lang="en-US" sz="1400"/>
          </a:p>
        </p:txBody>
      </p:sp>
      <p:sp>
        <p:nvSpPr>
          <p:cNvPr id="16" name="AutoShape 16"/>
          <p:cNvSpPr/>
          <p:nvPr/>
        </p:nvSpPr>
        <p:spPr>
          <a:xfrm>
            <a:off x="2447695" y="3828415"/>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a:ea typeface="Noto Sans SC"/>
                <a:cs typeface="Noto Sans SC"/>
                <a:sym typeface="Noto Sans SC"/>
              </a:rPr>
              <a:t>机载传感器模拟，改进人工势场法实现动态局部避障</a:t>
            </a:r>
            <a:r>
              <a:rPr lang="en-US" sz="1600" b="0" i="0" u="none" strike="noStrike" dirty="0">
                <a:solidFill>
                  <a:srgbClr val="595959"/>
                </a:solidFill>
                <a:latin typeface="Noto Sans SC"/>
                <a:ea typeface="Noto Sans SC"/>
                <a:cs typeface="Noto Sans SC"/>
                <a:sym typeface="Noto Sans SC"/>
              </a:rPr>
              <a:t>。</a:t>
            </a:r>
            <a:endParaRPr lang="en-US" sz="1600" dirty="0"/>
          </a:p>
        </p:txBody>
      </p:sp>
      <p:sp>
        <p:nvSpPr>
          <p:cNvPr id="17" name="AutoShape 17"/>
          <p:cNvSpPr/>
          <p:nvPr/>
        </p:nvSpPr>
        <p:spPr>
          <a:xfrm>
            <a:off x="7527695" y="3383915"/>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a:ea typeface="Noto Sans SC"/>
                <a:cs typeface="Noto Sans SC"/>
                <a:sym typeface="Noto Sans SC"/>
              </a:rPr>
              <a:t>算法融合 &amp; 仿真评估</a:t>
            </a:r>
            <a:endParaRPr lang="en-US" sz="1400"/>
          </a:p>
        </p:txBody>
      </p:sp>
      <p:sp>
        <p:nvSpPr>
          <p:cNvPr id="18" name="AutoShape 18"/>
          <p:cNvSpPr/>
          <p:nvPr/>
        </p:nvSpPr>
        <p:spPr>
          <a:xfrm>
            <a:off x="7527695" y="3828415"/>
            <a:ext cx="2667000" cy="889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err="1">
                <a:solidFill>
                  <a:srgbClr val="595959"/>
                </a:solidFill>
                <a:latin typeface="Noto Sans SC"/>
                <a:ea typeface="Noto Sans SC"/>
                <a:cs typeface="Noto Sans SC"/>
                <a:sym typeface="Noto Sans SC"/>
              </a:rPr>
              <a:t>全局与局部算法融合，Webots集成仿真与性能量化评估</a:t>
            </a:r>
            <a:r>
              <a:rPr lang="en-US" sz="1600" b="0" i="0" u="none" strike="noStrike" dirty="0">
                <a:solidFill>
                  <a:srgbClr val="595959"/>
                </a:solidFill>
                <a:latin typeface="Noto Sans SC"/>
                <a:ea typeface="Noto Sans SC"/>
                <a:cs typeface="Noto Sans SC"/>
                <a:sym typeface="Noto Sans SC"/>
              </a:rPr>
              <a:t>。</a:t>
            </a:r>
            <a:endParaRPr lang="en-US" sz="1600" dirty="0"/>
          </a:p>
        </p:txBody>
      </p:sp>
      <p:sp>
        <p:nvSpPr>
          <p:cNvPr id="19" name="AutoShape 19"/>
          <p:cNvSpPr/>
          <p:nvPr/>
        </p:nvSpPr>
        <p:spPr>
          <a:xfrm>
            <a:off x="1304695" y="4948682"/>
            <a:ext cx="1016000" cy="1016000"/>
          </a:xfrm>
          <a:prstGeom prst="ellipse">
            <a:avLst/>
          </a:prstGeom>
          <a:solidFill>
            <a:srgbClr val="244C89">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dirty="0">
                <a:solidFill>
                  <a:srgbClr val="FFFFFF"/>
                </a:solidFill>
                <a:latin typeface="Agency FB"/>
                <a:ea typeface="Agency FB"/>
                <a:cs typeface="Agency FB"/>
                <a:sym typeface="Agency FB"/>
              </a:rPr>
              <a:t>Step 05</a:t>
            </a:r>
            <a:endParaRPr lang="en-US" sz="1100" dirty="0"/>
          </a:p>
        </p:txBody>
      </p:sp>
      <p:sp>
        <p:nvSpPr>
          <p:cNvPr id="20" name="AutoShape 20"/>
          <p:cNvSpPr/>
          <p:nvPr/>
        </p:nvSpPr>
        <p:spPr>
          <a:xfrm>
            <a:off x="2447695" y="5012182"/>
            <a:ext cx="3048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b="1" i="0" u="none" strike="noStrike">
                <a:solidFill>
                  <a:srgbClr val="313D51"/>
                </a:solidFill>
                <a:latin typeface="Noto Sans SC"/>
                <a:ea typeface="Noto Sans SC"/>
                <a:cs typeface="Noto Sans SC"/>
                <a:sym typeface="Noto Sans SC"/>
              </a:rPr>
              <a:t>成果可视化展示</a:t>
            </a:r>
            <a:endParaRPr lang="en-US" sz="1400"/>
          </a:p>
        </p:txBody>
      </p:sp>
      <p:sp>
        <p:nvSpPr>
          <p:cNvPr id="21" name="AutoShape 21"/>
          <p:cNvSpPr/>
          <p:nvPr/>
        </p:nvSpPr>
        <p:spPr>
          <a:xfrm>
            <a:off x="2447695" y="5393182"/>
            <a:ext cx="3048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dirty="0">
                <a:solidFill>
                  <a:srgbClr val="595959"/>
                </a:solidFill>
                <a:latin typeface="Noto Sans SC"/>
                <a:ea typeface="Noto Sans SC"/>
                <a:cs typeface="Noto Sans SC"/>
                <a:sym typeface="Noto Sans SC"/>
              </a:rPr>
              <a:t>AirSim场景重建，UE4渲染制作高真实感演示视频。</a:t>
            </a:r>
            <a:endParaRPr lang="en-US" sz="16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anim calcmode="lin" valueType="num">
                                      <p:cBhvr>
                                        <p:cTn id="8" dur="1000" fill="hold"/>
                                        <p:tgtEl>
                                          <p:spTgt spid="7">
                                            <p:bg/>
                                          </p:spTgt>
                                        </p:tgtEl>
                                        <p:attrNameLst>
                                          <p:attrName>ppt_x</p:attrName>
                                        </p:attrNameLst>
                                      </p:cBhvr>
                                      <p:tavLst>
                                        <p:tav tm="0">
                                          <p:val>
                                            <p:strVal val="#ppt_x"/>
                                          </p:val>
                                        </p:tav>
                                        <p:tav tm="100000">
                                          <p:val>
                                            <p:strVal val="#ppt_x"/>
                                          </p:val>
                                        </p:tav>
                                      </p:tavLst>
                                    </p:anim>
                                    <p:anim calcmode="lin" valueType="num">
                                      <p:cBhvr>
                                        <p:cTn id="9" dur="1000" fill="hold"/>
                                        <p:tgtEl>
                                          <p:spTgt spid="7">
                                            <p:bg/>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bg/>
                                          </p:spTgt>
                                        </p:tgtEl>
                                        <p:attrNameLst>
                                          <p:attrName>style.visibility</p:attrName>
                                        </p:attrNameLst>
                                      </p:cBhvr>
                                      <p:to>
                                        <p:strVal val="visible"/>
                                      </p:to>
                                    </p:set>
                                    <p:animEffect transition="in" filter="fade">
                                      <p:cBhvr>
                                        <p:cTn id="17" dur="1000"/>
                                        <p:tgtEl>
                                          <p:spTgt spid="8">
                                            <p:bg/>
                                          </p:spTgt>
                                        </p:tgtEl>
                                      </p:cBhvr>
                                    </p:animEffect>
                                    <p:anim calcmode="lin" valueType="num">
                                      <p:cBhvr>
                                        <p:cTn id="18" dur="1000" fill="hold"/>
                                        <p:tgtEl>
                                          <p:spTgt spid="8">
                                            <p:bg/>
                                          </p:spTgt>
                                        </p:tgtEl>
                                        <p:attrNameLst>
                                          <p:attrName>ppt_x</p:attrName>
                                        </p:attrNameLst>
                                      </p:cBhvr>
                                      <p:tavLst>
                                        <p:tav tm="0">
                                          <p:val>
                                            <p:strVal val="#ppt_x"/>
                                          </p:val>
                                        </p:tav>
                                        <p:tav tm="100000">
                                          <p:val>
                                            <p:strVal val="#ppt_x"/>
                                          </p:val>
                                        </p:tav>
                                      </p:tavLst>
                                    </p:anim>
                                    <p:anim calcmode="lin" valueType="num">
                                      <p:cBhvr>
                                        <p:cTn id="19" dur="1000" fill="hold"/>
                                        <p:tgtEl>
                                          <p:spTgt spid="8">
                                            <p:bg/>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1000"/>
                                        <p:tgtEl>
                                          <p:spTgt spid="8">
                                            <p:txEl>
                                              <p:pRg st="0" end="0"/>
                                            </p:txEl>
                                          </p:spTgt>
                                        </p:tgtEl>
                                      </p:cBhvr>
                                    </p:animEffect>
                                    <p:anim calcmode="lin" valueType="num">
                                      <p:cBhvr>
                                        <p:cTn id="2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bg/>
                                          </p:spTgt>
                                        </p:tgtEl>
                                        <p:attrNameLst>
                                          <p:attrName>style.visibility</p:attrName>
                                        </p:attrNameLst>
                                      </p:cBhvr>
                                      <p:to>
                                        <p:strVal val="visible"/>
                                      </p:to>
                                    </p:set>
                                    <p:animEffect transition="in" filter="fade">
                                      <p:cBhvr>
                                        <p:cTn id="27" dur="1000"/>
                                        <p:tgtEl>
                                          <p:spTgt spid="9">
                                            <p:bg/>
                                          </p:spTgt>
                                        </p:tgtEl>
                                      </p:cBhvr>
                                    </p:animEffect>
                                    <p:anim calcmode="lin" valueType="num">
                                      <p:cBhvr>
                                        <p:cTn id="28" dur="1000" fill="hold"/>
                                        <p:tgtEl>
                                          <p:spTgt spid="9">
                                            <p:bg/>
                                          </p:spTgt>
                                        </p:tgtEl>
                                        <p:attrNameLst>
                                          <p:attrName>ppt_x</p:attrName>
                                        </p:attrNameLst>
                                      </p:cBhvr>
                                      <p:tavLst>
                                        <p:tav tm="0">
                                          <p:val>
                                            <p:strVal val="#ppt_x"/>
                                          </p:val>
                                        </p:tav>
                                        <p:tav tm="100000">
                                          <p:val>
                                            <p:strVal val="#ppt_x"/>
                                          </p:val>
                                        </p:tav>
                                      </p:tavLst>
                                    </p:anim>
                                    <p:anim calcmode="lin" valueType="num">
                                      <p:cBhvr>
                                        <p:cTn id="29" dur="1000" fill="hold"/>
                                        <p:tgtEl>
                                          <p:spTgt spid="9">
                                            <p:bg/>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fade">
                                      <p:cBhvr>
                                        <p:cTn id="32" dur="1000"/>
                                        <p:tgtEl>
                                          <p:spTgt spid="9">
                                            <p:txEl>
                                              <p:pRg st="0" end="0"/>
                                            </p:txEl>
                                          </p:spTgt>
                                        </p:tgtEl>
                                      </p:cBhvr>
                                    </p:animEffect>
                                    <p:anim calcmode="lin" valueType="num">
                                      <p:cBhvr>
                                        <p:cTn id="3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bg/>
                                          </p:spTgt>
                                        </p:tgtEl>
                                        <p:attrNameLst>
                                          <p:attrName>style.visibility</p:attrName>
                                        </p:attrNameLst>
                                      </p:cBhvr>
                                      <p:to>
                                        <p:strVal val="visible"/>
                                      </p:to>
                                    </p:set>
                                    <p:animEffect transition="in" filter="fade">
                                      <p:cBhvr>
                                        <p:cTn id="37" dur="1000"/>
                                        <p:tgtEl>
                                          <p:spTgt spid="10">
                                            <p:bg/>
                                          </p:spTgt>
                                        </p:tgtEl>
                                      </p:cBhvr>
                                    </p:animEffect>
                                    <p:anim calcmode="lin" valueType="num">
                                      <p:cBhvr>
                                        <p:cTn id="38" dur="1000" fill="hold"/>
                                        <p:tgtEl>
                                          <p:spTgt spid="10">
                                            <p:bg/>
                                          </p:spTgt>
                                        </p:tgtEl>
                                        <p:attrNameLst>
                                          <p:attrName>ppt_x</p:attrName>
                                        </p:attrNameLst>
                                      </p:cBhvr>
                                      <p:tavLst>
                                        <p:tav tm="0">
                                          <p:val>
                                            <p:strVal val="#ppt_x"/>
                                          </p:val>
                                        </p:tav>
                                        <p:tav tm="100000">
                                          <p:val>
                                            <p:strVal val="#ppt_x"/>
                                          </p:val>
                                        </p:tav>
                                      </p:tavLst>
                                    </p:anim>
                                    <p:anim calcmode="lin" valueType="num">
                                      <p:cBhvr>
                                        <p:cTn id="39" dur="1000" fill="hold"/>
                                        <p:tgtEl>
                                          <p:spTgt spid="10">
                                            <p:bg/>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fade">
                                      <p:cBhvr>
                                        <p:cTn id="42" dur="1000"/>
                                        <p:tgtEl>
                                          <p:spTgt spid="10">
                                            <p:txEl>
                                              <p:pRg st="0" end="0"/>
                                            </p:txEl>
                                          </p:spTgt>
                                        </p:tgtEl>
                                      </p:cBhvr>
                                    </p:animEffect>
                                    <p:anim calcmode="lin" valueType="num">
                                      <p:cBhvr>
                                        <p:cTn id="43"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fade">
                                      <p:cBhvr>
                                        <p:cTn id="47" dur="1000"/>
                                        <p:tgtEl>
                                          <p:spTgt spid="11">
                                            <p:txEl>
                                              <p:pRg st="0" end="0"/>
                                            </p:txEl>
                                          </p:spTgt>
                                        </p:tgtEl>
                                      </p:cBhvr>
                                    </p:animEffect>
                                    <p:anim calcmode="lin" valueType="num">
                                      <p:cBhvr>
                                        <p:cTn id="4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2">
                                            <p:txEl>
                                              <p:pRg st="0" end="0"/>
                                            </p:txEl>
                                          </p:spTgt>
                                        </p:tgtEl>
                                        <p:attrNameLst>
                                          <p:attrName>style.visibility</p:attrName>
                                        </p:attrNameLst>
                                      </p:cBhvr>
                                      <p:to>
                                        <p:strVal val="visible"/>
                                      </p:to>
                                    </p:set>
                                    <p:animEffect transition="in" filter="fade">
                                      <p:cBhvr>
                                        <p:cTn id="52" dur="1000"/>
                                        <p:tgtEl>
                                          <p:spTgt spid="12">
                                            <p:txEl>
                                              <p:pRg st="0" end="0"/>
                                            </p:txEl>
                                          </p:spTgt>
                                        </p:tgtEl>
                                      </p:cBhvr>
                                    </p:animEffect>
                                    <p:anim calcmode="lin" valueType="num">
                                      <p:cBhvr>
                                        <p:cTn id="53"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xEl>
                                              <p:pRg st="0" end="0"/>
                                            </p:txEl>
                                          </p:spTgt>
                                        </p:tgtEl>
                                        <p:attrNameLst>
                                          <p:attrName>style.visibility</p:attrName>
                                        </p:attrNameLst>
                                      </p:cBhvr>
                                      <p:to>
                                        <p:strVal val="visible"/>
                                      </p:to>
                                    </p:set>
                                    <p:animEffect transition="in" filter="fade">
                                      <p:cBhvr>
                                        <p:cTn id="57" dur="1000"/>
                                        <p:tgtEl>
                                          <p:spTgt spid="13">
                                            <p:txEl>
                                              <p:pRg st="0" end="0"/>
                                            </p:txEl>
                                          </p:spTgt>
                                        </p:tgtEl>
                                      </p:cBhvr>
                                    </p:animEffect>
                                    <p:anim calcmode="lin" valueType="num">
                                      <p:cBhvr>
                                        <p:cTn id="5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4">
                                            <p:txEl>
                                              <p:pRg st="0" end="0"/>
                                            </p:txEl>
                                          </p:spTgt>
                                        </p:tgtEl>
                                        <p:attrNameLst>
                                          <p:attrName>style.visibility</p:attrName>
                                        </p:attrNameLst>
                                      </p:cBhvr>
                                      <p:to>
                                        <p:strVal val="visible"/>
                                      </p:to>
                                    </p:set>
                                    <p:animEffect transition="in" filter="fade">
                                      <p:cBhvr>
                                        <p:cTn id="62" dur="1000"/>
                                        <p:tgtEl>
                                          <p:spTgt spid="14">
                                            <p:txEl>
                                              <p:pRg st="0" end="0"/>
                                            </p:txEl>
                                          </p:spTgt>
                                        </p:tgtEl>
                                      </p:cBhvr>
                                    </p:animEffect>
                                    <p:anim calcmode="lin" valueType="num">
                                      <p:cBhvr>
                                        <p:cTn id="6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1000"/>
                                        <p:tgtEl>
                                          <p:spTgt spid="15">
                                            <p:txEl>
                                              <p:pRg st="0" end="0"/>
                                            </p:txEl>
                                          </p:spTgt>
                                        </p:tgtEl>
                                      </p:cBhvr>
                                    </p:animEffect>
                                    <p:anim calcmode="lin" valueType="num">
                                      <p:cBhvr>
                                        <p:cTn id="6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6">
                                            <p:txEl>
                                              <p:pRg st="0" end="0"/>
                                            </p:txEl>
                                          </p:spTgt>
                                        </p:tgtEl>
                                        <p:attrNameLst>
                                          <p:attrName>style.visibility</p:attrName>
                                        </p:attrNameLst>
                                      </p:cBhvr>
                                      <p:to>
                                        <p:strVal val="visible"/>
                                      </p:to>
                                    </p:set>
                                    <p:animEffect transition="in" filter="fade">
                                      <p:cBhvr>
                                        <p:cTn id="72" dur="1000"/>
                                        <p:tgtEl>
                                          <p:spTgt spid="16">
                                            <p:txEl>
                                              <p:pRg st="0" end="0"/>
                                            </p:txEl>
                                          </p:spTgt>
                                        </p:tgtEl>
                                      </p:cBhvr>
                                    </p:animEffect>
                                    <p:anim calcmode="lin" valueType="num">
                                      <p:cBhvr>
                                        <p:cTn id="73"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74"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7">
                                            <p:txEl>
                                              <p:pRg st="0" end="0"/>
                                            </p:txEl>
                                          </p:spTgt>
                                        </p:tgtEl>
                                        <p:attrNameLst>
                                          <p:attrName>style.visibility</p:attrName>
                                        </p:attrNameLst>
                                      </p:cBhvr>
                                      <p:to>
                                        <p:strVal val="visible"/>
                                      </p:to>
                                    </p:set>
                                    <p:animEffect transition="in" filter="fade">
                                      <p:cBhvr>
                                        <p:cTn id="77" dur="1000"/>
                                        <p:tgtEl>
                                          <p:spTgt spid="17">
                                            <p:txEl>
                                              <p:pRg st="0" end="0"/>
                                            </p:txEl>
                                          </p:spTgt>
                                        </p:tgtEl>
                                      </p:cBhvr>
                                    </p:animEffect>
                                    <p:anim calcmode="lin" valueType="num">
                                      <p:cBhvr>
                                        <p:cTn id="7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79" dur="1000" fill="hold"/>
                                        <p:tgtEl>
                                          <p:spTgt spid="17">
                                            <p:txEl>
                                              <p:pRg st="0" end="0"/>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8">
                                            <p:txEl>
                                              <p:pRg st="0" end="0"/>
                                            </p:txEl>
                                          </p:spTgt>
                                        </p:tgtEl>
                                        <p:attrNameLst>
                                          <p:attrName>style.visibility</p:attrName>
                                        </p:attrNameLst>
                                      </p:cBhvr>
                                      <p:to>
                                        <p:strVal val="visible"/>
                                      </p:to>
                                    </p:set>
                                    <p:animEffect transition="in" filter="fade">
                                      <p:cBhvr>
                                        <p:cTn id="82" dur="1000"/>
                                        <p:tgtEl>
                                          <p:spTgt spid="18">
                                            <p:txEl>
                                              <p:pRg st="0" end="0"/>
                                            </p:txEl>
                                          </p:spTgt>
                                        </p:tgtEl>
                                      </p:cBhvr>
                                    </p:animEffect>
                                    <p:anim calcmode="lin" valueType="num">
                                      <p:cBhvr>
                                        <p:cTn id="83"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84"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9">
                                            <p:bg/>
                                          </p:spTgt>
                                        </p:tgtEl>
                                        <p:attrNameLst>
                                          <p:attrName>style.visibility</p:attrName>
                                        </p:attrNameLst>
                                      </p:cBhvr>
                                      <p:to>
                                        <p:strVal val="visible"/>
                                      </p:to>
                                    </p:set>
                                    <p:animEffect transition="in" filter="fade">
                                      <p:cBhvr>
                                        <p:cTn id="87" dur="1000"/>
                                        <p:tgtEl>
                                          <p:spTgt spid="19">
                                            <p:bg/>
                                          </p:spTgt>
                                        </p:tgtEl>
                                      </p:cBhvr>
                                    </p:animEffect>
                                    <p:anim calcmode="lin" valueType="num">
                                      <p:cBhvr>
                                        <p:cTn id="88" dur="1000" fill="hold"/>
                                        <p:tgtEl>
                                          <p:spTgt spid="19">
                                            <p:bg/>
                                          </p:spTgt>
                                        </p:tgtEl>
                                        <p:attrNameLst>
                                          <p:attrName>ppt_x</p:attrName>
                                        </p:attrNameLst>
                                      </p:cBhvr>
                                      <p:tavLst>
                                        <p:tav tm="0">
                                          <p:val>
                                            <p:strVal val="#ppt_x"/>
                                          </p:val>
                                        </p:tav>
                                        <p:tav tm="100000">
                                          <p:val>
                                            <p:strVal val="#ppt_x"/>
                                          </p:val>
                                        </p:tav>
                                      </p:tavLst>
                                    </p:anim>
                                    <p:anim calcmode="lin" valueType="num">
                                      <p:cBhvr>
                                        <p:cTn id="89" dur="1000" fill="hold"/>
                                        <p:tgtEl>
                                          <p:spTgt spid="19">
                                            <p:bg/>
                                          </p:spTgt>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xEl>
                                              <p:pRg st="0" end="0"/>
                                            </p:txEl>
                                          </p:spTgt>
                                        </p:tgtEl>
                                        <p:attrNameLst>
                                          <p:attrName>style.visibility</p:attrName>
                                        </p:attrNameLst>
                                      </p:cBhvr>
                                      <p:to>
                                        <p:strVal val="visible"/>
                                      </p:to>
                                    </p:set>
                                    <p:animEffect transition="in" filter="fade">
                                      <p:cBhvr>
                                        <p:cTn id="92" dur="1000"/>
                                        <p:tgtEl>
                                          <p:spTgt spid="19">
                                            <p:txEl>
                                              <p:pRg st="0" end="0"/>
                                            </p:txEl>
                                          </p:spTgt>
                                        </p:tgtEl>
                                      </p:cBhvr>
                                    </p:animEffect>
                                    <p:anim calcmode="lin" valueType="num">
                                      <p:cBhvr>
                                        <p:cTn id="93"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94"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xEl>
                                              <p:pRg st="0" end="0"/>
                                            </p:txEl>
                                          </p:spTgt>
                                        </p:tgtEl>
                                        <p:attrNameLst>
                                          <p:attrName>style.visibility</p:attrName>
                                        </p:attrNameLst>
                                      </p:cBhvr>
                                      <p:to>
                                        <p:strVal val="visible"/>
                                      </p:to>
                                    </p:set>
                                    <p:animEffect transition="in" filter="fade">
                                      <p:cBhvr>
                                        <p:cTn id="97" dur="1000"/>
                                        <p:tgtEl>
                                          <p:spTgt spid="20">
                                            <p:txEl>
                                              <p:pRg st="0" end="0"/>
                                            </p:txEl>
                                          </p:spTgt>
                                        </p:tgtEl>
                                      </p:cBhvr>
                                    </p:animEffect>
                                    <p:anim calcmode="lin" valueType="num">
                                      <p:cBhvr>
                                        <p:cTn id="9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9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xEl>
                                              <p:pRg st="0" end="0"/>
                                            </p:txEl>
                                          </p:spTgt>
                                        </p:tgtEl>
                                        <p:attrNameLst>
                                          <p:attrName>style.visibility</p:attrName>
                                        </p:attrNameLst>
                                      </p:cBhvr>
                                      <p:to>
                                        <p:strVal val="visible"/>
                                      </p:to>
                                    </p:set>
                                    <p:animEffect transition="in" filter="fade">
                                      <p:cBhvr>
                                        <p:cTn id="102" dur="1000"/>
                                        <p:tgtEl>
                                          <p:spTgt spid="21">
                                            <p:txEl>
                                              <p:pRg st="0" end="0"/>
                                            </p:txEl>
                                          </p:spTgt>
                                        </p:tgtEl>
                                      </p:cBhvr>
                                    </p:animEffect>
                                    <p:anim calcmode="lin" valueType="num">
                                      <p:cBhvr>
                                        <p:cTn id="10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04"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P spid="8" grpId="0" build="allAtOnce" animBg="1"/>
      <p:bldP spid="9" grpId="0" build="allAtOnce" animBg="1"/>
      <p:bldP spid="10" grpId="0" build="allAtOnce" animBg="1"/>
      <p:bldP spid="11" grpId="0" build="allAtOnce"/>
      <p:bldP spid="12" grpId="0" build="allAtOnce"/>
      <p:bldP spid="13" grpId="0" build="allAtOnce"/>
      <p:bldP spid="14" grpId="0" build="allAtOnce"/>
      <p:bldP spid="15" grpId="0" build="allAtOnce"/>
      <p:bldP spid="16" grpId="0" build="allAtOnce"/>
      <p:bldP spid="17" grpId="0" build="allAtOnce"/>
      <p:bldP spid="18" grpId="0" build="allAtOnce"/>
      <p:bldP spid="19" grpId="0" build="allAtOnce" animBg="1"/>
      <p:bldP spid="20" grpId="0" build="allAtOnce"/>
      <p:bldP spid="21"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5A95-947F-A8B3-B901-4474A9589F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1BC40F-05F8-163F-CB13-10F3ACFF29F2}"/>
              </a:ext>
            </a:extLst>
          </p:cNvPr>
          <p:cNvSpPr>
            <a:spLocks noGrp="1"/>
          </p:cNvSpPr>
          <p:nvPr>
            <p:ph type="title"/>
          </p:nvPr>
        </p:nvSpPr>
        <p:spPr/>
        <p:txBody>
          <a:bodyPr/>
          <a:lstStyle/>
          <a:p>
            <a:pPr lvl="0">
              <a:lnSpc>
                <a:spcPct val="125000"/>
              </a:lnSpc>
              <a:spcBef>
                <a:spcPts val="0"/>
              </a:spcBef>
              <a:buClr>
                <a:srgbClr val="000000"/>
              </a:buClr>
              <a:defRPr/>
            </a:pPr>
            <a:r>
              <a:rPr lang="en-US" altLang="zh-CN" kern="0" dirty="0" err="1">
                <a:latin typeface="Noto Sans SC"/>
                <a:ea typeface="Noto Sans SC"/>
                <a:cs typeface="Noto Sans SC"/>
                <a:sym typeface="Noto Sans SC"/>
              </a:rPr>
              <a:t>理论基础</a:t>
            </a:r>
            <a:endParaRPr lang="en-US" altLang="zh-CN" sz="1050" b="0" kern="0" dirty="0">
              <a:solidFill>
                <a:srgbClr val="000000"/>
              </a:solidFill>
              <a:latin typeface="Arial"/>
              <a:cs typeface="Arial"/>
              <a:sym typeface="Arial"/>
            </a:endParaRPr>
          </a:p>
        </p:txBody>
      </p:sp>
      <p:grpSp>
        <p:nvGrpSpPr>
          <p:cNvPr id="21" name="组合 20">
            <a:extLst>
              <a:ext uri="{FF2B5EF4-FFF2-40B4-BE49-F238E27FC236}">
                <a16:creationId xmlns:a16="http://schemas.microsoft.com/office/drawing/2014/main" id="{44209972-C2EB-EB64-7119-3FAB2F2236C0}"/>
              </a:ext>
            </a:extLst>
          </p:cNvPr>
          <p:cNvGrpSpPr/>
          <p:nvPr/>
        </p:nvGrpSpPr>
        <p:grpSpPr>
          <a:xfrm>
            <a:off x="2003269" y="1701191"/>
            <a:ext cx="7730818" cy="4119258"/>
            <a:chOff x="1138238" y="995645"/>
            <a:chExt cx="9732202" cy="5185669"/>
          </a:xfrm>
        </p:grpSpPr>
        <p:sp>
          <p:nvSpPr>
            <p:cNvPr id="22" name="Freeform 6">
              <a:extLst>
                <a:ext uri="{FF2B5EF4-FFF2-40B4-BE49-F238E27FC236}">
                  <a16:creationId xmlns:a16="http://schemas.microsoft.com/office/drawing/2014/main" id="{082353A5-6F16-882B-EFA8-532A58996FD4}"/>
                </a:ext>
              </a:extLst>
            </p:cNvPr>
            <p:cNvSpPr/>
            <p:nvPr/>
          </p:nvSpPr>
          <p:spPr bwMode="auto">
            <a:xfrm>
              <a:off x="1138238" y="2667283"/>
              <a:ext cx="2065338" cy="1787525"/>
            </a:xfrm>
            <a:custGeom>
              <a:avLst/>
              <a:gdLst>
                <a:gd name="T0" fmla="*/ 2143 w 2858"/>
                <a:gd name="T1" fmla="*/ 0 h 2475"/>
                <a:gd name="T2" fmla="*/ 2501 w 2858"/>
                <a:gd name="T3" fmla="*/ 619 h 2475"/>
                <a:gd name="T4" fmla="*/ 2858 w 2858"/>
                <a:gd name="T5" fmla="*/ 1238 h 2475"/>
                <a:gd name="T6" fmla="*/ 2501 w 2858"/>
                <a:gd name="T7" fmla="*/ 1856 h 2475"/>
                <a:gd name="T8" fmla="*/ 2143 w 2858"/>
                <a:gd name="T9" fmla="*/ 2475 h 2475"/>
                <a:gd name="T10" fmla="*/ 1429 w 2858"/>
                <a:gd name="T11" fmla="*/ 2475 h 2475"/>
                <a:gd name="T12" fmla="*/ 714 w 2858"/>
                <a:gd name="T13" fmla="*/ 2475 h 2475"/>
                <a:gd name="T14" fmla="*/ 357 w 2858"/>
                <a:gd name="T15" fmla="*/ 1856 h 2475"/>
                <a:gd name="T16" fmla="*/ 0 w 2858"/>
                <a:gd name="T17" fmla="*/ 1238 h 2475"/>
                <a:gd name="T18" fmla="*/ 357 w 2858"/>
                <a:gd name="T19" fmla="*/ 619 h 2475"/>
                <a:gd name="T20" fmla="*/ 714 w 2858"/>
                <a:gd name="T21" fmla="*/ 0 h 2475"/>
                <a:gd name="T22" fmla="*/ 1429 w 2858"/>
                <a:gd name="T23" fmla="*/ 0 h 2475"/>
                <a:gd name="T24" fmla="*/ 2143 w 2858"/>
                <a:gd name="T25" fmla="*/ 0 h 2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23" name="Line 7">
              <a:extLst>
                <a:ext uri="{FF2B5EF4-FFF2-40B4-BE49-F238E27FC236}">
                  <a16:creationId xmlns:a16="http://schemas.microsoft.com/office/drawing/2014/main" id="{3AE192E8-C3CB-732D-5C8F-57A0D6F5DDAD}"/>
                </a:ext>
              </a:extLst>
            </p:cNvPr>
            <p:cNvSpPr>
              <a:spLocks noChangeShapeType="1"/>
            </p:cNvSpPr>
            <p:nvPr/>
          </p:nvSpPr>
          <p:spPr bwMode="auto">
            <a:xfrm flipV="1">
              <a:off x="2690813" y="183384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24" name="Line 8">
              <a:extLst>
                <a:ext uri="{FF2B5EF4-FFF2-40B4-BE49-F238E27FC236}">
                  <a16:creationId xmlns:a16="http://schemas.microsoft.com/office/drawing/2014/main" id="{B11471C6-4617-08D0-BED9-B3B70FC17705}"/>
                </a:ext>
              </a:extLst>
            </p:cNvPr>
            <p:cNvSpPr>
              <a:spLocks noChangeShapeType="1"/>
            </p:cNvSpPr>
            <p:nvPr/>
          </p:nvSpPr>
          <p:spPr bwMode="auto">
            <a:xfrm flipV="1">
              <a:off x="3201987" y="3564220"/>
              <a:ext cx="549275" cy="0"/>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25" name="Line 13">
              <a:extLst>
                <a:ext uri="{FF2B5EF4-FFF2-40B4-BE49-F238E27FC236}">
                  <a16:creationId xmlns:a16="http://schemas.microsoft.com/office/drawing/2014/main" id="{FF843548-5315-826B-9825-32840CCBC86C}"/>
                </a:ext>
              </a:extLst>
            </p:cNvPr>
            <p:cNvSpPr>
              <a:spLocks noChangeShapeType="1"/>
            </p:cNvSpPr>
            <p:nvPr/>
          </p:nvSpPr>
          <p:spPr bwMode="auto">
            <a:xfrm>
              <a:off x="2690813" y="445639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213555"/>
                </a:solidFill>
                <a:effectLst/>
                <a:uLnTx/>
                <a:uFillTx/>
                <a:latin typeface="Calibri"/>
                <a:ea typeface="微软雅黑 Light"/>
                <a:cs typeface="+mn-cs"/>
              </a:endParaRPr>
            </a:p>
          </p:txBody>
        </p:sp>
        <p:grpSp>
          <p:nvGrpSpPr>
            <p:cNvPr id="28" name="组合 27">
              <a:extLst>
                <a:ext uri="{FF2B5EF4-FFF2-40B4-BE49-F238E27FC236}">
                  <a16:creationId xmlns:a16="http://schemas.microsoft.com/office/drawing/2014/main" id="{1893F857-DB11-F123-1786-F6C1B3E4F8B3}"/>
                </a:ext>
              </a:extLst>
            </p:cNvPr>
            <p:cNvGrpSpPr/>
            <p:nvPr/>
          </p:nvGrpSpPr>
          <p:grpSpPr>
            <a:xfrm>
              <a:off x="3751263" y="995645"/>
              <a:ext cx="7119177" cy="1686820"/>
              <a:chOff x="3751263" y="995645"/>
              <a:chExt cx="7119177" cy="1686820"/>
            </a:xfrm>
          </p:grpSpPr>
          <p:sp>
            <p:nvSpPr>
              <p:cNvPr id="44" name="Rectangle 9">
                <a:extLst>
                  <a:ext uri="{FF2B5EF4-FFF2-40B4-BE49-F238E27FC236}">
                    <a16:creationId xmlns:a16="http://schemas.microsoft.com/office/drawing/2014/main" id="{77DAEC04-9B75-E550-B432-97CDCC5E3DCA}"/>
                  </a:ext>
                </a:extLst>
              </p:cNvPr>
              <p:cNvSpPr>
                <a:spLocks noChangeArrowheads="1"/>
              </p:cNvSpPr>
              <p:nvPr/>
            </p:nvSpPr>
            <p:spPr bwMode="auto">
              <a:xfrm>
                <a:off x="3751263" y="1333579"/>
                <a:ext cx="7119177" cy="1348886"/>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45" name="Rectangle 10">
                <a:extLst>
                  <a:ext uri="{FF2B5EF4-FFF2-40B4-BE49-F238E27FC236}">
                    <a16:creationId xmlns:a16="http://schemas.microsoft.com/office/drawing/2014/main" id="{C8F5E6DD-3595-02A4-5DF8-C39DCA5DADB7}"/>
                  </a:ext>
                </a:extLst>
              </p:cNvPr>
              <p:cNvSpPr>
                <a:spLocks noChangeArrowheads="1"/>
              </p:cNvSpPr>
              <p:nvPr/>
            </p:nvSpPr>
            <p:spPr bwMode="auto">
              <a:xfrm>
                <a:off x="5540009" y="995645"/>
                <a:ext cx="3581400" cy="582090"/>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46" name="TextBox 16">
                <a:extLst>
                  <a:ext uri="{FF2B5EF4-FFF2-40B4-BE49-F238E27FC236}">
                    <a16:creationId xmlns:a16="http://schemas.microsoft.com/office/drawing/2014/main" id="{C50B2470-03EC-4BDD-D242-0EFAAE628EBB}"/>
                  </a:ext>
                </a:extLst>
              </p:cNvPr>
              <p:cNvSpPr txBox="1"/>
              <p:nvPr/>
            </p:nvSpPr>
            <p:spPr>
              <a:xfrm>
                <a:off x="5776685" y="995645"/>
                <a:ext cx="3108046" cy="54429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Light"/>
                    <a:ea typeface="微软雅黑 Light"/>
                    <a:cs typeface="+mn-cs"/>
                  </a:rPr>
                  <a:t>路径规划理论</a:t>
                </a:r>
                <a:endParaRPr kumimoji="0" lang="en-US" altLang="zh-CN" sz="2000" b="1"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47" name="TextBox 17">
                <a:extLst>
                  <a:ext uri="{FF2B5EF4-FFF2-40B4-BE49-F238E27FC236}">
                    <a16:creationId xmlns:a16="http://schemas.microsoft.com/office/drawing/2014/main" id="{6D086FBF-6844-785C-916A-1FAFE88A0840}"/>
                  </a:ext>
                </a:extLst>
              </p:cNvPr>
              <p:cNvSpPr txBox="1"/>
              <p:nvPr/>
            </p:nvSpPr>
            <p:spPr>
              <a:xfrm>
                <a:off x="3938139" y="1776693"/>
                <a:ext cx="6807854" cy="7395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以</a:t>
                </a:r>
                <a:r>
                  <a:rPr kumimoji="0" lang="en-US" altLang="zh-CN"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A*</a:t>
                </a:r>
                <a:r>
                  <a:rPr kumimoji="0" lang="zh-CN" altLang="en-US"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启发式搜索算法为基础，结合双向搜索策略与自适应启发函数设计，构建</a:t>
                </a:r>
                <a:r>
                  <a:rPr kumimoji="0" lang="en-US" altLang="zh-CN"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CBMBA</a:t>
                </a:r>
                <a:r>
                  <a:rPr kumimoji="0" lang="zh-CN" altLang="en-US" sz="140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约束多层双向自适应路径搜索框架</a:t>
                </a:r>
              </a:p>
            </p:txBody>
          </p:sp>
        </p:grpSp>
        <p:grpSp>
          <p:nvGrpSpPr>
            <p:cNvPr id="31" name="组合 30">
              <a:extLst>
                <a:ext uri="{FF2B5EF4-FFF2-40B4-BE49-F238E27FC236}">
                  <a16:creationId xmlns:a16="http://schemas.microsoft.com/office/drawing/2014/main" id="{7A2AFF1D-6ED9-2FE2-73CC-9E1786E5C4E1}"/>
                </a:ext>
              </a:extLst>
            </p:cNvPr>
            <p:cNvGrpSpPr/>
            <p:nvPr/>
          </p:nvGrpSpPr>
          <p:grpSpPr>
            <a:xfrm>
              <a:off x="3751263" y="2741895"/>
              <a:ext cx="7119177" cy="1686748"/>
              <a:chOff x="3751263" y="2741895"/>
              <a:chExt cx="7119177" cy="1686748"/>
            </a:xfrm>
          </p:grpSpPr>
          <p:sp>
            <p:nvSpPr>
              <p:cNvPr id="38" name="Rectangle 11">
                <a:extLst>
                  <a:ext uri="{FF2B5EF4-FFF2-40B4-BE49-F238E27FC236}">
                    <a16:creationId xmlns:a16="http://schemas.microsoft.com/office/drawing/2014/main" id="{48B5FD55-C2A1-527D-1682-E5CEBA28C7B6}"/>
                  </a:ext>
                </a:extLst>
              </p:cNvPr>
              <p:cNvSpPr>
                <a:spLocks noChangeArrowheads="1"/>
              </p:cNvSpPr>
              <p:nvPr/>
            </p:nvSpPr>
            <p:spPr bwMode="auto">
              <a:xfrm>
                <a:off x="3751263" y="3081414"/>
                <a:ext cx="7119177" cy="1347229"/>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40" name="Rectangle 12">
                <a:extLst>
                  <a:ext uri="{FF2B5EF4-FFF2-40B4-BE49-F238E27FC236}">
                    <a16:creationId xmlns:a16="http://schemas.microsoft.com/office/drawing/2014/main" id="{DFADE1FB-77B3-14DC-6600-BF91F01CBD41}"/>
                  </a:ext>
                </a:extLst>
              </p:cNvPr>
              <p:cNvSpPr>
                <a:spLocks noChangeArrowheads="1"/>
              </p:cNvSpPr>
              <p:nvPr/>
            </p:nvSpPr>
            <p:spPr bwMode="auto">
              <a:xfrm>
                <a:off x="5540009" y="27418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41" name="TextBox 18">
                <a:extLst>
                  <a:ext uri="{FF2B5EF4-FFF2-40B4-BE49-F238E27FC236}">
                    <a16:creationId xmlns:a16="http://schemas.microsoft.com/office/drawing/2014/main" id="{C6B9F46B-9FA1-7F5B-7391-D0AD30B48DCC}"/>
                  </a:ext>
                </a:extLst>
              </p:cNvPr>
              <p:cNvSpPr txBox="1"/>
              <p:nvPr/>
            </p:nvSpPr>
            <p:spPr>
              <a:xfrm>
                <a:off x="5776685" y="2750677"/>
                <a:ext cx="3108046" cy="544294"/>
              </a:xfrm>
              <a:prstGeom prst="rect">
                <a:avLst/>
              </a:prstGeom>
              <a:noFill/>
            </p:spPr>
            <p:txBody>
              <a:bodyPr wrap="square" rtlCol="0">
                <a:spAutoFit/>
              </a:bodyPr>
              <a:lstStyle/>
              <a:p>
                <a:pPr lvl="0" algn="ctr">
                  <a:lnSpc>
                    <a:spcPct val="120000"/>
                  </a:lnSpc>
                </a:pPr>
                <a:r>
                  <a:rPr lang="zh-CN" altLang="en-US" sz="2000" b="1" dirty="0">
                    <a:solidFill>
                      <a:prstClr val="white"/>
                    </a:solidFill>
                    <a:latin typeface="微软雅黑 Light"/>
                  </a:rPr>
                  <a:t>人工势场理论</a:t>
                </a:r>
                <a:endParaRPr kumimoji="0" lang="en-US" altLang="zh-CN" sz="2000" b="1"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43" name="TextBox 19">
                <a:extLst>
                  <a:ext uri="{FF2B5EF4-FFF2-40B4-BE49-F238E27FC236}">
                    <a16:creationId xmlns:a16="http://schemas.microsoft.com/office/drawing/2014/main" id="{71182DED-4118-E0BB-4A5C-4F26D0B87AAF}"/>
                  </a:ext>
                </a:extLst>
              </p:cNvPr>
              <p:cNvSpPr txBox="1"/>
              <p:nvPr/>
            </p:nvSpPr>
            <p:spPr>
              <a:xfrm>
                <a:off x="3938139" y="3509957"/>
                <a:ext cx="6807854" cy="739556"/>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在经典</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Khatib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势场模型基础上，引入障碍物相对速度项构造动态排斥势场，并加入距离衰减因子抑制远距离干扰；</a:t>
                </a:r>
              </a:p>
            </p:txBody>
          </p:sp>
        </p:grpSp>
        <p:grpSp>
          <p:nvGrpSpPr>
            <p:cNvPr id="32" name="组合 31">
              <a:extLst>
                <a:ext uri="{FF2B5EF4-FFF2-40B4-BE49-F238E27FC236}">
                  <a16:creationId xmlns:a16="http://schemas.microsoft.com/office/drawing/2014/main" id="{AB3924F7-D3B3-2A8B-E2BD-18734663DAE6}"/>
                </a:ext>
              </a:extLst>
            </p:cNvPr>
            <p:cNvGrpSpPr/>
            <p:nvPr/>
          </p:nvGrpSpPr>
          <p:grpSpPr>
            <a:xfrm>
              <a:off x="3751263" y="4494495"/>
              <a:ext cx="7119177" cy="1686819"/>
              <a:chOff x="3751263" y="4494495"/>
              <a:chExt cx="7119177" cy="1686819"/>
            </a:xfrm>
          </p:grpSpPr>
          <p:sp>
            <p:nvSpPr>
              <p:cNvPr id="34" name="Rectangle 14">
                <a:extLst>
                  <a:ext uri="{FF2B5EF4-FFF2-40B4-BE49-F238E27FC236}">
                    <a16:creationId xmlns:a16="http://schemas.microsoft.com/office/drawing/2014/main" id="{3781DE19-DAEC-C825-051B-8752402467AA}"/>
                  </a:ext>
                </a:extLst>
              </p:cNvPr>
              <p:cNvSpPr>
                <a:spLocks noChangeArrowheads="1"/>
              </p:cNvSpPr>
              <p:nvPr/>
            </p:nvSpPr>
            <p:spPr bwMode="auto">
              <a:xfrm>
                <a:off x="3751263" y="4832429"/>
                <a:ext cx="7119177" cy="1348885"/>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35" name="Rectangle 15">
                <a:extLst>
                  <a:ext uri="{FF2B5EF4-FFF2-40B4-BE49-F238E27FC236}">
                    <a16:creationId xmlns:a16="http://schemas.microsoft.com/office/drawing/2014/main" id="{E5E39DED-C885-C829-4FF3-91F1A5DDD6BC}"/>
                  </a:ext>
                </a:extLst>
              </p:cNvPr>
              <p:cNvSpPr>
                <a:spLocks noChangeArrowheads="1"/>
              </p:cNvSpPr>
              <p:nvPr/>
            </p:nvSpPr>
            <p:spPr bwMode="auto">
              <a:xfrm>
                <a:off x="5540009" y="44944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213555"/>
                  </a:solidFill>
                  <a:effectLst/>
                  <a:uLnTx/>
                  <a:uFillTx/>
                  <a:latin typeface="Calibri"/>
                  <a:ea typeface="微软雅黑 Light"/>
                  <a:cs typeface="+mn-cs"/>
                </a:endParaRPr>
              </a:p>
            </p:txBody>
          </p:sp>
          <p:sp>
            <p:nvSpPr>
              <p:cNvPr id="36" name="TextBox 20">
                <a:extLst>
                  <a:ext uri="{FF2B5EF4-FFF2-40B4-BE49-F238E27FC236}">
                    <a16:creationId xmlns:a16="http://schemas.microsoft.com/office/drawing/2014/main" id="{E29EA8B7-A023-30F3-E7BB-D7A095F8FB70}"/>
                  </a:ext>
                </a:extLst>
              </p:cNvPr>
              <p:cNvSpPr txBox="1"/>
              <p:nvPr/>
            </p:nvSpPr>
            <p:spPr>
              <a:xfrm>
                <a:off x="5776685" y="4497591"/>
                <a:ext cx="3108046" cy="544294"/>
              </a:xfrm>
              <a:prstGeom prst="rect">
                <a:avLst/>
              </a:prstGeom>
              <a:noFill/>
            </p:spPr>
            <p:txBody>
              <a:bodyPr wrap="square" rtlCol="0">
                <a:spAutoFit/>
              </a:bodyPr>
              <a:lstStyle/>
              <a:p>
                <a:pPr lvl="0" algn="ctr">
                  <a:lnSpc>
                    <a:spcPct val="120000"/>
                  </a:lnSpc>
                </a:pPr>
                <a:r>
                  <a:rPr lang="zh-CN" altLang="en-US" sz="2000" b="1" dirty="0">
                    <a:solidFill>
                      <a:prstClr val="white"/>
                    </a:solidFill>
                    <a:latin typeface="微软雅黑 Light"/>
                  </a:rPr>
                  <a:t>三维空间表示理论</a:t>
                </a:r>
                <a:endParaRPr lang="en-US" altLang="zh-CN" sz="2000" b="1" dirty="0">
                  <a:solidFill>
                    <a:prstClr val="white"/>
                  </a:solidFill>
                  <a:latin typeface="微软雅黑 Light"/>
                </a:endParaRPr>
              </a:p>
            </p:txBody>
          </p:sp>
          <p:sp>
            <p:nvSpPr>
              <p:cNvPr id="37" name="TextBox 21">
                <a:extLst>
                  <a:ext uri="{FF2B5EF4-FFF2-40B4-BE49-F238E27FC236}">
                    <a16:creationId xmlns:a16="http://schemas.microsoft.com/office/drawing/2014/main" id="{08CDC91E-FE69-A102-452F-6EF90E277355}"/>
                  </a:ext>
                </a:extLst>
              </p:cNvPr>
              <p:cNvSpPr txBox="1"/>
              <p:nvPr/>
            </p:nvSpPr>
            <p:spPr>
              <a:xfrm>
                <a:off x="3938139" y="5256871"/>
                <a:ext cx="6807854" cy="739555"/>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基于</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OctoMap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panose="020B0500000000000000" pitchFamily="34" charset="-122"/>
                    <a:ea typeface="思源黑体" panose="020B0500000000000000" pitchFamily="34" charset="-122"/>
                    <a:cs typeface="+mn-cs"/>
                  </a:rPr>
                  <a:t>八叉树数据结构，实现高效的三维占用栅格地图构建与空间信息索引。</a:t>
                </a:r>
              </a:p>
            </p:txBody>
          </p:sp>
        </p:grpSp>
        <p:sp>
          <p:nvSpPr>
            <p:cNvPr id="33" name="TextBox 22">
              <a:extLst>
                <a:ext uri="{FF2B5EF4-FFF2-40B4-BE49-F238E27FC236}">
                  <a16:creationId xmlns:a16="http://schemas.microsoft.com/office/drawing/2014/main" id="{FACAB282-E133-C802-64C3-775E74C972D5}"/>
                </a:ext>
              </a:extLst>
            </p:cNvPr>
            <p:cNvSpPr txBox="1"/>
            <p:nvPr/>
          </p:nvSpPr>
          <p:spPr>
            <a:xfrm>
              <a:off x="1543805" y="2958345"/>
              <a:ext cx="1252616" cy="118787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Light"/>
                  <a:ea typeface="微软雅黑 Light"/>
                  <a:cs typeface="+mn-cs"/>
                </a:rPr>
                <a:t>理论基础</a:t>
              </a:r>
              <a:endParaRPr kumimoji="0" lang="en-US" altLang="zh-CN" sz="2400" b="1" i="0" u="none" strike="noStrike" kern="1200" cap="none" spc="0" normalizeH="0" baseline="0" noProof="0" dirty="0">
                <a:ln>
                  <a:noFill/>
                </a:ln>
                <a:solidFill>
                  <a:prstClr val="white"/>
                </a:solidFill>
                <a:effectLst/>
                <a:uLnTx/>
                <a:uFillTx/>
                <a:latin typeface="微软雅黑 Light"/>
                <a:ea typeface="微软雅黑 Light"/>
                <a:cs typeface="+mn-cs"/>
              </a:endParaRPr>
            </a:p>
          </p:txBody>
        </p:sp>
      </p:grpSp>
    </p:spTree>
    <p:extLst>
      <p:ext uri="{BB962C8B-B14F-4D97-AF65-F5344CB8AC3E}">
        <p14:creationId xmlns:p14="http://schemas.microsoft.com/office/powerpoint/2010/main" val="38188106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FEE15-EA6F-AB55-3071-87A940CF4F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C7D7CD-E1F8-30D5-2C97-ADEE30551F6F}"/>
              </a:ext>
            </a:extLst>
          </p:cNvPr>
          <p:cNvSpPr>
            <a:spLocks noGrp="1"/>
          </p:cNvSpPr>
          <p:nvPr>
            <p:ph type="title"/>
          </p:nvPr>
        </p:nvSpPr>
        <p:spPr>
          <a:xfrm>
            <a:off x="1432132" y="761700"/>
            <a:ext cx="4023264" cy="456129"/>
          </a:xfrm>
        </p:spPr>
        <p:txBody>
          <a:bodyPr/>
          <a:lstStyle/>
          <a:p>
            <a:pPr>
              <a:lnSpc>
                <a:spcPct val="120000"/>
              </a:lnSpc>
            </a:pPr>
            <a:r>
              <a:rPr lang="zh-CN" altLang="en-US" dirty="0"/>
              <a:t>研究方法与步骤</a:t>
            </a:r>
          </a:p>
        </p:txBody>
      </p:sp>
      <p:grpSp>
        <p:nvGrpSpPr>
          <p:cNvPr id="16" name="组合 15">
            <a:extLst>
              <a:ext uri="{FF2B5EF4-FFF2-40B4-BE49-F238E27FC236}">
                <a16:creationId xmlns:a16="http://schemas.microsoft.com/office/drawing/2014/main" id="{6007D94E-8F0C-9491-F64C-4A64ED48FE0E}"/>
              </a:ext>
            </a:extLst>
          </p:cNvPr>
          <p:cNvGrpSpPr/>
          <p:nvPr/>
        </p:nvGrpSpPr>
        <p:grpSpPr>
          <a:xfrm>
            <a:off x="1052487" y="2030659"/>
            <a:ext cx="4496308" cy="1070742"/>
            <a:chOff x="1007084" y="1225382"/>
            <a:chExt cx="5440787" cy="1295659"/>
          </a:xfrm>
        </p:grpSpPr>
        <p:sp>
          <p:nvSpPr>
            <p:cNvPr id="17" name="Oval 17">
              <a:extLst>
                <a:ext uri="{FF2B5EF4-FFF2-40B4-BE49-F238E27FC236}">
                  <a16:creationId xmlns:a16="http://schemas.microsoft.com/office/drawing/2014/main" id="{6EA873C5-F311-5DA3-D963-C9CF2BC80B53}"/>
                </a:ext>
              </a:extLst>
            </p:cNvPr>
            <p:cNvSpPr>
              <a:spLocks noChangeArrowheads="1"/>
            </p:cNvSpPr>
            <p:nvPr/>
          </p:nvSpPr>
          <p:spPr bwMode="auto">
            <a:xfrm>
              <a:off x="1007084" y="1372699"/>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1</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18" name="矩形 17">
              <a:extLst>
                <a:ext uri="{FF2B5EF4-FFF2-40B4-BE49-F238E27FC236}">
                  <a16:creationId xmlns:a16="http://schemas.microsoft.com/office/drawing/2014/main" id="{CF4D1F52-C2FC-CBBA-4441-DC5E134373EF}"/>
                </a:ext>
              </a:extLst>
            </p:cNvPr>
            <p:cNvSpPr/>
            <p:nvPr/>
          </p:nvSpPr>
          <p:spPr>
            <a:xfrm>
              <a:off x="1808363" y="1225382"/>
              <a:ext cx="4639508" cy="129565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latin typeface="思源黑体" panose="020B0500000000000000" pitchFamily="34" charset="-122"/>
                  <a:ea typeface="思源黑体" panose="020B0500000000000000" pitchFamily="34" charset="-122"/>
                  <a:sym typeface="Arial" panose="020B0604020202020204" pitchFamily="34" charset="0"/>
                </a:rPr>
                <a:t>场景建模</a:t>
              </a: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利用</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OpenStreetMap API</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获取真实城市建筑轮廓数据，通过</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Blender</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完成三维模型的处理、简化和材质映射，将场景模型导入</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Webots</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仿真环境。</a:t>
              </a:r>
            </a:p>
          </p:txBody>
        </p:sp>
      </p:grpSp>
      <p:grpSp>
        <p:nvGrpSpPr>
          <p:cNvPr id="19" name="组合 18">
            <a:extLst>
              <a:ext uri="{FF2B5EF4-FFF2-40B4-BE49-F238E27FC236}">
                <a16:creationId xmlns:a16="http://schemas.microsoft.com/office/drawing/2014/main" id="{A457C992-AB92-A87C-38E1-E52503F925E7}"/>
              </a:ext>
            </a:extLst>
          </p:cNvPr>
          <p:cNvGrpSpPr/>
          <p:nvPr/>
        </p:nvGrpSpPr>
        <p:grpSpPr>
          <a:xfrm>
            <a:off x="1052487" y="3350997"/>
            <a:ext cx="4496308" cy="1070742"/>
            <a:chOff x="1007084" y="2748997"/>
            <a:chExt cx="5440787" cy="1295659"/>
          </a:xfrm>
        </p:grpSpPr>
        <p:sp>
          <p:nvSpPr>
            <p:cNvPr id="20" name="Oval 17">
              <a:extLst>
                <a:ext uri="{FF2B5EF4-FFF2-40B4-BE49-F238E27FC236}">
                  <a16:creationId xmlns:a16="http://schemas.microsoft.com/office/drawing/2014/main" id="{8C693341-7CE5-A529-E9E3-509672E0F02F}"/>
                </a:ext>
              </a:extLst>
            </p:cNvPr>
            <p:cNvSpPr>
              <a:spLocks noChangeArrowheads="1"/>
            </p:cNvSpPr>
            <p:nvPr/>
          </p:nvSpPr>
          <p:spPr bwMode="auto">
            <a:xfrm>
              <a:off x="1007084" y="2925107"/>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2</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1" name="矩形 20">
              <a:extLst>
                <a:ext uri="{FF2B5EF4-FFF2-40B4-BE49-F238E27FC236}">
                  <a16:creationId xmlns:a16="http://schemas.microsoft.com/office/drawing/2014/main" id="{CB00D812-D024-2E5F-C390-3692B7ECEF42}"/>
                </a:ext>
              </a:extLst>
            </p:cNvPr>
            <p:cNvSpPr/>
            <p:nvPr/>
          </p:nvSpPr>
          <p:spPr>
            <a:xfrm>
              <a:off x="1808363" y="2748997"/>
              <a:ext cx="4639508" cy="129565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latin typeface="思源黑体" panose="020B0500000000000000" pitchFamily="34" charset="-122"/>
                  <a:ea typeface="思源黑体" panose="020B0500000000000000" pitchFamily="34" charset="-122"/>
                  <a:sym typeface="Arial" panose="020B0604020202020204" pitchFamily="34" charset="0"/>
                </a:rPr>
                <a:t>算法设计</a:t>
              </a:r>
              <a:endParaRPr lang="en-US" altLang="zh-CN" b="1" dirty="0">
                <a:solidFill>
                  <a:srgbClr val="313D51"/>
                </a:solidFill>
                <a:latin typeface="思源黑体" panose="020B0500000000000000" pitchFamily="34" charset="-122"/>
                <a:ea typeface="思源黑体" panose="020B0500000000000000" pitchFamily="34" charset="-122"/>
                <a:sym typeface="Arial" panose="020B0604020202020204" pitchFamily="34" charset="0"/>
              </a:endParaRP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基于</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Python</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实现八叉树三维场景解析，在</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OctoMap</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数据结构上适配</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CBMBA A*</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算法的三维空间扩展，完成全局最优路径搜索模块。</a:t>
              </a:r>
            </a:p>
          </p:txBody>
        </p:sp>
      </p:grpSp>
      <p:grpSp>
        <p:nvGrpSpPr>
          <p:cNvPr id="22" name="组合 21">
            <a:extLst>
              <a:ext uri="{FF2B5EF4-FFF2-40B4-BE49-F238E27FC236}">
                <a16:creationId xmlns:a16="http://schemas.microsoft.com/office/drawing/2014/main" id="{32A058C9-8E7A-CA3D-3C9B-B1069B2FBDA3}"/>
              </a:ext>
            </a:extLst>
          </p:cNvPr>
          <p:cNvGrpSpPr/>
          <p:nvPr/>
        </p:nvGrpSpPr>
        <p:grpSpPr>
          <a:xfrm>
            <a:off x="1052487" y="4671336"/>
            <a:ext cx="4361838" cy="1070742"/>
            <a:chOff x="1007084" y="4355902"/>
            <a:chExt cx="5278071" cy="1295660"/>
          </a:xfrm>
        </p:grpSpPr>
        <p:sp>
          <p:nvSpPr>
            <p:cNvPr id="23" name="Oval 17">
              <a:extLst>
                <a:ext uri="{FF2B5EF4-FFF2-40B4-BE49-F238E27FC236}">
                  <a16:creationId xmlns:a16="http://schemas.microsoft.com/office/drawing/2014/main" id="{AFBE2337-E249-78E7-398C-1CFD89942BCF}"/>
                </a:ext>
              </a:extLst>
            </p:cNvPr>
            <p:cNvSpPr>
              <a:spLocks noChangeArrowheads="1"/>
            </p:cNvSpPr>
            <p:nvPr/>
          </p:nvSpPr>
          <p:spPr bwMode="auto">
            <a:xfrm>
              <a:off x="1007084" y="4484588"/>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3</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4" name="矩形 23">
              <a:extLst>
                <a:ext uri="{FF2B5EF4-FFF2-40B4-BE49-F238E27FC236}">
                  <a16:creationId xmlns:a16="http://schemas.microsoft.com/office/drawing/2014/main" id="{4A83F469-6AEE-759A-836D-D6FBF7C2DB45}"/>
                </a:ext>
              </a:extLst>
            </p:cNvPr>
            <p:cNvSpPr/>
            <p:nvPr/>
          </p:nvSpPr>
          <p:spPr>
            <a:xfrm>
              <a:off x="1808364" y="4355902"/>
              <a:ext cx="4476791" cy="12956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ea typeface="思源黑体" panose="020B0500000000000000" pitchFamily="34" charset="-122"/>
                  <a:sym typeface="Arial" panose="020B0604020202020204" pitchFamily="34" charset="0"/>
                </a:rPr>
                <a:t>仿真验证</a:t>
              </a: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在</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Webots</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仿真环境中模拟实时障碍检测，结合改进人工势场法实现局部动态避障，并通过状态机或加权融合策略实现全局路径与局部避障的协同控制。</a:t>
              </a:r>
            </a:p>
          </p:txBody>
        </p:sp>
      </p:grpSp>
      <p:grpSp>
        <p:nvGrpSpPr>
          <p:cNvPr id="3" name="组合 2">
            <a:extLst>
              <a:ext uri="{FF2B5EF4-FFF2-40B4-BE49-F238E27FC236}">
                <a16:creationId xmlns:a16="http://schemas.microsoft.com/office/drawing/2014/main" id="{28A1A84D-743A-393B-BED3-C96E8BE82C22}"/>
              </a:ext>
            </a:extLst>
          </p:cNvPr>
          <p:cNvGrpSpPr/>
          <p:nvPr/>
        </p:nvGrpSpPr>
        <p:grpSpPr>
          <a:xfrm>
            <a:off x="6462687" y="2030659"/>
            <a:ext cx="4496308" cy="1070742"/>
            <a:chOff x="1007084" y="1225382"/>
            <a:chExt cx="5440787" cy="1295658"/>
          </a:xfrm>
        </p:grpSpPr>
        <p:sp>
          <p:nvSpPr>
            <p:cNvPr id="4" name="Oval 17">
              <a:extLst>
                <a:ext uri="{FF2B5EF4-FFF2-40B4-BE49-F238E27FC236}">
                  <a16:creationId xmlns:a16="http://schemas.microsoft.com/office/drawing/2014/main" id="{4A57F6CA-EDD2-CDA0-2778-BC049362B29E}"/>
                </a:ext>
              </a:extLst>
            </p:cNvPr>
            <p:cNvSpPr>
              <a:spLocks noChangeArrowheads="1"/>
            </p:cNvSpPr>
            <p:nvPr/>
          </p:nvSpPr>
          <p:spPr bwMode="auto">
            <a:xfrm>
              <a:off x="1007084" y="1372699"/>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4</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5" name="矩形 4">
              <a:extLst>
                <a:ext uri="{FF2B5EF4-FFF2-40B4-BE49-F238E27FC236}">
                  <a16:creationId xmlns:a16="http://schemas.microsoft.com/office/drawing/2014/main" id="{497EDF81-C483-BD28-9772-921098F8BBF6}"/>
                </a:ext>
              </a:extLst>
            </p:cNvPr>
            <p:cNvSpPr/>
            <p:nvPr/>
          </p:nvSpPr>
          <p:spPr>
            <a:xfrm>
              <a:off x="1808363" y="1225382"/>
              <a:ext cx="4639508" cy="129565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ea typeface="思源黑体" panose="020B0500000000000000" pitchFamily="34" charset="-122"/>
                  <a:sym typeface="Arial" panose="020B0604020202020204" pitchFamily="34" charset="0"/>
                </a:rPr>
                <a:t>性能评估</a:t>
              </a:r>
            </a:p>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在</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Webots</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内完成全套仿真测试，以路径长度、规划耗时、避障成功率、飞行平滑度等指标量化评估算法性能。</a:t>
              </a:r>
            </a:p>
          </p:txBody>
        </p:sp>
      </p:grpSp>
      <p:grpSp>
        <p:nvGrpSpPr>
          <p:cNvPr id="6" name="组合 5">
            <a:extLst>
              <a:ext uri="{FF2B5EF4-FFF2-40B4-BE49-F238E27FC236}">
                <a16:creationId xmlns:a16="http://schemas.microsoft.com/office/drawing/2014/main" id="{9BFFD03F-EA65-9F25-3F68-D2F6FB239EA8}"/>
              </a:ext>
            </a:extLst>
          </p:cNvPr>
          <p:cNvGrpSpPr/>
          <p:nvPr/>
        </p:nvGrpSpPr>
        <p:grpSpPr>
          <a:xfrm>
            <a:off x="6462687" y="3350996"/>
            <a:ext cx="4496308" cy="810478"/>
            <a:chOff x="1007084" y="2748997"/>
            <a:chExt cx="5440787" cy="980725"/>
          </a:xfrm>
        </p:grpSpPr>
        <p:sp>
          <p:nvSpPr>
            <p:cNvPr id="7" name="Oval 17">
              <a:extLst>
                <a:ext uri="{FF2B5EF4-FFF2-40B4-BE49-F238E27FC236}">
                  <a16:creationId xmlns:a16="http://schemas.microsoft.com/office/drawing/2014/main" id="{DFEC7AC4-DE1C-0EA4-6A83-B4F7FB2876B0}"/>
                </a:ext>
              </a:extLst>
            </p:cNvPr>
            <p:cNvSpPr>
              <a:spLocks noChangeArrowheads="1"/>
            </p:cNvSpPr>
            <p:nvPr/>
          </p:nvSpPr>
          <p:spPr bwMode="auto">
            <a:xfrm>
              <a:off x="1007084" y="2925107"/>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5</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8" name="矩形 7">
              <a:extLst>
                <a:ext uri="{FF2B5EF4-FFF2-40B4-BE49-F238E27FC236}">
                  <a16:creationId xmlns:a16="http://schemas.microsoft.com/office/drawing/2014/main" id="{4B1DB1AF-1B35-A328-6536-D8DEFBF0857E}"/>
                </a:ext>
              </a:extLst>
            </p:cNvPr>
            <p:cNvSpPr/>
            <p:nvPr/>
          </p:nvSpPr>
          <p:spPr>
            <a:xfrm>
              <a:off x="1808363" y="2748997"/>
              <a:ext cx="4639508" cy="980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en-US" altLang="zh-CN" b="1" dirty="0" err="1">
                  <a:solidFill>
                    <a:srgbClr val="313D51"/>
                  </a:solidFill>
                  <a:ea typeface="思源黑体" panose="020B0500000000000000" pitchFamily="34" charset="-122"/>
                  <a:sym typeface="Noto Sans SC"/>
                </a:rPr>
                <a:t>可视化展示</a:t>
              </a:r>
              <a:endParaRPr lang="en-US" altLang="zh-CN" b="1" dirty="0">
                <a:solidFill>
                  <a:srgbClr val="313D51"/>
                </a:solidFill>
                <a:ea typeface="思源黑体" panose="020B0500000000000000" pitchFamily="34" charset="-122"/>
                <a:sym typeface="Arial"/>
              </a:endParaRPr>
            </a:p>
            <a:p>
              <a:pPr lvl="0">
                <a:lnSpc>
                  <a:spcPct val="108333"/>
                </a:lnSpc>
                <a:buClr>
                  <a:srgbClr val="000000"/>
                </a:buClr>
                <a:defRPr/>
              </a:pPr>
              <a:r>
                <a:rPr lang="en-US" altLang="zh-CN" sz="1200" kern="0" dirty="0">
                  <a:solidFill>
                    <a:srgbClr val="595959"/>
                  </a:solidFill>
                  <a:latin typeface="Noto Sans SC"/>
                  <a:ea typeface="Noto Sans SC"/>
                  <a:cs typeface="Noto Sans SC"/>
                  <a:sym typeface="Noto Sans SC"/>
                </a:rPr>
                <a:t>将核心算法移植至AirSim平台，利用UE4引擎的高质量渲染能力制作三维飞行演示视频。</a:t>
              </a:r>
            </a:p>
          </p:txBody>
        </p:sp>
      </p:grpSp>
    </p:spTree>
    <p:extLst>
      <p:ext uri="{BB962C8B-B14F-4D97-AF65-F5344CB8AC3E}">
        <p14:creationId xmlns:p14="http://schemas.microsoft.com/office/powerpoint/2010/main" val="32166960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0-#ppt_w/2"/>
                                          </p:val>
                                        </p:tav>
                                        <p:tav tm="100000">
                                          <p:val>
                                            <p:strVal val="#ppt_x"/>
                                          </p:val>
                                        </p:tav>
                                      </p:tavLst>
                                    </p:anim>
                                    <p:anim calcmode="lin" valueType="num">
                                      <p:cBhvr additive="base">
                                        <p:cTn id="12" dur="500" fill="hold"/>
                                        <p:tgtEl>
                                          <p:spTgt spid="1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0-#ppt_w/2"/>
                                          </p:val>
                                        </p:tav>
                                        <p:tav tm="100000">
                                          <p:val>
                                            <p:strVal val="#ppt_x"/>
                                          </p:val>
                                        </p:tav>
                                      </p:tavLst>
                                    </p:anim>
                                    <p:anim calcmode="lin" valueType="num">
                                      <p:cBhvr additive="base">
                                        <p:cTn id="16" dur="5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6C29E-2F7B-AB6C-3EC0-A799037BE49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238ABDD-3A67-DC9B-E37C-47224C8DBC24}"/>
              </a:ext>
            </a:extLst>
          </p:cNvPr>
          <p:cNvSpPr>
            <a:spLocks noGrp="1"/>
          </p:cNvSpPr>
          <p:nvPr>
            <p:ph type="title"/>
          </p:nvPr>
        </p:nvSpPr>
        <p:spPr/>
        <p:txBody>
          <a:bodyPr/>
          <a:lstStyle/>
          <a:p>
            <a:pPr>
              <a:lnSpc>
                <a:spcPct val="116666"/>
              </a:lnSpc>
              <a:defRPr/>
            </a:pPr>
            <a:r>
              <a:rPr lang="en-US" altLang="zh-CN" dirty="0" err="1">
                <a:latin typeface="Noto Sans SC"/>
                <a:ea typeface="Noto Sans SC"/>
                <a:cs typeface="Noto Sans SC"/>
                <a:sym typeface="Noto Sans SC"/>
              </a:rPr>
              <a:t>团队成员及分工</a:t>
            </a:r>
            <a:endParaRPr lang="en-US" altLang="zh-CN" sz="1100" dirty="0"/>
          </a:p>
        </p:txBody>
      </p:sp>
      <p:grpSp>
        <p:nvGrpSpPr>
          <p:cNvPr id="11" name="组合 10">
            <a:extLst>
              <a:ext uri="{FF2B5EF4-FFF2-40B4-BE49-F238E27FC236}">
                <a16:creationId xmlns:a16="http://schemas.microsoft.com/office/drawing/2014/main" id="{9D9D4C99-47C4-0753-C0DD-07E59164FF8B}"/>
              </a:ext>
            </a:extLst>
          </p:cNvPr>
          <p:cNvGrpSpPr/>
          <p:nvPr/>
        </p:nvGrpSpPr>
        <p:grpSpPr>
          <a:xfrm>
            <a:off x="1621523" y="2007927"/>
            <a:ext cx="2619669" cy="3846585"/>
            <a:chOff x="1474030" y="1802903"/>
            <a:chExt cx="2935782" cy="4310749"/>
          </a:xfrm>
        </p:grpSpPr>
        <p:sp>
          <p:nvSpPr>
            <p:cNvPr id="31" name="Rectangle 24">
              <a:extLst>
                <a:ext uri="{FF2B5EF4-FFF2-40B4-BE49-F238E27FC236}">
                  <a16:creationId xmlns:a16="http://schemas.microsoft.com/office/drawing/2014/main" id="{79B76D74-20E5-1107-04AB-02E29417194A}"/>
                </a:ext>
              </a:extLst>
            </p:cNvPr>
            <p:cNvSpPr>
              <a:spLocks noChangeArrowheads="1"/>
            </p:cNvSpPr>
            <p:nvPr/>
          </p:nvSpPr>
          <p:spPr bwMode="auto">
            <a:xfrm>
              <a:off x="147403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32" name="Freeform 25">
              <a:extLst>
                <a:ext uri="{FF2B5EF4-FFF2-40B4-BE49-F238E27FC236}">
                  <a16:creationId xmlns:a16="http://schemas.microsoft.com/office/drawing/2014/main" id="{74758D30-7359-92EC-3A03-CDDE9A989FD6}"/>
                </a:ext>
              </a:extLst>
            </p:cNvPr>
            <p:cNvSpPr/>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33" name="TextBox 18">
              <a:extLst>
                <a:ext uri="{FF2B5EF4-FFF2-40B4-BE49-F238E27FC236}">
                  <a16:creationId xmlns:a16="http://schemas.microsoft.com/office/drawing/2014/main" id="{D164EA18-CF0C-CA03-26C3-731390912A3F}"/>
                </a:ext>
              </a:extLst>
            </p:cNvPr>
            <p:cNvSpPr txBox="1"/>
            <p:nvPr/>
          </p:nvSpPr>
          <p:spPr>
            <a:xfrm>
              <a:off x="169603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01</a:t>
              </a:r>
            </a:p>
          </p:txBody>
        </p:sp>
        <p:grpSp>
          <p:nvGrpSpPr>
            <p:cNvPr id="35" name="组合 216">
              <a:extLst>
                <a:ext uri="{FF2B5EF4-FFF2-40B4-BE49-F238E27FC236}">
                  <a16:creationId xmlns:a16="http://schemas.microsoft.com/office/drawing/2014/main" id="{C9A8ED99-93E0-56AA-D5E9-A01B9F1FFF84}"/>
                </a:ext>
              </a:extLst>
            </p:cNvPr>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36" name="Freeform 74">
                <a:extLst>
                  <a:ext uri="{FF2B5EF4-FFF2-40B4-BE49-F238E27FC236}">
                    <a16:creationId xmlns:a16="http://schemas.microsoft.com/office/drawing/2014/main" id="{DF946838-F462-F7D8-1A1F-AB8F3444B9ED}"/>
                  </a:ext>
                </a:extLst>
              </p:cNvPr>
              <p:cNvSpPr>
                <a:spLocks noEditPoints="1"/>
              </p:cNvSpPr>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7" name="Freeform 75">
                <a:extLst>
                  <a:ext uri="{FF2B5EF4-FFF2-40B4-BE49-F238E27FC236}">
                    <a16:creationId xmlns:a16="http://schemas.microsoft.com/office/drawing/2014/main" id="{6A460B31-9A51-26F2-C6EE-2F33A84D8F1F}"/>
                  </a:ext>
                </a:extLst>
              </p:cNvPr>
              <p:cNvSpPr>
                <a:spLocks noEditPoints="1"/>
              </p:cNvSpPr>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8" name="Freeform 76">
                <a:extLst>
                  <a:ext uri="{FF2B5EF4-FFF2-40B4-BE49-F238E27FC236}">
                    <a16:creationId xmlns:a16="http://schemas.microsoft.com/office/drawing/2014/main" id="{F84B86A6-6489-2B15-C330-0772CCA01199}"/>
                  </a:ext>
                </a:extLst>
              </p:cNvPr>
              <p:cNvSpPr>
                <a:spLocks noEditPoints="1"/>
              </p:cNvSpPr>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9" name="Rectangle 77">
                <a:extLst>
                  <a:ext uri="{FF2B5EF4-FFF2-40B4-BE49-F238E27FC236}">
                    <a16:creationId xmlns:a16="http://schemas.microsoft.com/office/drawing/2014/main" id="{BBFBF471-D195-1878-8718-D2BA70363032}"/>
                  </a:ext>
                </a:extLst>
              </p:cNvPr>
              <p:cNvSpPr>
                <a:spLocks noChangeArrowheads="1"/>
              </p:cNvSpPr>
              <p:nvPr/>
            </p:nvSpPr>
            <p:spPr bwMode="auto">
              <a:xfrm>
                <a:off x="3664712" y="2570214"/>
                <a:ext cx="541610" cy="4214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0" name="Freeform 78">
                <a:extLst>
                  <a:ext uri="{FF2B5EF4-FFF2-40B4-BE49-F238E27FC236}">
                    <a16:creationId xmlns:a16="http://schemas.microsoft.com/office/drawing/2014/main" id="{19EE27F1-B1EB-9E3D-7F09-5AE4894DCB0B}"/>
                  </a:ext>
                </a:extLst>
              </p:cNvPr>
              <p:cNvSpPr/>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2" name="Rectangle 79">
                <a:extLst>
                  <a:ext uri="{FF2B5EF4-FFF2-40B4-BE49-F238E27FC236}">
                    <a16:creationId xmlns:a16="http://schemas.microsoft.com/office/drawing/2014/main" id="{8A527780-C8CE-4A5D-BF3E-08C72EC2F353}"/>
                  </a:ext>
                </a:extLst>
              </p:cNvPr>
              <p:cNvSpPr>
                <a:spLocks noChangeArrowheads="1"/>
              </p:cNvSpPr>
              <p:nvPr/>
            </p:nvSpPr>
            <p:spPr bwMode="auto">
              <a:xfrm>
                <a:off x="3721883" y="2630420"/>
                <a:ext cx="418242" cy="159546"/>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grpSp>
        <p:cxnSp>
          <p:nvCxnSpPr>
            <p:cNvPr id="9" name="直接连接符 8">
              <a:extLst>
                <a:ext uri="{FF2B5EF4-FFF2-40B4-BE49-F238E27FC236}">
                  <a16:creationId xmlns:a16="http://schemas.microsoft.com/office/drawing/2014/main" id="{530B6698-01E3-5F64-9850-50F10B2D8E47}"/>
                </a:ext>
              </a:extLst>
            </p:cNvPr>
            <p:cNvCxnSpPr/>
            <p:nvPr/>
          </p:nvCxnSpPr>
          <p:spPr>
            <a:xfrm>
              <a:off x="261396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CE6D034D-6D32-0B0A-8FE2-89D2391848CF}"/>
              </a:ext>
            </a:extLst>
          </p:cNvPr>
          <p:cNvGrpSpPr/>
          <p:nvPr/>
        </p:nvGrpSpPr>
        <p:grpSpPr>
          <a:xfrm>
            <a:off x="4830573" y="2007927"/>
            <a:ext cx="2619669" cy="3846585"/>
            <a:chOff x="4736414" y="1765832"/>
            <a:chExt cx="2935782" cy="4310749"/>
          </a:xfrm>
        </p:grpSpPr>
        <p:grpSp>
          <p:nvGrpSpPr>
            <p:cNvPr id="13" name="组合 12">
              <a:extLst>
                <a:ext uri="{FF2B5EF4-FFF2-40B4-BE49-F238E27FC236}">
                  <a16:creationId xmlns:a16="http://schemas.microsoft.com/office/drawing/2014/main" id="{26E481B4-AFE5-6920-641A-646A6691DFFC}"/>
                </a:ext>
              </a:extLst>
            </p:cNvPr>
            <p:cNvGrpSpPr/>
            <p:nvPr/>
          </p:nvGrpSpPr>
          <p:grpSpPr>
            <a:xfrm>
              <a:off x="4736414" y="1765832"/>
              <a:ext cx="2935782" cy="4310749"/>
              <a:chOff x="4711700" y="1802903"/>
              <a:chExt cx="2935782" cy="4310749"/>
            </a:xfrm>
          </p:grpSpPr>
          <p:sp>
            <p:nvSpPr>
              <p:cNvPr id="45" name="Rectangle 24">
                <a:extLst>
                  <a:ext uri="{FF2B5EF4-FFF2-40B4-BE49-F238E27FC236}">
                    <a16:creationId xmlns:a16="http://schemas.microsoft.com/office/drawing/2014/main" id="{7DD29AC0-F80A-AC9A-6231-6C5245FDE28D}"/>
                  </a:ext>
                </a:extLst>
              </p:cNvPr>
              <p:cNvSpPr>
                <a:spLocks noChangeArrowheads="1"/>
              </p:cNvSpPr>
              <p:nvPr/>
            </p:nvSpPr>
            <p:spPr bwMode="auto">
              <a:xfrm>
                <a:off x="471170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54" name="Freeform 25">
                <a:extLst>
                  <a:ext uri="{FF2B5EF4-FFF2-40B4-BE49-F238E27FC236}">
                    <a16:creationId xmlns:a16="http://schemas.microsoft.com/office/drawing/2014/main" id="{E26834B5-13FA-3590-6BC0-AA980E498C72}"/>
                  </a:ext>
                </a:extLst>
              </p:cNvPr>
              <p:cNvSpPr/>
              <p:nvPr/>
            </p:nvSpPr>
            <p:spPr bwMode="auto">
              <a:xfrm>
                <a:off x="471170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55" name="TextBox 18">
                <a:extLst>
                  <a:ext uri="{FF2B5EF4-FFF2-40B4-BE49-F238E27FC236}">
                    <a16:creationId xmlns:a16="http://schemas.microsoft.com/office/drawing/2014/main" id="{93220561-7B9D-CE81-374B-2F935C28B952}"/>
                  </a:ext>
                </a:extLst>
              </p:cNvPr>
              <p:cNvSpPr txBox="1"/>
              <p:nvPr/>
            </p:nvSpPr>
            <p:spPr>
              <a:xfrm>
                <a:off x="493370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02</a:t>
                </a:r>
              </a:p>
            </p:txBody>
          </p:sp>
          <p:cxnSp>
            <p:nvCxnSpPr>
              <p:cNvPr id="59" name="直接连接符 58">
                <a:extLst>
                  <a:ext uri="{FF2B5EF4-FFF2-40B4-BE49-F238E27FC236}">
                    <a16:creationId xmlns:a16="http://schemas.microsoft.com/office/drawing/2014/main" id="{2727A138-A090-1D5F-1949-E194A2D24C8E}"/>
                  </a:ext>
                </a:extLst>
              </p:cNvPr>
              <p:cNvCxnSpPr/>
              <p:nvPr/>
            </p:nvCxnSpPr>
            <p:spPr>
              <a:xfrm>
                <a:off x="585163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0" name="组合 221">
              <a:extLst>
                <a:ext uri="{FF2B5EF4-FFF2-40B4-BE49-F238E27FC236}">
                  <a16:creationId xmlns:a16="http://schemas.microsoft.com/office/drawing/2014/main" id="{11DE70F7-E07D-A9C8-58F1-7F5C324D7A24}"/>
                </a:ext>
              </a:extLst>
            </p:cNvPr>
            <p:cNvGrpSpPr/>
            <p:nvPr/>
          </p:nvGrpSpPr>
          <p:grpSpPr bwMode="auto">
            <a:xfrm>
              <a:off x="6629100" y="2256464"/>
              <a:ext cx="640086" cy="420193"/>
              <a:chOff x="165605" y="4160117"/>
              <a:chExt cx="962026" cy="631825"/>
            </a:xfrm>
            <a:solidFill>
              <a:srgbClr val="0B2C4F"/>
            </a:solidFill>
          </p:grpSpPr>
          <p:sp>
            <p:nvSpPr>
              <p:cNvPr id="81" name="Freeform 113">
                <a:extLst>
                  <a:ext uri="{FF2B5EF4-FFF2-40B4-BE49-F238E27FC236}">
                    <a16:creationId xmlns:a16="http://schemas.microsoft.com/office/drawing/2014/main" id="{9F7F4BC2-A66C-43DD-27AE-9D024D0F6EC9}"/>
                  </a:ext>
                </a:extLst>
              </p:cNvPr>
              <p:cNvSpPr/>
              <p:nvPr/>
            </p:nvSpPr>
            <p:spPr bwMode="auto">
              <a:xfrm>
                <a:off x="171329" y="4674430"/>
                <a:ext cx="956844" cy="117404"/>
              </a:xfrm>
              <a:custGeom>
                <a:avLst/>
                <a:gdLst>
                  <a:gd name="T0" fmla="*/ 145 w 255"/>
                  <a:gd name="T1" fmla="*/ 26 h 31"/>
                  <a:gd name="T2" fmla="*/ 145 w 255"/>
                  <a:gd name="T3" fmla="*/ 22 h 31"/>
                  <a:gd name="T4" fmla="*/ 253 w 255"/>
                  <a:gd name="T5" fmla="*/ 22 h 31"/>
                  <a:gd name="T6" fmla="*/ 251 w 255"/>
                  <a:gd name="T7" fmla="*/ 17 h 31"/>
                  <a:gd name="T8" fmla="*/ 157 w 255"/>
                  <a:gd name="T9" fmla="*/ 17 h 31"/>
                  <a:gd name="T10" fmla="*/ 157 w 255"/>
                  <a:gd name="T11" fmla="*/ 12 h 31"/>
                  <a:gd name="T12" fmla="*/ 248 w 255"/>
                  <a:gd name="T13" fmla="*/ 12 h 31"/>
                  <a:gd name="T14" fmla="*/ 193 w 255"/>
                  <a:gd name="T15" fmla="*/ 2 h 31"/>
                  <a:gd name="T16" fmla="*/ 136 w 255"/>
                  <a:gd name="T17" fmla="*/ 13 h 31"/>
                  <a:gd name="T18" fmla="*/ 136 w 255"/>
                  <a:gd name="T19" fmla="*/ 17 h 31"/>
                  <a:gd name="T20" fmla="*/ 127 w 255"/>
                  <a:gd name="T21" fmla="*/ 17 h 31"/>
                  <a:gd name="T22" fmla="*/ 119 w 255"/>
                  <a:gd name="T23" fmla="*/ 17 h 31"/>
                  <a:gd name="T24" fmla="*/ 119 w 255"/>
                  <a:gd name="T25" fmla="*/ 14 h 31"/>
                  <a:gd name="T26" fmla="*/ 61 w 255"/>
                  <a:gd name="T27" fmla="*/ 0 h 31"/>
                  <a:gd name="T28" fmla="*/ 6 w 255"/>
                  <a:gd name="T29" fmla="*/ 10 h 31"/>
                  <a:gd name="T30" fmla="*/ 97 w 255"/>
                  <a:gd name="T31" fmla="*/ 10 h 31"/>
                  <a:gd name="T32" fmla="*/ 97 w 255"/>
                  <a:gd name="T33" fmla="*/ 14 h 31"/>
                  <a:gd name="T34" fmla="*/ 2 w 255"/>
                  <a:gd name="T35" fmla="*/ 14 h 31"/>
                  <a:gd name="T36" fmla="*/ 2 w 255"/>
                  <a:gd name="T37" fmla="*/ 19 h 31"/>
                  <a:gd name="T38" fmla="*/ 109 w 255"/>
                  <a:gd name="T39" fmla="*/ 19 h 31"/>
                  <a:gd name="T40" fmla="*/ 109 w 255"/>
                  <a:gd name="T41" fmla="*/ 24 h 31"/>
                  <a:gd name="T42" fmla="*/ 1 w 255"/>
                  <a:gd name="T43" fmla="*/ 24 h 31"/>
                  <a:gd name="T44" fmla="*/ 0 w 255"/>
                  <a:gd name="T45" fmla="*/ 31 h 31"/>
                  <a:gd name="T46" fmla="*/ 255 w 255"/>
                  <a:gd name="T47" fmla="*/ 31 h 31"/>
                  <a:gd name="T48" fmla="*/ 254 w 255"/>
                  <a:gd name="T49" fmla="*/ 26 h 31"/>
                  <a:gd name="T50" fmla="*/ 145 w 255"/>
                  <a:gd name="T5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5" h="31">
                    <a:moveTo>
                      <a:pt x="145" y="26"/>
                    </a:moveTo>
                    <a:cubicBezTo>
                      <a:pt x="145" y="22"/>
                      <a:pt x="145" y="22"/>
                      <a:pt x="145" y="22"/>
                    </a:cubicBezTo>
                    <a:cubicBezTo>
                      <a:pt x="253" y="22"/>
                      <a:pt x="253" y="22"/>
                      <a:pt x="253" y="22"/>
                    </a:cubicBezTo>
                    <a:cubicBezTo>
                      <a:pt x="251" y="17"/>
                      <a:pt x="251" y="17"/>
                      <a:pt x="251" y="17"/>
                    </a:cubicBezTo>
                    <a:cubicBezTo>
                      <a:pt x="157" y="17"/>
                      <a:pt x="157" y="17"/>
                      <a:pt x="157" y="17"/>
                    </a:cubicBezTo>
                    <a:cubicBezTo>
                      <a:pt x="157" y="12"/>
                      <a:pt x="157" y="12"/>
                      <a:pt x="157" y="12"/>
                    </a:cubicBezTo>
                    <a:cubicBezTo>
                      <a:pt x="248" y="12"/>
                      <a:pt x="248" y="12"/>
                      <a:pt x="248" y="12"/>
                    </a:cubicBezTo>
                    <a:cubicBezTo>
                      <a:pt x="242" y="8"/>
                      <a:pt x="223" y="2"/>
                      <a:pt x="193" y="2"/>
                    </a:cubicBezTo>
                    <a:cubicBezTo>
                      <a:pt x="163" y="2"/>
                      <a:pt x="142" y="8"/>
                      <a:pt x="136" y="13"/>
                    </a:cubicBezTo>
                    <a:cubicBezTo>
                      <a:pt x="136" y="17"/>
                      <a:pt x="136" y="17"/>
                      <a:pt x="136" y="17"/>
                    </a:cubicBezTo>
                    <a:cubicBezTo>
                      <a:pt x="127" y="17"/>
                      <a:pt x="127" y="17"/>
                      <a:pt x="127" y="17"/>
                    </a:cubicBezTo>
                    <a:cubicBezTo>
                      <a:pt x="119" y="17"/>
                      <a:pt x="119" y="17"/>
                      <a:pt x="119" y="17"/>
                    </a:cubicBezTo>
                    <a:cubicBezTo>
                      <a:pt x="119" y="14"/>
                      <a:pt x="119" y="14"/>
                      <a:pt x="119" y="14"/>
                    </a:cubicBezTo>
                    <a:cubicBezTo>
                      <a:pt x="119" y="9"/>
                      <a:pt x="99" y="0"/>
                      <a:pt x="61" y="0"/>
                    </a:cubicBezTo>
                    <a:cubicBezTo>
                      <a:pt x="33" y="0"/>
                      <a:pt x="14" y="5"/>
                      <a:pt x="6" y="10"/>
                    </a:cubicBezTo>
                    <a:cubicBezTo>
                      <a:pt x="97" y="10"/>
                      <a:pt x="97" y="10"/>
                      <a:pt x="97" y="10"/>
                    </a:cubicBezTo>
                    <a:cubicBezTo>
                      <a:pt x="97" y="14"/>
                      <a:pt x="97" y="14"/>
                      <a:pt x="97" y="14"/>
                    </a:cubicBezTo>
                    <a:cubicBezTo>
                      <a:pt x="2" y="14"/>
                      <a:pt x="2" y="14"/>
                      <a:pt x="2" y="14"/>
                    </a:cubicBezTo>
                    <a:cubicBezTo>
                      <a:pt x="2" y="19"/>
                      <a:pt x="2" y="19"/>
                      <a:pt x="2" y="19"/>
                    </a:cubicBezTo>
                    <a:cubicBezTo>
                      <a:pt x="109" y="19"/>
                      <a:pt x="109" y="19"/>
                      <a:pt x="109" y="19"/>
                    </a:cubicBezTo>
                    <a:cubicBezTo>
                      <a:pt x="109" y="24"/>
                      <a:pt x="109" y="24"/>
                      <a:pt x="109" y="24"/>
                    </a:cubicBezTo>
                    <a:cubicBezTo>
                      <a:pt x="1" y="24"/>
                      <a:pt x="1" y="24"/>
                      <a:pt x="1" y="24"/>
                    </a:cubicBezTo>
                    <a:cubicBezTo>
                      <a:pt x="0" y="31"/>
                      <a:pt x="0" y="31"/>
                      <a:pt x="0" y="31"/>
                    </a:cubicBezTo>
                    <a:cubicBezTo>
                      <a:pt x="255" y="31"/>
                      <a:pt x="255" y="31"/>
                      <a:pt x="255" y="31"/>
                    </a:cubicBezTo>
                    <a:cubicBezTo>
                      <a:pt x="254" y="26"/>
                      <a:pt x="254" y="26"/>
                      <a:pt x="254" y="26"/>
                    </a:cubicBezTo>
                    <a:lnTo>
                      <a:pt x="145" y="26"/>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2" name="Freeform 114">
                <a:extLst>
                  <a:ext uri="{FF2B5EF4-FFF2-40B4-BE49-F238E27FC236}">
                    <a16:creationId xmlns:a16="http://schemas.microsoft.com/office/drawing/2014/main" id="{FF234775-488A-718B-5C06-45BBD6188BBA}"/>
                  </a:ext>
                </a:extLst>
              </p:cNvPr>
              <p:cNvSpPr>
                <a:spLocks noEditPoints="1"/>
              </p:cNvSpPr>
              <p:nvPr/>
            </p:nvSpPr>
            <p:spPr bwMode="auto">
              <a:xfrm>
                <a:off x="165311" y="4159666"/>
                <a:ext cx="466385" cy="568950"/>
              </a:xfrm>
              <a:custGeom>
                <a:avLst/>
                <a:gdLst>
                  <a:gd name="T0" fmla="*/ 62 w 124"/>
                  <a:gd name="T1" fmla="*/ 134 h 151"/>
                  <a:gd name="T2" fmla="*/ 124 w 124"/>
                  <a:gd name="T3" fmla="*/ 151 h 151"/>
                  <a:gd name="T4" fmla="*/ 124 w 124"/>
                  <a:gd name="T5" fmla="*/ 151 h 151"/>
                  <a:gd name="T6" fmla="*/ 124 w 124"/>
                  <a:gd name="T7" fmla="*/ 17 h 151"/>
                  <a:gd name="T8" fmla="*/ 124 w 124"/>
                  <a:gd name="T9" fmla="*/ 17 h 151"/>
                  <a:gd name="T10" fmla="*/ 62 w 124"/>
                  <a:gd name="T11" fmla="*/ 0 h 151"/>
                  <a:gd name="T12" fmla="*/ 1 w 124"/>
                  <a:gd name="T13" fmla="*/ 17 h 151"/>
                  <a:gd name="T14" fmla="*/ 0 w 124"/>
                  <a:gd name="T15" fmla="*/ 17 h 151"/>
                  <a:gd name="T16" fmla="*/ 0 w 124"/>
                  <a:gd name="T17" fmla="*/ 149 h 151"/>
                  <a:gd name="T18" fmla="*/ 62 w 124"/>
                  <a:gd name="T19" fmla="*/ 134 h 151"/>
                  <a:gd name="T20" fmla="*/ 111 w 124"/>
                  <a:gd name="T21" fmla="*/ 75 h 151"/>
                  <a:gd name="T22" fmla="*/ 61 w 124"/>
                  <a:gd name="T23" fmla="*/ 67 h 151"/>
                  <a:gd name="T24" fmla="*/ 12 w 124"/>
                  <a:gd name="T25" fmla="*/ 75 h 151"/>
                  <a:gd name="T26" fmla="*/ 12 w 124"/>
                  <a:gd name="T27" fmla="*/ 69 h 151"/>
                  <a:gd name="T28" fmla="*/ 61 w 124"/>
                  <a:gd name="T29" fmla="*/ 61 h 151"/>
                  <a:gd name="T30" fmla="*/ 111 w 124"/>
                  <a:gd name="T31" fmla="*/ 69 h 151"/>
                  <a:gd name="T32" fmla="*/ 111 w 124"/>
                  <a:gd name="T33" fmla="*/ 75 h 151"/>
                  <a:gd name="T34" fmla="*/ 12 w 124"/>
                  <a:gd name="T35" fmla="*/ 31 h 151"/>
                  <a:gd name="T36" fmla="*/ 61 w 124"/>
                  <a:gd name="T37" fmla="*/ 23 h 151"/>
                  <a:gd name="T38" fmla="*/ 111 w 124"/>
                  <a:gd name="T39" fmla="*/ 31 h 151"/>
                  <a:gd name="T40" fmla="*/ 111 w 124"/>
                  <a:gd name="T41" fmla="*/ 37 h 151"/>
                  <a:gd name="T42" fmla="*/ 61 w 124"/>
                  <a:gd name="T43" fmla="*/ 29 h 151"/>
                  <a:gd name="T44" fmla="*/ 12 w 124"/>
                  <a:gd name="T45" fmla="*/ 37 h 151"/>
                  <a:gd name="T46" fmla="*/ 12 w 124"/>
                  <a:gd name="T47" fmla="*/ 31 h 151"/>
                  <a:gd name="T48" fmla="*/ 12 w 124"/>
                  <a:gd name="T49" fmla="*/ 50 h 151"/>
                  <a:gd name="T50" fmla="*/ 61 w 124"/>
                  <a:gd name="T51" fmla="*/ 43 h 151"/>
                  <a:gd name="T52" fmla="*/ 111 w 124"/>
                  <a:gd name="T53" fmla="*/ 50 h 151"/>
                  <a:gd name="T54" fmla="*/ 111 w 124"/>
                  <a:gd name="T55" fmla="*/ 56 h 151"/>
                  <a:gd name="T56" fmla="*/ 61 w 124"/>
                  <a:gd name="T57" fmla="*/ 49 h 151"/>
                  <a:gd name="T58" fmla="*/ 12 w 124"/>
                  <a:gd name="T59" fmla="*/ 56 h 151"/>
                  <a:gd name="T60" fmla="*/ 12 w 124"/>
                  <a:gd name="T61" fmla="*/ 50 h 151"/>
                  <a:gd name="T62" fmla="*/ 12 w 124"/>
                  <a:gd name="T63" fmla="*/ 88 h 151"/>
                  <a:gd name="T64" fmla="*/ 61 w 124"/>
                  <a:gd name="T65" fmla="*/ 80 h 151"/>
                  <a:gd name="T66" fmla="*/ 111 w 124"/>
                  <a:gd name="T67" fmla="*/ 88 h 151"/>
                  <a:gd name="T68" fmla="*/ 111 w 124"/>
                  <a:gd name="T69" fmla="*/ 94 h 151"/>
                  <a:gd name="T70" fmla="*/ 61 w 124"/>
                  <a:gd name="T71" fmla="*/ 87 h 151"/>
                  <a:gd name="T72" fmla="*/ 12 w 124"/>
                  <a:gd name="T73" fmla="*/ 94 h 151"/>
                  <a:gd name="T74" fmla="*/ 12 w 124"/>
                  <a:gd name="T75" fmla="*/ 8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51">
                    <a:moveTo>
                      <a:pt x="62" y="134"/>
                    </a:moveTo>
                    <a:cubicBezTo>
                      <a:pt x="96" y="134"/>
                      <a:pt x="124" y="141"/>
                      <a:pt x="124" y="151"/>
                    </a:cubicBezTo>
                    <a:cubicBezTo>
                      <a:pt x="124" y="151"/>
                      <a:pt x="124" y="151"/>
                      <a:pt x="124" y="151"/>
                    </a:cubicBezTo>
                    <a:cubicBezTo>
                      <a:pt x="124" y="17"/>
                      <a:pt x="124" y="17"/>
                      <a:pt x="124" y="17"/>
                    </a:cubicBezTo>
                    <a:cubicBezTo>
                      <a:pt x="124" y="17"/>
                      <a:pt x="124" y="17"/>
                      <a:pt x="124" y="17"/>
                    </a:cubicBezTo>
                    <a:cubicBezTo>
                      <a:pt x="122" y="8"/>
                      <a:pt x="95" y="0"/>
                      <a:pt x="62" y="0"/>
                    </a:cubicBezTo>
                    <a:cubicBezTo>
                      <a:pt x="29" y="0"/>
                      <a:pt x="2" y="8"/>
                      <a:pt x="1" y="17"/>
                    </a:cubicBezTo>
                    <a:cubicBezTo>
                      <a:pt x="0" y="17"/>
                      <a:pt x="0" y="17"/>
                      <a:pt x="0" y="17"/>
                    </a:cubicBezTo>
                    <a:cubicBezTo>
                      <a:pt x="0" y="149"/>
                      <a:pt x="0" y="149"/>
                      <a:pt x="0" y="149"/>
                    </a:cubicBezTo>
                    <a:cubicBezTo>
                      <a:pt x="4" y="140"/>
                      <a:pt x="30" y="134"/>
                      <a:pt x="62" y="134"/>
                    </a:cubicBezTo>
                    <a:close/>
                    <a:moveTo>
                      <a:pt x="111" y="75"/>
                    </a:moveTo>
                    <a:cubicBezTo>
                      <a:pt x="103" y="71"/>
                      <a:pt x="86" y="67"/>
                      <a:pt x="61" y="67"/>
                    </a:cubicBezTo>
                    <a:cubicBezTo>
                      <a:pt x="37" y="67"/>
                      <a:pt x="20" y="71"/>
                      <a:pt x="12" y="75"/>
                    </a:cubicBezTo>
                    <a:cubicBezTo>
                      <a:pt x="12" y="69"/>
                      <a:pt x="12" y="69"/>
                      <a:pt x="12" y="69"/>
                    </a:cubicBezTo>
                    <a:cubicBezTo>
                      <a:pt x="17" y="66"/>
                      <a:pt x="35" y="61"/>
                      <a:pt x="61" y="61"/>
                    </a:cubicBezTo>
                    <a:cubicBezTo>
                      <a:pt x="88" y="61"/>
                      <a:pt x="105" y="66"/>
                      <a:pt x="111" y="69"/>
                    </a:cubicBezTo>
                    <a:lnTo>
                      <a:pt x="111" y="75"/>
                    </a:lnTo>
                    <a:close/>
                    <a:moveTo>
                      <a:pt x="12" y="31"/>
                    </a:moveTo>
                    <a:cubicBezTo>
                      <a:pt x="17" y="28"/>
                      <a:pt x="35" y="23"/>
                      <a:pt x="61" y="23"/>
                    </a:cubicBezTo>
                    <a:cubicBezTo>
                      <a:pt x="88" y="23"/>
                      <a:pt x="105" y="28"/>
                      <a:pt x="111" y="31"/>
                    </a:cubicBezTo>
                    <a:cubicBezTo>
                      <a:pt x="111" y="37"/>
                      <a:pt x="111" y="37"/>
                      <a:pt x="111" y="37"/>
                    </a:cubicBezTo>
                    <a:cubicBezTo>
                      <a:pt x="103" y="33"/>
                      <a:pt x="86" y="29"/>
                      <a:pt x="61" y="29"/>
                    </a:cubicBezTo>
                    <a:cubicBezTo>
                      <a:pt x="37" y="29"/>
                      <a:pt x="20" y="33"/>
                      <a:pt x="12" y="37"/>
                    </a:cubicBezTo>
                    <a:lnTo>
                      <a:pt x="12" y="31"/>
                    </a:lnTo>
                    <a:close/>
                    <a:moveTo>
                      <a:pt x="12" y="50"/>
                    </a:moveTo>
                    <a:cubicBezTo>
                      <a:pt x="17" y="48"/>
                      <a:pt x="34" y="43"/>
                      <a:pt x="61" y="43"/>
                    </a:cubicBezTo>
                    <a:cubicBezTo>
                      <a:pt x="88" y="43"/>
                      <a:pt x="105" y="48"/>
                      <a:pt x="111" y="50"/>
                    </a:cubicBezTo>
                    <a:cubicBezTo>
                      <a:pt x="111" y="56"/>
                      <a:pt x="111" y="56"/>
                      <a:pt x="111" y="56"/>
                    </a:cubicBezTo>
                    <a:cubicBezTo>
                      <a:pt x="103" y="53"/>
                      <a:pt x="86" y="49"/>
                      <a:pt x="61" y="49"/>
                    </a:cubicBezTo>
                    <a:cubicBezTo>
                      <a:pt x="37" y="49"/>
                      <a:pt x="20" y="53"/>
                      <a:pt x="12" y="56"/>
                    </a:cubicBezTo>
                    <a:lnTo>
                      <a:pt x="12" y="50"/>
                    </a:lnTo>
                    <a:close/>
                    <a:moveTo>
                      <a:pt x="12" y="88"/>
                    </a:moveTo>
                    <a:cubicBezTo>
                      <a:pt x="17" y="85"/>
                      <a:pt x="34" y="80"/>
                      <a:pt x="61" y="80"/>
                    </a:cubicBezTo>
                    <a:cubicBezTo>
                      <a:pt x="88" y="80"/>
                      <a:pt x="105" y="85"/>
                      <a:pt x="111" y="88"/>
                    </a:cubicBezTo>
                    <a:cubicBezTo>
                      <a:pt x="111" y="94"/>
                      <a:pt x="111" y="94"/>
                      <a:pt x="111" y="94"/>
                    </a:cubicBezTo>
                    <a:cubicBezTo>
                      <a:pt x="103" y="91"/>
                      <a:pt x="86" y="87"/>
                      <a:pt x="61" y="87"/>
                    </a:cubicBezTo>
                    <a:cubicBezTo>
                      <a:pt x="37" y="87"/>
                      <a:pt x="20" y="91"/>
                      <a:pt x="12" y="94"/>
                    </a:cubicBezTo>
                    <a:lnTo>
                      <a:pt x="12" y="88"/>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3" name="Freeform 115">
                <a:extLst>
                  <a:ext uri="{FF2B5EF4-FFF2-40B4-BE49-F238E27FC236}">
                    <a16:creationId xmlns:a16="http://schemas.microsoft.com/office/drawing/2014/main" id="{5D18D202-8963-64C4-B18D-98DE43F485E3}"/>
                  </a:ext>
                </a:extLst>
              </p:cNvPr>
              <p:cNvSpPr/>
              <p:nvPr/>
            </p:nvSpPr>
            <p:spPr bwMode="auto">
              <a:xfrm>
                <a:off x="926573" y="4237934"/>
                <a:ext cx="132394" cy="135464"/>
              </a:xfrm>
              <a:custGeom>
                <a:avLst/>
                <a:gdLst>
                  <a:gd name="T0" fmla="*/ 35 w 35"/>
                  <a:gd name="T1" fmla="*/ 36 h 36"/>
                  <a:gd name="T2" fmla="*/ 35 w 35"/>
                  <a:gd name="T3" fmla="*/ 6 h 36"/>
                  <a:gd name="T4" fmla="*/ 0 w 35"/>
                  <a:gd name="T5" fmla="*/ 0 h 36"/>
                  <a:gd name="T6" fmla="*/ 0 w 35"/>
                  <a:gd name="T7" fmla="*/ 31 h 36"/>
                  <a:gd name="T8" fmla="*/ 35 w 35"/>
                  <a:gd name="T9" fmla="*/ 36 h 36"/>
                </a:gdLst>
                <a:ahLst/>
                <a:cxnLst>
                  <a:cxn ang="0">
                    <a:pos x="T0" y="T1"/>
                  </a:cxn>
                  <a:cxn ang="0">
                    <a:pos x="T2" y="T3"/>
                  </a:cxn>
                  <a:cxn ang="0">
                    <a:pos x="T4" y="T5"/>
                  </a:cxn>
                  <a:cxn ang="0">
                    <a:pos x="T6" y="T7"/>
                  </a:cxn>
                  <a:cxn ang="0">
                    <a:pos x="T8" y="T9"/>
                  </a:cxn>
                </a:cxnLst>
                <a:rect l="0" t="0" r="r" b="b"/>
                <a:pathLst>
                  <a:path w="35" h="36">
                    <a:moveTo>
                      <a:pt x="35" y="36"/>
                    </a:moveTo>
                    <a:cubicBezTo>
                      <a:pt x="35" y="6"/>
                      <a:pt x="35" y="6"/>
                      <a:pt x="35" y="6"/>
                    </a:cubicBezTo>
                    <a:cubicBezTo>
                      <a:pt x="29" y="4"/>
                      <a:pt x="17" y="1"/>
                      <a:pt x="0" y="0"/>
                    </a:cubicBezTo>
                    <a:cubicBezTo>
                      <a:pt x="0" y="31"/>
                      <a:pt x="0" y="31"/>
                      <a:pt x="0" y="31"/>
                    </a:cubicBezTo>
                    <a:cubicBezTo>
                      <a:pt x="15" y="32"/>
                      <a:pt x="26" y="34"/>
                      <a:pt x="35" y="3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4" name="Freeform 116">
                <a:extLst>
                  <a:ext uri="{FF2B5EF4-FFF2-40B4-BE49-F238E27FC236}">
                    <a16:creationId xmlns:a16="http://schemas.microsoft.com/office/drawing/2014/main" id="{501A30BD-77B0-9B9B-B02F-99D878432751}"/>
                  </a:ext>
                </a:extLst>
              </p:cNvPr>
              <p:cNvSpPr>
                <a:spLocks noEditPoints="1"/>
              </p:cNvSpPr>
              <p:nvPr/>
            </p:nvSpPr>
            <p:spPr bwMode="auto">
              <a:xfrm>
                <a:off x="661786" y="4168696"/>
                <a:ext cx="466387" cy="568952"/>
              </a:xfrm>
              <a:custGeom>
                <a:avLst/>
                <a:gdLst>
                  <a:gd name="T0" fmla="*/ 124 w 124"/>
                  <a:gd name="T1" fmla="*/ 17 h 151"/>
                  <a:gd name="T2" fmla="*/ 62 w 124"/>
                  <a:gd name="T3" fmla="*/ 0 h 151"/>
                  <a:gd name="T4" fmla="*/ 1 w 124"/>
                  <a:gd name="T5" fmla="*/ 17 h 151"/>
                  <a:gd name="T6" fmla="*/ 0 w 124"/>
                  <a:gd name="T7" fmla="*/ 17 h 151"/>
                  <a:gd name="T8" fmla="*/ 0 w 124"/>
                  <a:gd name="T9" fmla="*/ 148 h 151"/>
                  <a:gd name="T10" fmla="*/ 62 w 124"/>
                  <a:gd name="T11" fmla="*/ 133 h 151"/>
                  <a:gd name="T12" fmla="*/ 124 w 124"/>
                  <a:gd name="T13" fmla="*/ 151 h 151"/>
                  <a:gd name="T14" fmla="*/ 124 w 124"/>
                  <a:gd name="T15" fmla="*/ 151 h 151"/>
                  <a:gd name="T16" fmla="*/ 124 w 124"/>
                  <a:gd name="T17" fmla="*/ 17 h 151"/>
                  <a:gd name="T18" fmla="*/ 112 w 124"/>
                  <a:gd name="T19" fmla="*/ 76 h 151"/>
                  <a:gd name="T20" fmla="*/ 112 w 124"/>
                  <a:gd name="T21" fmla="*/ 82 h 151"/>
                  <a:gd name="T22" fmla="*/ 62 w 124"/>
                  <a:gd name="T23" fmla="*/ 74 h 151"/>
                  <a:gd name="T24" fmla="*/ 13 w 124"/>
                  <a:gd name="T25" fmla="*/ 82 h 151"/>
                  <a:gd name="T26" fmla="*/ 13 w 124"/>
                  <a:gd name="T27" fmla="*/ 76 h 151"/>
                  <a:gd name="T28" fmla="*/ 62 w 124"/>
                  <a:gd name="T29" fmla="*/ 68 h 151"/>
                  <a:gd name="T30" fmla="*/ 112 w 124"/>
                  <a:gd name="T31" fmla="*/ 76 h 151"/>
                  <a:gd name="T32" fmla="*/ 13 w 124"/>
                  <a:gd name="T33" fmla="*/ 30 h 151"/>
                  <a:gd name="T34" fmla="*/ 55 w 124"/>
                  <a:gd name="T35" fmla="*/ 22 h 151"/>
                  <a:gd name="T36" fmla="*/ 55 w 124"/>
                  <a:gd name="T37" fmla="*/ 28 h 151"/>
                  <a:gd name="T38" fmla="*/ 13 w 124"/>
                  <a:gd name="T39" fmla="*/ 36 h 151"/>
                  <a:gd name="T40" fmla="*/ 13 w 124"/>
                  <a:gd name="T41" fmla="*/ 30 h 151"/>
                  <a:gd name="T42" fmla="*/ 13 w 124"/>
                  <a:gd name="T43" fmla="*/ 49 h 151"/>
                  <a:gd name="T44" fmla="*/ 55 w 124"/>
                  <a:gd name="T45" fmla="*/ 42 h 151"/>
                  <a:gd name="T46" fmla="*/ 55 w 124"/>
                  <a:gd name="T47" fmla="*/ 48 h 151"/>
                  <a:gd name="T48" fmla="*/ 13 w 124"/>
                  <a:gd name="T49" fmla="*/ 55 h 151"/>
                  <a:gd name="T50" fmla="*/ 13 w 124"/>
                  <a:gd name="T51" fmla="*/ 49 h 151"/>
                  <a:gd name="T52" fmla="*/ 112 w 124"/>
                  <a:gd name="T53" fmla="*/ 119 h 151"/>
                  <a:gd name="T54" fmla="*/ 62 w 124"/>
                  <a:gd name="T55" fmla="*/ 112 h 151"/>
                  <a:gd name="T56" fmla="*/ 13 w 124"/>
                  <a:gd name="T57" fmla="*/ 119 h 151"/>
                  <a:gd name="T58" fmla="*/ 13 w 124"/>
                  <a:gd name="T59" fmla="*/ 114 h 151"/>
                  <a:gd name="T60" fmla="*/ 62 w 124"/>
                  <a:gd name="T61" fmla="*/ 106 h 151"/>
                  <a:gd name="T62" fmla="*/ 112 w 124"/>
                  <a:gd name="T63" fmla="*/ 114 h 151"/>
                  <a:gd name="T64" fmla="*/ 112 w 124"/>
                  <a:gd name="T65" fmla="*/ 119 h 151"/>
                  <a:gd name="T66" fmla="*/ 112 w 124"/>
                  <a:gd name="T67" fmla="*/ 100 h 151"/>
                  <a:gd name="T68" fmla="*/ 62 w 124"/>
                  <a:gd name="T69" fmla="*/ 92 h 151"/>
                  <a:gd name="T70" fmla="*/ 13 w 124"/>
                  <a:gd name="T71" fmla="*/ 100 h 151"/>
                  <a:gd name="T72" fmla="*/ 13 w 124"/>
                  <a:gd name="T73" fmla="*/ 94 h 151"/>
                  <a:gd name="T74" fmla="*/ 62 w 124"/>
                  <a:gd name="T75" fmla="*/ 86 h 151"/>
                  <a:gd name="T76" fmla="*/ 112 w 124"/>
                  <a:gd name="T77" fmla="*/ 94 h 151"/>
                  <a:gd name="T78" fmla="*/ 112 w 124"/>
                  <a:gd name="T79" fmla="*/ 100 h 151"/>
                  <a:gd name="T80" fmla="*/ 112 w 124"/>
                  <a:gd name="T81" fmla="*/ 65 h 151"/>
                  <a:gd name="T82" fmla="*/ 65 w 124"/>
                  <a:gd name="T83" fmla="*/ 57 h 151"/>
                  <a:gd name="T84" fmla="*/ 65 w 124"/>
                  <a:gd name="T85" fmla="*/ 12 h 151"/>
                  <a:gd name="T86" fmla="*/ 112 w 124"/>
                  <a:gd name="T87" fmla="*/ 21 h 151"/>
                  <a:gd name="T88" fmla="*/ 112 w 124"/>
                  <a:gd name="T89"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4" h="151">
                    <a:moveTo>
                      <a:pt x="124" y="17"/>
                    </a:moveTo>
                    <a:cubicBezTo>
                      <a:pt x="123" y="7"/>
                      <a:pt x="96" y="0"/>
                      <a:pt x="62" y="0"/>
                    </a:cubicBezTo>
                    <a:cubicBezTo>
                      <a:pt x="29" y="0"/>
                      <a:pt x="2" y="7"/>
                      <a:pt x="1" y="17"/>
                    </a:cubicBezTo>
                    <a:cubicBezTo>
                      <a:pt x="0" y="17"/>
                      <a:pt x="0" y="17"/>
                      <a:pt x="0" y="17"/>
                    </a:cubicBezTo>
                    <a:cubicBezTo>
                      <a:pt x="0" y="148"/>
                      <a:pt x="0" y="148"/>
                      <a:pt x="0" y="148"/>
                    </a:cubicBezTo>
                    <a:cubicBezTo>
                      <a:pt x="4" y="140"/>
                      <a:pt x="30" y="133"/>
                      <a:pt x="62" y="133"/>
                    </a:cubicBezTo>
                    <a:cubicBezTo>
                      <a:pt x="96" y="133"/>
                      <a:pt x="124" y="141"/>
                      <a:pt x="124" y="151"/>
                    </a:cubicBezTo>
                    <a:cubicBezTo>
                      <a:pt x="124" y="151"/>
                      <a:pt x="124" y="151"/>
                      <a:pt x="124" y="151"/>
                    </a:cubicBezTo>
                    <a:cubicBezTo>
                      <a:pt x="124" y="17"/>
                      <a:pt x="124" y="17"/>
                      <a:pt x="124" y="17"/>
                    </a:cubicBezTo>
                    <a:close/>
                    <a:moveTo>
                      <a:pt x="112" y="76"/>
                    </a:moveTo>
                    <a:cubicBezTo>
                      <a:pt x="112" y="82"/>
                      <a:pt x="112" y="82"/>
                      <a:pt x="112" y="82"/>
                    </a:cubicBezTo>
                    <a:cubicBezTo>
                      <a:pt x="104" y="78"/>
                      <a:pt x="87" y="74"/>
                      <a:pt x="62" y="74"/>
                    </a:cubicBezTo>
                    <a:cubicBezTo>
                      <a:pt x="38" y="74"/>
                      <a:pt x="21" y="78"/>
                      <a:pt x="13" y="82"/>
                    </a:cubicBezTo>
                    <a:cubicBezTo>
                      <a:pt x="13" y="76"/>
                      <a:pt x="13" y="76"/>
                      <a:pt x="13" y="76"/>
                    </a:cubicBezTo>
                    <a:cubicBezTo>
                      <a:pt x="18" y="73"/>
                      <a:pt x="35" y="68"/>
                      <a:pt x="62" y="68"/>
                    </a:cubicBezTo>
                    <a:cubicBezTo>
                      <a:pt x="89" y="68"/>
                      <a:pt x="106" y="73"/>
                      <a:pt x="112" y="76"/>
                    </a:cubicBezTo>
                    <a:close/>
                    <a:moveTo>
                      <a:pt x="13" y="30"/>
                    </a:moveTo>
                    <a:cubicBezTo>
                      <a:pt x="18" y="27"/>
                      <a:pt x="32" y="23"/>
                      <a:pt x="55" y="22"/>
                    </a:cubicBezTo>
                    <a:cubicBezTo>
                      <a:pt x="55" y="28"/>
                      <a:pt x="55" y="28"/>
                      <a:pt x="55" y="28"/>
                    </a:cubicBezTo>
                    <a:cubicBezTo>
                      <a:pt x="34" y="29"/>
                      <a:pt x="20" y="33"/>
                      <a:pt x="13" y="36"/>
                    </a:cubicBezTo>
                    <a:lnTo>
                      <a:pt x="13" y="30"/>
                    </a:lnTo>
                    <a:close/>
                    <a:moveTo>
                      <a:pt x="13" y="49"/>
                    </a:moveTo>
                    <a:cubicBezTo>
                      <a:pt x="18" y="47"/>
                      <a:pt x="32" y="42"/>
                      <a:pt x="55" y="42"/>
                    </a:cubicBezTo>
                    <a:cubicBezTo>
                      <a:pt x="55" y="48"/>
                      <a:pt x="55" y="48"/>
                      <a:pt x="55" y="48"/>
                    </a:cubicBezTo>
                    <a:cubicBezTo>
                      <a:pt x="34" y="49"/>
                      <a:pt x="20" y="52"/>
                      <a:pt x="13" y="55"/>
                    </a:cubicBezTo>
                    <a:lnTo>
                      <a:pt x="13" y="49"/>
                    </a:lnTo>
                    <a:close/>
                    <a:moveTo>
                      <a:pt x="112" y="119"/>
                    </a:moveTo>
                    <a:cubicBezTo>
                      <a:pt x="104" y="116"/>
                      <a:pt x="87" y="112"/>
                      <a:pt x="62" y="112"/>
                    </a:cubicBezTo>
                    <a:cubicBezTo>
                      <a:pt x="38" y="112"/>
                      <a:pt x="21" y="116"/>
                      <a:pt x="13" y="119"/>
                    </a:cubicBezTo>
                    <a:cubicBezTo>
                      <a:pt x="13" y="114"/>
                      <a:pt x="13" y="114"/>
                      <a:pt x="13" y="114"/>
                    </a:cubicBezTo>
                    <a:cubicBezTo>
                      <a:pt x="18" y="111"/>
                      <a:pt x="35" y="106"/>
                      <a:pt x="62" y="106"/>
                    </a:cubicBezTo>
                    <a:cubicBezTo>
                      <a:pt x="89" y="106"/>
                      <a:pt x="106" y="111"/>
                      <a:pt x="112" y="114"/>
                    </a:cubicBezTo>
                    <a:lnTo>
                      <a:pt x="112" y="119"/>
                    </a:lnTo>
                    <a:close/>
                    <a:moveTo>
                      <a:pt x="112" y="100"/>
                    </a:moveTo>
                    <a:cubicBezTo>
                      <a:pt x="104" y="97"/>
                      <a:pt x="87" y="92"/>
                      <a:pt x="62" y="92"/>
                    </a:cubicBezTo>
                    <a:cubicBezTo>
                      <a:pt x="38" y="92"/>
                      <a:pt x="21" y="97"/>
                      <a:pt x="13" y="100"/>
                    </a:cubicBezTo>
                    <a:cubicBezTo>
                      <a:pt x="13" y="94"/>
                      <a:pt x="13" y="94"/>
                      <a:pt x="13" y="94"/>
                    </a:cubicBezTo>
                    <a:cubicBezTo>
                      <a:pt x="18" y="91"/>
                      <a:pt x="36" y="86"/>
                      <a:pt x="62" y="86"/>
                    </a:cubicBezTo>
                    <a:cubicBezTo>
                      <a:pt x="89" y="86"/>
                      <a:pt x="106" y="91"/>
                      <a:pt x="112" y="94"/>
                    </a:cubicBezTo>
                    <a:lnTo>
                      <a:pt x="112" y="100"/>
                    </a:lnTo>
                    <a:close/>
                    <a:moveTo>
                      <a:pt x="112" y="65"/>
                    </a:moveTo>
                    <a:cubicBezTo>
                      <a:pt x="106" y="62"/>
                      <a:pt x="90" y="57"/>
                      <a:pt x="65" y="57"/>
                    </a:cubicBezTo>
                    <a:cubicBezTo>
                      <a:pt x="65" y="12"/>
                      <a:pt x="65" y="12"/>
                      <a:pt x="65" y="12"/>
                    </a:cubicBezTo>
                    <a:cubicBezTo>
                      <a:pt x="90" y="13"/>
                      <a:pt x="107" y="18"/>
                      <a:pt x="112" y="21"/>
                    </a:cubicBezTo>
                    <a:lnTo>
                      <a:pt x="112" y="6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grpSp>
        <p:nvGrpSpPr>
          <p:cNvPr id="14" name="组合 13">
            <a:extLst>
              <a:ext uri="{FF2B5EF4-FFF2-40B4-BE49-F238E27FC236}">
                <a16:creationId xmlns:a16="http://schemas.microsoft.com/office/drawing/2014/main" id="{D195C532-6CAA-7516-03D0-7301965498EA}"/>
              </a:ext>
            </a:extLst>
          </p:cNvPr>
          <p:cNvGrpSpPr/>
          <p:nvPr/>
        </p:nvGrpSpPr>
        <p:grpSpPr>
          <a:xfrm>
            <a:off x="8039622" y="2007927"/>
            <a:ext cx="2619669" cy="3846585"/>
            <a:chOff x="8163192" y="1765832"/>
            <a:chExt cx="2935782" cy="4310749"/>
          </a:xfrm>
        </p:grpSpPr>
        <p:grpSp>
          <p:nvGrpSpPr>
            <p:cNvPr id="12" name="组合 11">
              <a:extLst>
                <a:ext uri="{FF2B5EF4-FFF2-40B4-BE49-F238E27FC236}">
                  <a16:creationId xmlns:a16="http://schemas.microsoft.com/office/drawing/2014/main" id="{51A15DDD-3765-7DE8-2EDC-822627365889}"/>
                </a:ext>
              </a:extLst>
            </p:cNvPr>
            <p:cNvGrpSpPr/>
            <p:nvPr/>
          </p:nvGrpSpPr>
          <p:grpSpPr>
            <a:xfrm>
              <a:off x="8163192" y="1765832"/>
              <a:ext cx="2935782" cy="4310749"/>
              <a:chOff x="8150835" y="1802903"/>
              <a:chExt cx="2935782" cy="4310749"/>
            </a:xfrm>
          </p:grpSpPr>
          <p:sp>
            <p:nvSpPr>
              <p:cNvPr id="67" name="Rectangle 24">
                <a:extLst>
                  <a:ext uri="{FF2B5EF4-FFF2-40B4-BE49-F238E27FC236}">
                    <a16:creationId xmlns:a16="http://schemas.microsoft.com/office/drawing/2014/main" id="{647207BB-CCCC-FA45-55F3-B9B83CEC6C80}"/>
                  </a:ext>
                </a:extLst>
              </p:cNvPr>
              <p:cNvSpPr>
                <a:spLocks noChangeArrowheads="1"/>
              </p:cNvSpPr>
              <p:nvPr/>
            </p:nvSpPr>
            <p:spPr bwMode="auto">
              <a:xfrm>
                <a:off x="8150835"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68" name="Freeform 25">
                <a:extLst>
                  <a:ext uri="{FF2B5EF4-FFF2-40B4-BE49-F238E27FC236}">
                    <a16:creationId xmlns:a16="http://schemas.microsoft.com/office/drawing/2014/main" id="{CEAF6B8B-DB22-15CD-4415-8BDB0EDBCA1F}"/>
                  </a:ext>
                </a:extLst>
              </p:cNvPr>
              <p:cNvSpPr/>
              <p:nvPr/>
            </p:nvSpPr>
            <p:spPr bwMode="auto">
              <a:xfrm>
                <a:off x="8150835"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69" name="TextBox 18">
                <a:extLst>
                  <a:ext uri="{FF2B5EF4-FFF2-40B4-BE49-F238E27FC236}">
                    <a16:creationId xmlns:a16="http://schemas.microsoft.com/office/drawing/2014/main" id="{CA136E32-B347-56C7-7326-A3A9CCC4955A}"/>
                  </a:ext>
                </a:extLst>
              </p:cNvPr>
              <p:cNvSpPr txBox="1"/>
              <p:nvPr/>
            </p:nvSpPr>
            <p:spPr>
              <a:xfrm>
                <a:off x="8372844"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思源黑体" panose="020B0500000000000000" pitchFamily="34" charset="-122"/>
                    <a:ea typeface="思源黑体" panose="020B0500000000000000" pitchFamily="34" charset="-122"/>
                  </a:rPr>
                  <a:t>03</a:t>
                </a:r>
              </a:p>
            </p:txBody>
          </p:sp>
          <p:cxnSp>
            <p:nvCxnSpPr>
              <p:cNvPr id="73" name="直接连接符 72">
                <a:extLst>
                  <a:ext uri="{FF2B5EF4-FFF2-40B4-BE49-F238E27FC236}">
                    <a16:creationId xmlns:a16="http://schemas.microsoft.com/office/drawing/2014/main" id="{661A7DE0-A31D-3EDF-F2DA-F75E00D5925A}"/>
                  </a:ext>
                </a:extLst>
              </p:cNvPr>
              <p:cNvCxnSpPr/>
              <p:nvPr/>
            </p:nvCxnSpPr>
            <p:spPr>
              <a:xfrm>
                <a:off x="9290773"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5" name="组合 84">
              <a:extLst>
                <a:ext uri="{FF2B5EF4-FFF2-40B4-BE49-F238E27FC236}">
                  <a16:creationId xmlns:a16="http://schemas.microsoft.com/office/drawing/2014/main" id="{509B92EB-3448-D25B-BD91-3C0511A438AF}"/>
                </a:ext>
              </a:extLst>
            </p:cNvPr>
            <p:cNvGrpSpPr/>
            <p:nvPr/>
          </p:nvGrpSpPr>
          <p:grpSpPr>
            <a:xfrm>
              <a:off x="10308271" y="2256164"/>
              <a:ext cx="528026" cy="493514"/>
              <a:chOff x="7132549" y="4412456"/>
              <a:chExt cx="485775" cy="454025"/>
            </a:xfrm>
            <a:solidFill>
              <a:srgbClr val="0B2C4F"/>
            </a:solidFill>
          </p:grpSpPr>
          <p:sp>
            <p:nvSpPr>
              <p:cNvPr id="86" name="Rectangle 18">
                <a:extLst>
                  <a:ext uri="{FF2B5EF4-FFF2-40B4-BE49-F238E27FC236}">
                    <a16:creationId xmlns:a16="http://schemas.microsoft.com/office/drawing/2014/main" id="{020507D4-8FFA-09FE-62E8-A80331166E72}"/>
                  </a:ext>
                </a:extLst>
              </p:cNvPr>
              <p:cNvSpPr>
                <a:spLocks noChangeArrowheads="1"/>
              </p:cNvSpPr>
              <p:nvPr/>
            </p:nvSpPr>
            <p:spPr bwMode="auto">
              <a:xfrm>
                <a:off x="7199224" y="4525168"/>
                <a:ext cx="236538" cy="2222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7" name="Rectangle 19">
                <a:extLst>
                  <a:ext uri="{FF2B5EF4-FFF2-40B4-BE49-F238E27FC236}">
                    <a16:creationId xmlns:a16="http://schemas.microsoft.com/office/drawing/2014/main" id="{AAB853F3-1F1B-2B0C-1723-4E4B461478D3}"/>
                  </a:ext>
                </a:extLst>
              </p:cNvPr>
              <p:cNvSpPr>
                <a:spLocks noChangeArrowheads="1"/>
              </p:cNvSpPr>
              <p:nvPr/>
            </p:nvSpPr>
            <p:spPr bwMode="auto">
              <a:xfrm>
                <a:off x="7497674" y="4706143"/>
                <a:ext cx="0" cy="1588"/>
              </a:xfrm>
              <a:prstGeom prst="rect">
                <a:avLst/>
              </a:prstGeom>
              <a:grp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8" name="Freeform 20">
                <a:extLst>
                  <a:ext uri="{FF2B5EF4-FFF2-40B4-BE49-F238E27FC236}">
                    <a16:creationId xmlns:a16="http://schemas.microsoft.com/office/drawing/2014/main" id="{16CBBEF6-DFC3-F8F6-A99D-86C6B13130CC}"/>
                  </a:ext>
                </a:extLst>
              </p:cNvPr>
              <p:cNvSpPr>
                <a:spLocks noEditPoints="1"/>
              </p:cNvSpPr>
              <p:nvPr/>
            </p:nvSpPr>
            <p:spPr bwMode="auto">
              <a:xfrm>
                <a:off x="7132549" y="4412456"/>
                <a:ext cx="365125" cy="425450"/>
              </a:xfrm>
              <a:custGeom>
                <a:avLst/>
                <a:gdLst>
                  <a:gd name="T0" fmla="*/ 158 w 184"/>
                  <a:gd name="T1" fmla="*/ 186 h 213"/>
                  <a:gd name="T2" fmla="*/ 151 w 184"/>
                  <a:gd name="T3" fmla="*/ 190 h 213"/>
                  <a:gd name="T4" fmla="*/ 122 w 184"/>
                  <a:gd name="T5" fmla="*/ 196 h 213"/>
                  <a:gd name="T6" fmla="*/ 85 w 184"/>
                  <a:gd name="T7" fmla="*/ 184 h 213"/>
                  <a:gd name="T8" fmla="*/ 22 w 184"/>
                  <a:gd name="T9" fmla="*/ 184 h 213"/>
                  <a:gd name="T10" fmla="*/ 18 w 184"/>
                  <a:gd name="T11" fmla="*/ 181 h 213"/>
                  <a:gd name="T12" fmla="*/ 18 w 184"/>
                  <a:gd name="T13" fmla="*/ 21 h 213"/>
                  <a:gd name="T14" fmla="*/ 22 w 184"/>
                  <a:gd name="T15" fmla="*/ 17 h 213"/>
                  <a:gd name="T16" fmla="*/ 163 w 184"/>
                  <a:gd name="T17" fmla="*/ 17 h 213"/>
                  <a:gd name="T18" fmla="*/ 166 w 184"/>
                  <a:gd name="T19" fmla="*/ 21 h 213"/>
                  <a:gd name="T20" fmla="*/ 166 w 184"/>
                  <a:gd name="T21" fmla="*/ 85 h 213"/>
                  <a:gd name="T22" fmla="*/ 179 w 184"/>
                  <a:gd name="T23" fmla="*/ 102 h 213"/>
                  <a:gd name="T24" fmla="*/ 184 w 184"/>
                  <a:gd name="T25" fmla="*/ 116 h 213"/>
                  <a:gd name="T26" fmla="*/ 184 w 184"/>
                  <a:gd name="T27" fmla="*/ 21 h 213"/>
                  <a:gd name="T28" fmla="*/ 163 w 184"/>
                  <a:gd name="T29" fmla="*/ 0 h 213"/>
                  <a:gd name="T30" fmla="*/ 22 w 184"/>
                  <a:gd name="T31" fmla="*/ 0 h 213"/>
                  <a:gd name="T32" fmla="*/ 0 w 184"/>
                  <a:gd name="T33" fmla="*/ 21 h 213"/>
                  <a:gd name="T34" fmla="*/ 0 w 184"/>
                  <a:gd name="T35" fmla="*/ 192 h 213"/>
                  <a:gd name="T36" fmla="*/ 22 w 184"/>
                  <a:gd name="T37" fmla="*/ 213 h 213"/>
                  <a:gd name="T38" fmla="*/ 163 w 184"/>
                  <a:gd name="T39" fmla="*/ 213 h 213"/>
                  <a:gd name="T40" fmla="*/ 181 w 184"/>
                  <a:gd name="T41" fmla="*/ 203 h 213"/>
                  <a:gd name="T42" fmla="*/ 158 w 184"/>
                  <a:gd name="T43" fmla="*/ 186 h 213"/>
                  <a:gd name="T44" fmla="*/ 92 w 184"/>
                  <a:gd name="T45" fmla="*/ 206 h 213"/>
                  <a:gd name="T46" fmla="*/ 84 w 184"/>
                  <a:gd name="T47" fmla="*/ 199 h 213"/>
                  <a:gd name="T48" fmla="*/ 92 w 184"/>
                  <a:gd name="T49" fmla="*/ 191 h 213"/>
                  <a:gd name="T50" fmla="*/ 100 w 184"/>
                  <a:gd name="T51" fmla="*/ 199 h 213"/>
                  <a:gd name="T52" fmla="*/ 92 w 184"/>
                  <a:gd name="T53" fmla="*/ 20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13">
                    <a:moveTo>
                      <a:pt x="158" y="186"/>
                    </a:moveTo>
                    <a:cubicBezTo>
                      <a:pt x="155" y="187"/>
                      <a:pt x="153" y="189"/>
                      <a:pt x="151" y="190"/>
                    </a:cubicBezTo>
                    <a:cubicBezTo>
                      <a:pt x="142" y="194"/>
                      <a:pt x="132" y="196"/>
                      <a:pt x="122" y="196"/>
                    </a:cubicBezTo>
                    <a:cubicBezTo>
                      <a:pt x="109" y="196"/>
                      <a:pt x="96" y="192"/>
                      <a:pt x="85" y="184"/>
                    </a:cubicBezTo>
                    <a:cubicBezTo>
                      <a:pt x="22" y="184"/>
                      <a:pt x="22" y="184"/>
                      <a:pt x="22" y="184"/>
                    </a:cubicBezTo>
                    <a:cubicBezTo>
                      <a:pt x="20" y="184"/>
                      <a:pt x="18" y="183"/>
                      <a:pt x="18" y="181"/>
                    </a:cubicBezTo>
                    <a:cubicBezTo>
                      <a:pt x="18" y="21"/>
                      <a:pt x="18" y="21"/>
                      <a:pt x="18" y="21"/>
                    </a:cubicBezTo>
                    <a:cubicBezTo>
                      <a:pt x="18" y="19"/>
                      <a:pt x="20" y="17"/>
                      <a:pt x="22" y="17"/>
                    </a:cubicBezTo>
                    <a:cubicBezTo>
                      <a:pt x="163" y="17"/>
                      <a:pt x="163" y="17"/>
                      <a:pt x="163" y="17"/>
                    </a:cubicBezTo>
                    <a:cubicBezTo>
                      <a:pt x="165" y="17"/>
                      <a:pt x="166" y="19"/>
                      <a:pt x="166" y="21"/>
                    </a:cubicBezTo>
                    <a:cubicBezTo>
                      <a:pt x="166" y="85"/>
                      <a:pt x="166" y="85"/>
                      <a:pt x="166" y="85"/>
                    </a:cubicBezTo>
                    <a:cubicBezTo>
                      <a:pt x="171" y="90"/>
                      <a:pt x="175" y="95"/>
                      <a:pt x="179" y="102"/>
                    </a:cubicBezTo>
                    <a:cubicBezTo>
                      <a:pt x="181" y="107"/>
                      <a:pt x="183" y="111"/>
                      <a:pt x="184" y="116"/>
                    </a:cubicBezTo>
                    <a:cubicBezTo>
                      <a:pt x="184" y="21"/>
                      <a:pt x="184" y="21"/>
                      <a:pt x="184" y="21"/>
                    </a:cubicBezTo>
                    <a:cubicBezTo>
                      <a:pt x="184" y="9"/>
                      <a:pt x="175" y="0"/>
                      <a:pt x="163" y="0"/>
                    </a:cubicBezTo>
                    <a:cubicBezTo>
                      <a:pt x="22" y="0"/>
                      <a:pt x="22" y="0"/>
                      <a:pt x="22" y="0"/>
                    </a:cubicBezTo>
                    <a:cubicBezTo>
                      <a:pt x="10" y="0"/>
                      <a:pt x="0" y="9"/>
                      <a:pt x="0" y="21"/>
                    </a:cubicBezTo>
                    <a:cubicBezTo>
                      <a:pt x="0" y="192"/>
                      <a:pt x="0" y="192"/>
                      <a:pt x="0" y="192"/>
                    </a:cubicBezTo>
                    <a:cubicBezTo>
                      <a:pt x="0" y="204"/>
                      <a:pt x="10" y="213"/>
                      <a:pt x="22" y="213"/>
                    </a:cubicBezTo>
                    <a:cubicBezTo>
                      <a:pt x="163" y="213"/>
                      <a:pt x="163" y="213"/>
                      <a:pt x="163" y="213"/>
                    </a:cubicBezTo>
                    <a:cubicBezTo>
                      <a:pt x="171" y="213"/>
                      <a:pt x="177" y="209"/>
                      <a:pt x="181" y="203"/>
                    </a:cubicBezTo>
                    <a:cubicBezTo>
                      <a:pt x="158" y="186"/>
                      <a:pt x="158" y="186"/>
                      <a:pt x="158" y="186"/>
                    </a:cubicBezTo>
                    <a:close/>
                    <a:moveTo>
                      <a:pt x="92" y="206"/>
                    </a:moveTo>
                    <a:cubicBezTo>
                      <a:pt x="88" y="206"/>
                      <a:pt x="84" y="203"/>
                      <a:pt x="84" y="199"/>
                    </a:cubicBezTo>
                    <a:cubicBezTo>
                      <a:pt x="84" y="194"/>
                      <a:pt x="88" y="191"/>
                      <a:pt x="92" y="191"/>
                    </a:cubicBezTo>
                    <a:cubicBezTo>
                      <a:pt x="96" y="191"/>
                      <a:pt x="100" y="194"/>
                      <a:pt x="100" y="199"/>
                    </a:cubicBezTo>
                    <a:cubicBezTo>
                      <a:pt x="100" y="203"/>
                      <a:pt x="96" y="206"/>
                      <a:pt x="92" y="20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9" name="Freeform 21">
                <a:extLst>
                  <a:ext uri="{FF2B5EF4-FFF2-40B4-BE49-F238E27FC236}">
                    <a16:creationId xmlns:a16="http://schemas.microsoft.com/office/drawing/2014/main" id="{AC3851A0-B1BA-D6BE-0B6F-8021DFA35697}"/>
                  </a:ext>
                </a:extLst>
              </p:cNvPr>
              <p:cNvSpPr/>
              <p:nvPr/>
            </p:nvSpPr>
            <p:spPr bwMode="auto">
              <a:xfrm>
                <a:off x="7302412" y="4683918"/>
                <a:ext cx="130175" cy="22225"/>
              </a:xfrm>
              <a:custGeom>
                <a:avLst/>
                <a:gdLst>
                  <a:gd name="T0" fmla="*/ 3 w 65"/>
                  <a:gd name="T1" fmla="*/ 10 h 11"/>
                  <a:gd name="T2" fmla="*/ 4 w 65"/>
                  <a:gd name="T3" fmla="*/ 11 h 11"/>
                  <a:gd name="T4" fmla="*/ 65 w 65"/>
                  <a:gd name="T5" fmla="*/ 11 h 11"/>
                  <a:gd name="T6" fmla="*/ 65 w 65"/>
                  <a:gd name="T7" fmla="*/ 0 h 11"/>
                  <a:gd name="T8" fmla="*/ 0 w 65"/>
                  <a:gd name="T9" fmla="*/ 0 h 11"/>
                  <a:gd name="T10" fmla="*/ 3 w 65"/>
                  <a:gd name="T11" fmla="*/ 10 h 11"/>
                </a:gdLst>
                <a:ahLst/>
                <a:cxnLst>
                  <a:cxn ang="0">
                    <a:pos x="T0" y="T1"/>
                  </a:cxn>
                  <a:cxn ang="0">
                    <a:pos x="T2" y="T3"/>
                  </a:cxn>
                  <a:cxn ang="0">
                    <a:pos x="T4" y="T5"/>
                  </a:cxn>
                  <a:cxn ang="0">
                    <a:pos x="T6" y="T7"/>
                  </a:cxn>
                  <a:cxn ang="0">
                    <a:pos x="T8" y="T9"/>
                  </a:cxn>
                  <a:cxn ang="0">
                    <a:pos x="T10" y="T11"/>
                  </a:cxn>
                </a:cxnLst>
                <a:rect l="0" t="0" r="r" b="b"/>
                <a:pathLst>
                  <a:path w="65" h="11">
                    <a:moveTo>
                      <a:pt x="3" y="10"/>
                    </a:moveTo>
                    <a:cubicBezTo>
                      <a:pt x="4" y="11"/>
                      <a:pt x="4" y="11"/>
                      <a:pt x="4" y="11"/>
                    </a:cubicBezTo>
                    <a:cubicBezTo>
                      <a:pt x="65" y="11"/>
                      <a:pt x="65" y="11"/>
                      <a:pt x="65" y="11"/>
                    </a:cubicBezTo>
                    <a:cubicBezTo>
                      <a:pt x="65" y="0"/>
                      <a:pt x="65" y="0"/>
                      <a:pt x="65" y="0"/>
                    </a:cubicBezTo>
                    <a:cubicBezTo>
                      <a:pt x="0" y="0"/>
                      <a:pt x="0" y="0"/>
                      <a:pt x="0" y="0"/>
                    </a:cubicBezTo>
                    <a:cubicBezTo>
                      <a:pt x="1" y="3"/>
                      <a:pt x="2" y="7"/>
                      <a:pt x="3" y="1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0" name="Freeform 22">
                <a:extLst>
                  <a:ext uri="{FF2B5EF4-FFF2-40B4-BE49-F238E27FC236}">
                    <a16:creationId xmlns:a16="http://schemas.microsoft.com/office/drawing/2014/main" id="{0B4F0899-B52D-7C11-2EB0-502AC5BF80D8}"/>
                  </a:ext>
                </a:extLst>
              </p:cNvPr>
              <p:cNvSpPr/>
              <p:nvPr/>
            </p:nvSpPr>
            <p:spPr bwMode="auto">
              <a:xfrm>
                <a:off x="7196049" y="4683918"/>
                <a:ext cx="52388" cy="22225"/>
              </a:xfrm>
              <a:custGeom>
                <a:avLst/>
                <a:gdLst>
                  <a:gd name="T0" fmla="*/ 0 w 27"/>
                  <a:gd name="T1" fmla="*/ 0 h 11"/>
                  <a:gd name="T2" fmla="*/ 0 w 27"/>
                  <a:gd name="T3" fmla="*/ 11 h 11"/>
                  <a:gd name="T4" fmla="*/ 27 w 27"/>
                  <a:gd name="T5" fmla="*/ 11 h 11"/>
                  <a:gd name="T6" fmla="*/ 25 w 27"/>
                  <a:gd name="T7" fmla="*/ 0 h 11"/>
                  <a:gd name="T8" fmla="*/ 0 w 27"/>
                  <a:gd name="T9" fmla="*/ 0 h 11"/>
                </a:gdLst>
                <a:ahLst/>
                <a:cxnLst>
                  <a:cxn ang="0">
                    <a:pos x="T0" y="T1"/>
                  </a:cxn>
                  <a:cxn ang="0">
                    <a:pos x="T2" y="T3"/>
                  </a:cxn>
                  <a:cxn ang="0">
                    <a:pos x="T4" y="T5"/>
                  </a:cxn>
                  <a:cxn ang="0">
                    <a:pos x="T6" y="T7"/>
                  </a:cxn>
                  <a:cxn ang="0">
                    <a:pos x="T8" y="T9"/>
                  </a:cxn>
                </a:cxnLst>
                <a:rect l="0" t="0" r="r" b="b"/>
                <a:pathLst>
                  <a:path w="27" h="11">
                    <a:moveTo>
                      <a:pt x="0" y="0"/>
                    </a:moveTo>
                    <a:cubicBezTo>
                      <a:pt x="0" y="11"/>
                      <a:pt x="0" y="11"/>
                      <a:pt x="0" y="11"/>
                    </a:cubicBezTo>
                    <a:cubicBezTo>
                      <a:pt x="27" y="11"/>
                      <a:pt x="27" y="11"/>
                      <a:pt x="27" y="11"/>
                    </a:cubicBezTo>
                    <a:cubicBezTo>
                      <a:pt x="26" y="7"/>
                      <a:pt x="25" y="4"/>
                      <a:pt x="25"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1" name="Freeform 23">
                <a:extLst>
                  <a:ext uri="{FF2B5EF4-FFF2-40B4-BE49-F238E27FC236}">
                    <a16:creationId xmlns:a16="http://schemas.microsoft.com/office/drawing/2014/main" id="{2C15660C-8C18-2CC3-531A-CEDD30D04152}"/>
                  </a:ext>
                </a:extLst>
              </p:cNvPr>
              <p:cNvSpPr/>
              <p:nvPr/>
            </p:nvSpPr>
            <p:spPr bwMode="auto">
              <a:xfrm>
                <a:off x="7302412" y="4629943"/>
                <a:ext cx="131762" cy="25400"/>
              </a:xfrm>
              <a:custGeom>
                <a:avLst/>
                <a:gdLst>
                  <a:gd name="T0" fmla="*/ 5 w 66"/>
                  <a:gd name="T1" fmla="*/ 0 h 12"/>
                  <a:gd name="T2" fmla="*/ 1 w 66"/>
                  <a:gd name="T3" fmla="*/ 9 h 12"/>
                  <a:gd name="T4" fmla="*/ 0 w 66"/>
                  <a:gd name="T5" fmla="*/ 12 h 12"/>
                  <a:gd name="T6" fmla="*/ 66 w 66"/>
                  <a:gd name="T7" fmla="*/ 12 h 12"/>
                  <a:gd name="T8" fmla="*/ 66 w 66"/>
                  <a:gd name="T9" fmla="*/ 5 h 12"/>
                  <a:gd name="T10" fmla="*/ 63 w 66"/>
                  <a:gd name="T11" fmla="*/ 0 h 12"/>
                  <a:gd name="T12" fmla="*/ 5 w 6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5" y="0"/>
                    </a:moveTo>
                    <a:cubicBezTo>
                      <a:pt x="3" y="3"/>
                      <a:pt x="2" y="6"/>
                      <a:pt x="1" y="9"/>
                    </a:cubicBezTo>
                    <a:cubicBezTo>
                      <a:pt x="1" y="10"/>
                      <a:pt x="1" y="11"/>
                      <a:pt x="0" y="12"/>
                    </a:cubicBezTo>
                    <a:cubicBezTo>
                      <a:pt x="66" y="12"/>
                      <a:pt x="66" y="12"/>
                      <a:pt x="66" y="12"/>
                    </a:cubicBezTo>
                    <a:cubicBezTo>
                      <a:pt x="66" y="5"/>
                      <a:pt x="66" y="5"/>
                      <a:pt x="66" y="5"/>
                    </a:cubicBezTo>
                    <a:cubicBezTo>
                      <a:pt x="65" y="4"/>
                      <a:pt x="64" y="2"/>
                      <a:pt x="63" y="0"/>
                    </a:cubicBezTo>
                    <a:lnTo>
                      <a:pt x="5"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2" name="Freeform 24">
                <a:extLst>
                  <a:ext uri="{FF2B5EF4-FFF2-40B4-BE49-F238E27FC236}">
                    <a16:creationId xmlns:a16="http://schemas.microsoft.com/office/drawing/2014/main" id="{B00CC91C-B795-7611-4FCA-D71B877A7D11}"/>
                  </a:ext>
                </a:extLst>
              </p:cNvPr>
              <p:cNvSpPr/>
              <p:nvPr/>
            </p:nvSpPr>
            <p:spPr bwMode="auto">
              <a:xfrm>
                <a:off x="7197637" y="4629943"/>
                <a:ext cx="50800" cy="25400"/>
              </a:xfrm>
              <a:custGeom>
                <a:avLst/>
                <a:gdLst>
                  <a:gd name="T0" fmla="*/ 0 w 26"/>
                  <a:gd name="T1" fmla="*/ 0 h 12"/>
                  <a:gd name="T2" fmla="*/ 0 w 26"/>
                  <a:gd name="T3" fmla="*/ 12 h 12"/>
                  <a:gd name="T4" fmla="*/ 24 w 26"/>
                  <a:gd name="T5" fmla="*/ 12 h 12"/>
                  <a:gd name="T6" fmla="*/ 26 w 26"/>
                  <a:gd name="T7" fmla="*/ 0 h 12"/>
                  <a:gd name="T8" fmla="*/ 0 w 26"/>
                  <a:gd name="T9" fmla="*/ 0 h 12"/>
                </a:gdLst>
                <a:ahLst/>
                <a:cxnLst>
                  <a:cxn ang="0">
                    <a:pos x="T0" y="T1"/>
                  </a:cxn>
                  <a:cxn ang="0">
                    <a:pos x="T2" y="T3"/>
                  </a:cxn>
                  <a:cxn ang="0">
                    <a:pos x="T4" y="T5"/>
                  </a:cxn>
                  <a:cxn ang="0">
                    <a:pos x="T6" y="T7"/>
                  </a:cxn>
                  <a:cxn ang="0">
                    <a:pos x="T8" y="T9"/>
                  </a:cxn>
                </a:cxnLst>
                <a:rect l="0" t="0" r="r" b="b"/>
                <a:pathLst>
                  <a:path w="26" h="12">
                    <a:moveTo>
                      <a:pt x="0" y="0"/>
                    </a:moveTo>
                    <a:cubicBezTo>
                      <a:pt x="0" y="12"/>
                      <a:pt x="0" y="12"/>
                      <a:pt x="0" y="12"/>
                    </a:cubicBezTo>
                    <a:cubicBezTo>
                      <a:pt x="24" y="12"/>
                      <a:pt x="24" y="12"/>
                      <a:pt x="24" y="12"/>
                    </a:cubicBezTo>
                    <a:cubicBezTo>
                      <a:pt x="24" y="8"/>
                      <a:pt x="25" y="4"/>
                      <a:pt x="26"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3" name="Freeform 25">
                <a:extLst>
                  <a:ext uri="{FF2B5EF4-FFF2-40B4-BE49-F238E27FC236}">
                    <a16:creationId xmlns:a16="http://schemas.microsoft.com/office/drawing/2014/main" id="{F24F0DAC-34B4-BE13-00FD-E9068941EDF0}"/>
                  </a:ext>
                </a:extLst>
              </p:cNvPr>
              <p:cNvSpPr/>
              <p:nvPr/>
            </p:nvSpPr>
            <p:spPr bwMode="auto">
              <a:xfrm>
                <a:off x="7197637" y="4577556"/>
                <a:ext cx="85725" cy="22225"/>
              </a:xfrm>
              <a:custGeom>
                <a:avLst/>
                <a:gdLst>
                  <a:gd name="T0" fmla="*/ 43 w 43"/>
                  <a:gd name="T1" fmla="*/ 0 h 12"/>
                  <a:gd name="T2" fmla="*/ 0 w 43"/>
                  <a:gd name="T3" fmla="*/ 0 h 12"/>
                  <a:gd name="T4" fmla="*/ 0 w 43"/>
                  <a:gd name="T5" fmla="*/ 12 h 12"/>
                  <a:gd name="T6" fmla="*/ 34 w 43"/>
                  <a:gd name="T7" fmla="*/ 12 h 12"/>
                  <a:gd name="T8" fmla="*/ 43 w 43"/>
                  <a:gd name="T9" fmla="*/ 0 h 12"/>
                </a:gdLst>
                <a:ahLst/>
                <a:cxnLst>
                  <a:cxn ang="0">
                    <a:pos x="T0" y="T1"/>
                  </a:cxn>
                  <a:cxn ang="0">
                    <a:pos x="T2" y="T3"/>
                  </a:cxn>
                  <a:cxn ang="0">
                    <a:pos x="T4" y="T5"/>
                  </a:cxn>
                  <a:cxn ang="0">
                    <a:pos x="T6" y="T7"/>
                  </a:cxn>
                  <a:cxn ang="0">
                    <a:pos x="T8" y="T9"/>
                  </a:cxn>
                </a:cxnLst>
                <a:rect l="0" t="0" r="r" b="b"/>
                <a:pathLst>
                  <a:path w="43" h="12">
                    <a:moveTo>
                      <a:pt x="43" y="0"/>
                    </a:moveTo>
                    <a:cubicBezTo>
                      <a:pt x="0" y="0"/>
                      <a:pt x="0" y="0"/>
                      <a:pt x="0" y="0"/>
                    </a:cubicBezTo>
                    <a:cubicBezTo>
                      <a:pt x="0" y="12"/>
                      <a:pt x="0" y="12"/>
                      <a:pt x="0" y="12"/>
                    </a:cubicBezTo>
                    <a:cubicBezTo>
                      <a:pt x="34" y="12"/>
                      <a:pt x="34" y="12"/>
                      <a:pt x="34" y="12"/>
                    </a:cubicBezTo>
                    <a:cubicBezTo>
                      <a:pt x="36" y="8"/>
                      <a:pt x="39" y="4"/>
                      <a:pt x="43" y="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4" name="Freeform 26">
                <a:extLst>
                  <a:ext uri="{FF2B5EF4-FFF2-40B4-BE49-F238E27FC236}">
                    <a16:creationId xmlns:a16="http://schemas.microsoft.com/office/drawing/2014/main" id="{B15050D6-DB29-AFBD-7E8D-73CE36EE0C68}"/>
                  </a:ext>
                </a:extLst>
              </p:cNvPr>
              <p:cNvSpPr>
                <a:spLocks noEditPoints="1"/>
              </p:cNvSpPr>
              <p:nvPr/>
            </p:nvSpPr>
            <p:spPr bwMode="auto">
              <a:xfrm>
                <a:off x="7237324" y="4534693"/>
                <a:ext cx="381000" cy="331788"/>
              </a:xfrm>
              <a:custGeom>
                <a:avLst/>
                <a:gdLst>
                  <a:gd name="T0" fmla="*/ 184 w 192"/>
                  <a:gd name="T1" fmla="*/ 132 h 166"/>
                  <a:gd name="T2" fmla="*/ 129 w 192"/>
                  <a:gd name="T3" fmla="*/ 92 h 166"/>
                  <a:gd name="T4" fmla="*/ 125 w 192"/>
                  <a:gd name="T5" fmla="*/ 90 h 166"/>
                  <a:gd name="T6" fmla="*/ 121 w 192"/>
                  <a:gd name="T7" fmla="*/ 43 h 166"/>
                  <a:gd name="T8" fmla="*/ 41 w 192"/>
                  <a:gd name="T9" fmla="*/ 15 h 166"/>
                  <a:gd name="T10" fmla="*/ 15 w 192"/>
                  <a:gd name="T11" fmla="*/ 96 h 166"/>
                  <a:gd name="T12" fmla="*/ 95 w 192"/>
                  <a:gd name="T13" fmla="*/ 124 h 166"/>
                  <a:gd name="T14" fmla="*/ 105 w 192"/>
                  <a:gd name="T15" fmla="*/ 118 h 166"/>
                  <a:gd name="T16" fmla="*/ 108 w 192"/>
                  <a:gd name="T17" fmla="*/ 121 h 166"/>
                  <a:gd name="T18" fmla="*/ 163 w 192"/>
                  <a:gd name="T19" fmla="*/ 161 h 166"/>
                  <a:gd name="T20" fmla="*/ 184 w 192"/>
                  <a:gd name="T21" fmla="*/ 157 h 166"/>
                  <a:gd name="T22" fmla="*/ 188 w 192"/>
                  <a:gd name="T23" fmla="*/ 153 h 166"/>
                  <a:gd name="T24" fmla="*/ 184 w 192"/>
                  <a:gd name="T25" fmla="*/ 132 h 166"/>
                  <a:gd name="T26" fmla="*/ 87 w 192"/>
                  <a:gd name="T27" fmla="*/ 107 h 166"/>
                  <a:gd name="T28" fmla="*/ 32 w 192"/>
                  <a:gd name="T29" fmla="*/ 88 h 166"/>
                  <a:gd name="T30" fmla="*/ 49 w 192"/>
                  <a:gd name="T31" fmla="*/ 32 h 166"/>
                  <a:gd name="T32" fmla="*/ 104 w 192"/>
                  <a:gd name="T33" fmla="*/ 52 h 166"/>
                  <a:gd name="T34" fmla="*/ 87 w 192"/>
                  <a:gd name="T3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66">
                    <a:moveTo>
                      <a:pt x="184" y="132"/>
                    </a:moveTo>
                    <a:cubicBezTo>
                      <a:pt x="129" y="92"/>
                      <a:pt x="129" y="92"/>
                      <a:pt x="129" y="92"/>
                    </a:cubicBezTo>
                    <a:cubicBezTo>
                      <a:pt x="128" y="91"/>
                      <a:pt x="126" y="90"/>
                      <a:pt x="125" y="90"/>
                    </a:cubicBezTo>
                    <a:cubicBezTo>
                      <a:pt x="130" y="75"/>
                      <a:pt x="129" y="58"/>
                      <a:pt x="121" y="43"/>
                    </a:cubicBezTo>
                    <a:cubicBezTo>
                      <a:pt x="106" y="13"/>
                      <a:pt x="70" y="0"/>
                      <a:pt x="41" y="15"/>
                    </a:cubicBezTo>
                    <a:cubicBezTo>
                      <a:pt x="11" y="30"/>
                      <a:pt x="0" y="66"/>
                      <a:pt x="15" y="96"/>
                    </a:cubicBezTo>
                    <a:cubicBezTo>
                      <a:pt x="30" y="126"/>
                      <a:pt x="66" y="139"/>
                      <a:pt x="95" y="124"/>
                    </a:cubicBezTo>
                    <a:cubicBezTo>
                      <a:pt x="99" y="122"/>
                      <a:pt x="102" y="120"/>
                      <a:pt x="105" y="118"/>
                    </a:cubicBezTo>
                    <a:cubicBezTo>
                      <a:pt x="106" y="119"/>
                      <a:pt x="107" y="120"/>
                      <a:pt x="108" y="121"/>
                    </a:cubicBezTo>
                    <a:cubicBezTo>
                      <a:pt x="163" y="161"/>
                      <a:pt x="163" y="161"/>
                      <a:pt x="163" y="161"/>
                    </a:cubicBezTo>
                    <a:cubicBezTo>
                      <a:pt x="170" y="166"/>
                      <a:pt x="179" y="164"/>
                      <a:pt x="184" y="157"/>
                    </a:cubicBezTo>
                    <a:cubicBezTo>
                      <a:pt x="188" y="153"/>
                      <a:pt x="188" y="153"/>
                      <a:pt x="188" y="153"/>
                    </a:cubicBezTo>
                    <a:cubicBezTo>
                      <a:pt x="192" y="146"/>
                      <a:pt x="191" y="137"/>
                      <a:pt x="184" y="132"/>
                    </a:cubicBezTo>
                    <a:close/>
                    <a:moveTo>
                      <a:pt x="87" y="107"/>
                    </a:moveTo>
                    <a:cubicBezTo>
                      <a:pt x="67" y="117"/>
                      <a:pt x="42" y="108"/>
                      <a:pt x="32" y="88"/>
                    </a:cubicBezTo>
                    <a:cubicBezTo>
                      <a:pt x="22" y="67"/>
                      <a:pt x="29" y="42"/>
                      <a:pt x="49" y="32"/>
                    </a:cubicBezTo>
                    <a:cubicBezTo>
                      <a:pt x="69" y="22"/>
                      <a:pt x="94" y="31"/>
                      <a:pt x="104" y="52"/>
                    </a:cubicBezTo>
                    <a:cubicBezTo>
                      <a:pt x="114" y="72"/>
                      <a:pt x="107" y="97"/>
                      <a:pt x="87" y="107"/>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sp>
        <p:nvSpPr>
          <p:cNvPr id="2" name="AutoShape 10">
            <a:extLst>
              <a:ext uri="{FF2B5EF4-FFF2-40B4-BE49-F238E27FC236}">
                <a16:creationId xmlns:a16="http://schemas.microsoft.com/office/drawing/2014/main" id="{72A8F480-350E-BFD9-0A16-12DE80C1E21C}"/>
              </a:ext>
            </a:extLst>
          </p:cNvPr>
          <p:cNvSpPr/>
          <p:nvPr/>
        </p:nvSpPr>
        <p:spPr>
          <a:xfrm>
            <a:off x="1739900" y="4178300"/>
            <a:ext cx="2387600" cy="1765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6666"/>
              </a:lnSpc>
              <a:defRPr/>
            </a:pPr>
            <a:r>
              <a:rPr lang="zh-CN" altLang="en-US" sz="1400" b="0" i="0" u="none" strike="noStrike" dirty="0">
                <a:solidFill>
                  <a:srgbClr val="595959"/>
                </a:solidFill>
                <a:latin typeface="Noto Sans SC"/>
                <a:ea typeface="Noto Sans SC"/>
                <a:cs typeface="Noto Sans SC"/>
                <a:sym typeface="Noto Sans SC"/>
              </a:rPr>
              <a:t>项目统筹协调，</a:t>
            </a:r>
            <a:r>
              <a:rPr lang="en-US" altLang="zh-CN" sz="1400" b="0" i="0" u="none" strike="noStrike" dirty="0">
                <a:solidFill>
                  <a:srgbClr val="595959"/>
                </a:solidFill>
                <a:latin typeface="Noto Sans SC"/>
                <a:ea typeface="Noto Sans SC"/>
                <a:cs typeface="Noto Sans SC"/>
                <a:sym typeface="Noto Sans SC"/>
              </a:rPr>
              <a:t>CBMBA A*</a:t>
            </a:r>
            <a:r>
              <a:rPr lang="zh-CN" altLang="en-US" sz="1400" b="0" i="0" u="none" strike="noStrike" dirty="0">
                <a:solidFill>
                  <a:srgbClr val="595959"/>
                </a:solidFill>
                <a:latin typeface="Noto Sans SC"/>
                <a:ea typeface="Noto Sans SC"/>
                <a:cs typeface="Noto Sans SC"/>
                <a:sym typeface="Noto Sans SC"/>
              </a:rPr>
              <a:t>算法实现与三维适配改进，局部避障算法设计与全局</a:t>
            </a:r>
            <a:r>
              <a:rPr lang="en-US" altLang="zh-CN" sz="1400" b="0" i="0" u="none" strike="noStrike" dirty="0">
                <a:solidFill>
                  <a:srgbClr val="595959"/>
                </a:solidFill>
                <a:latin typeface="Noto Sans SC"/>
                <a:ea typeface="Noto Sans SC"/>
                <a:cs typeface="Noto Sans SC"/>
                <a:sym typeface="Noto Sans SC"/>
              </a:rPr>
              <a:t>-</a:t>
            </a:r>
            <a:r>
              <a:rPr lang="zh-CN" altLang="en-US" sz="1400" b="0" i="0" u="none" strike="noStrike" dirty="0">
                <a:solidFill>
                  <a:srgbClr val="595959"/>
                </a:solidFill>
                <a:latin typeface="Noto Sans SC"/>
                <a:ea typeface="Noto Sans SC"/>
                <a:cs typeface="Noto Sans SC"/>
                <a:sym typeface="Noto Sans SC"/>
              </a:rPr>
              <a:t>局部融合策略</a:t>
            </a:r>
            <a:r>
              <a:rPr lang="zh-CN" altLang="en-US" sz="1400" dirty="0">
                <a:solidFill>
                  <a:srgbClr val="595959"/>
                </a:solidFill>
                <a:latin typeface="Noto Sans SC"/>
                <a:ea typeface="Noto Sans SC"/>
                <a:cs typeface="Noto Sans SC"/>
                <a:sym typeface="Noto Sans SC"/>
              </a:rPr>
              <a:t>。</a:t>
            </a:r>
            <a:endParaRPr lang="en-US" sz="1200" dirty="0"/>
          </a:p>
        </p:txBody>
      </p:sp>
      <p:sp>
        <p:nvSpPr>
          <p:cNvPr id="3" name="AutoShape 17">
            <a:extLst>
              <a:ext uri="{FF2B5EF4-FFF2-40B4-BE49-F238E27FC236}">
                <a16:creationId xmlns:a16="http://schemas.microsoft.com/office/drawing/2014/main" id="{D8D0F876-B199-5AF4-916E-8CE92F3F1D45}"/>
              </a:ext>
            </a:extLst>
          </p:cNvPr>
          <p:cNvSpPr/>
          <p:nvPr/>
        </p:nvSpPr>
        <p:spPr>
          <a:xfrm>
            <a:off x="1968500" y="3441700"/>
            <a:ext cx="1905000" cy="558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dirty="0" err="1">
                <a:solidFill>
                  <a:srgbClr val="244C89"/>
                </a:solidFill>
                <a:latin typeface="Noto Sans SC"/>
                <a:ea typeface="Noto Sans SC"/>
                <a:cs typeface="Noto Sans SC"/>
                <a:sym typeface="Noto Sans SC"/>
              </a:rPr>
              <a:t>负责人</a:t>
            </a:r>
            <a:r>
              <a:rPr lang="en-US" sz="1800" b="1" i="0" u="none" strike="noStrike" dirty="0">
                <a:solidFill>
                  <a:srgbClr val="244C89"/>
                </a:solidFill>
                <a:latin typeface="Noto Sans SC"/>
                <a:ea typeface="Noto Sans SC"/>
                <a:cs typeface="Noto Sans SC"/>
                <a:sym typeface="Noto Sans SC"/>
              </a:rPr>
              <a:t> (</a:t>
            </a:r>
            <a:r>
              <a:rPr lang="en-US" sz="1800" b="1" i="0" u="none" strike="noStrike" dirty="0" err="1">
                <a:solidFill>
                  <a:srgbClr val="244C89"/>
                </a:solidFill>
                <a:latin typeface="Noto Sans SC"/>
                <a:ea typeface="Noto Sans SC"/>
                <a:cs typeface="Noto Sans SC"/>
                <a:sym typeface="Noto Sans SC"/>
              </a:rPr>
              <a:t>同学A</a:t>
            </a:r>
            <a:r>
              <a:rPr lang="en-US" sz="1800" b="1" i="0" u="none" strike="noStrike" dirty="0">
                <a:solidFill>
                  <a:srgbClr val="244C89"/>
                </a:solidFill>
                <a:latin typeface="Noto Sans SC"/>
                <a:ea typeface="Noto Sans SC"/>
                <a:cs typeface="Noto Sans SC"/>
                <a:sym typeface="Noto Sans SC"/>
              </a:rPr>
              <a:t>)</a:t>
            </a:r>
            <a:endParaRPr lang="en-US" sz="1100" dirty="0"/>
          </a:p>
        </p:txBody>
      </p:sp>
      <p:sp>
        <p:nvSpPr>
          <p:cNvPr id="6" name="AutoShape 22">
            <a:extLst>
              <a:ext uri="{FF2B5EF4-FFF2-40B4-BE49-F238E27FC236}">
                <a16:creationId xmlns:a16="http://schemas.microsoft.com/office/drawing/2014/main" id="{20D25716-6D1B-946D-794B-3BC0292428A1}"/>
              </a:ext>
            </a:extLst>
          </p:cNvPr>
          <p:cNvSpPr/>
          <p:nvPr/>
        </p:nvSpPr>
        <p:spPr>
          <a:xfrm>
            <a:off x="4953000" y="4178300"/>
            <a:ext cx="2387600" cy="1765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6666"/>
              </a:lnSpc>
              <a:defRPr/>
            </a:pPr>
            <a:r>
              <a:rPr lang="zh-CN" altLang="en-US" sz="1400" b="0" i="0" u="none" strike="noStrike" dirty="0">
                <a:solidFill>
                  <a:srgbClr val="595959"/>
                </a:solidFill>
                <a:latin typeface="Noto Sans SC"/>
                <a:ea typeface="Noto Sans SC"/>
                <a:cs typeface="Noto Sans SC"/>
                <a:sym typeface="Noto Sans SC"/>
              </a:rPr>
              <a:t>公开三维城市数据获取与处理，</a:t>
            </a:r>
            <a:r>
              <a:rPr lang="en-US" altLang="zh-CN" sz="1400" b="0" i="0" u="none" strike="noStrike" dirty="0">
                <a:solidFill>
                  <a:srgbClr val="595959"/>
                </a:solidFill>
                <a:latin typeface="Noto Sans SC"/>
                <a:ea typeface="Noto Sans SC"/>
                <a:cs typeface="Noto Sans SC"/>
                <a:sym typeface="Noto Sans SC"/>
              </a:rPr>
              <a:t>Blender</a:t>
            </a:r>
            <a:r>
              <a:rPr lang="zh-CN" altLang="en-US" sz="1400" b="0" i="0" u="none" strike="noStrike" dirty="0">
                <a:solidFill>
                  <a:srgbClr val="595959"/>
                </a:solidFill>
                <a:latin typeface="Noto Sans SC"/>
                <a:ea typeface="Noto Sans SC"/>
                <a:cs typeface="Noto Sans SC"/>
                <a:sym typeface="Noto Sans SC"/>
              </a:rPr>
              <a:t>建筑群场景建模与优化，</a:t>
            </a:r>
            <a:r>
              <a:rPr lang="en-US" altLang="zh-CN" sz="1400" b="0" i="0" u="none" strike="noStrike" dirty="0" err="1">
                <a:solidFill>
                  <a:srgbClr val="595959"/>
                </a:solidFill>
                <a:latin typeface="Noto Sans SC"/>
                <a:ea typeface="Noto Sans SC"/>
                <a:cs typeface="Noto Sans SC"/>
                <a:sym typeface="Noto Sans SC"/>
              </a:rPr>
              <a:t>Webots</a:t>
            </a:r>
            <a:r>
              <a:rPr lang="zh-CN" altLang="en-US" sz="1400" b="0" i="0" u="none" strike="noStrike" dirty="0">
                <a:solidFill>
                  <a:srgbClr val="595959"/>
                </a:solidFill>
                <a:latin typeface="Noto Sans SC"/>
                <a:ea typeface="Noto Sans SC"/>
                <a:cs typeface="Noto Sans SC"/>
                <a:sym typeface="Noto Sans SC"/>
              </a:rPr>
              <a:t>场景导入与配置。</a:t>
            </a:r>
            <a:endParaRPr lang="en-US" sz="1200" dirty="0"/>
          </a:p>
        </p:txBody>
      </p:sp>
      <p:sp>
        <p:nvSpPr>
          <p:cNvPr id="8" name="AutoShape 23">
            <a:extLst>
              <a:ext uri="{FF2B5EF4-FFF2-40B4-BE49-F238E27FC236}">
                <a16:creationId xmlns:a16="http://schemas.microsoft.com/office/drawing/2014/main" id="{EE04E460-7793-FCAA-E1CA-2F1E04B3D1A8}"/>
              </a:ext>
            </a:extLst>
          </p:cNvPr>
          <p:cNvSpPr/>
          <p:nvPr/>
        </p:nvSpPr>
        <p:spPr>
          <a:xfrm>
            <a:off x="5181600" y="3441700"/>
            <a:ext cx="1905000" cy="558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dirty="0" err="1">
                <a:solidFill>
                  <a:srgbClr val="244C89"/>
                </a:solidFill>
                <a:latin typeface="Noto Sans SC"/>
                <a:ea typeface="Noto Sans SC"/>
                <a:cs typeface="Noto Sans SC"/>
                <a:sym typeface="Noto Sans SC"/>
              </a:rPr>
              <a:t>成员一</a:t>
            </a:r>
            <a:r>
              <a:rPr lang="en-US" sz="1800" b="1" i="0" u="none" strike="noStrike" dirty="0">
                <a:solidFill>
                  <a:srgbClr val="244C89"/>
                </a:solidFill>
                <a:latin typeface="Noto Sans SC"/>
                <a:ea typeface="Noto Sans SC"/>
                <a:cs typeface="Noto Sans SC"/>
                <a:sym typeface="Noto Sans SC"/>
              </a:rPr>
              <a:t> (</a:t>
            </a:r>
            <a:r>
              <a:rPr lang="en-US" sz="1800" b="1" i="0" u="none" strike="noStrike" dirty="0" err="1">
                <a:solidFill>
                  <a:srgbClr val="244C89"/>
                </a:solidFill>
                <a:latin typeface="Noto Sans SC"/>
                <a:ea typeface="Noto Sans SC"/>
                <a:cs typeface="Noto Sans SC"/>
                <a:sym typeface="Noto Sans SC"/>
              </a:rPr>
              <a:t>同学B</a:t>
            </a:r>
            <a:r>
              <a:rPr lang="en-US" sz="1800" b="1" i="0" u="none" strike="noStrike" dirty="0">
                <a:solidFill>
                  <a:srgbClr val="244C89"/>
                </a:solidFill>
                <a:latin typeface="Noto Sans SC"/>
                <a:ea typeface="Noto Sans SC"/>
                <a:cs typeface="Noto Sans SC"/>
                <a:sym typeface="Noto Sans SC"/>
              </a:rPr>
              <a:t>)</a:t>
            </a:r>
            <a:endParaRPr lang="en-US" sz="1100" dirty="0"/>
          </a:p>
        </p:txBody>
      </p:sp>
      <p:sp>
        <p:nvSpPr>
          <p:cNvPr id="16" name="AutoShape 32">
            <a:extLst>
              <a:ext uri="{FF2B5EF4-FFF2-40B4-BE49-F238E27FC236}">
                <a16:creationId xmlns:a16="http://schemas.microsoft.com/office/drawing/2014/main" id="{B45DF69E-6FC4-1EA3-FFD4-35C0AEC841B8}"/>
              </a:ext>
            </a:extLst>
          </p:cNvPr>
          <p:cNvSpPr/>
          <p:nvPr/>
        </p:nvSpPr>
        <p:spPr>
          <a:xfrm>
            <a:off x="8153400" y="4178300"/>
            <a:ext cx="2387600" cy="1765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6666"/>
              </a:lnSpc>
              <a:defRPr/>
            </a:pPr>
            <a:r>
              <a:rPr lang="en-US" altLang="zh-CN" sz="1400" b="0" i="0" u="none" strike="noStrike" dirty="0" err="1">
                <a:solidFill>
                  <a:srgbClr val="595959"/>
                </a:solidFill>
                <a:latin typeface="Noto Sans SC"/>
                <a:ea typeface="Noto Sans SC"/>
                <a:cs typeface="Noto Sans SC"/>
                <a:sym typeface="Noto Sans SC"/>
              </a:rPr>
              <a:t>Webots</a:t>
            </a:r>
            <a:r>
              <a:rPr lang="zh-CN" altLang="en-US" sz="1400" b="0" i="0" u="none" strike="noStrike" dirty="0">
                <a:solidFill>
                  <a:srgbClr val="595959"/>
                </a:solidFill>
                <a:latin typeface="Noto Sans SC"/>
                <a:ea typeface="Noto Sans SC"/>
                <a:cs typeface="Noto Sans SC"/>
                <a:sym typeface="Noto Sans SC"/>
              </a:rPr>
              <a:t>仿真环境搭建与</a:t>
            </a:r>
            <a:r>
              <a:rPr lang="en-US" altLang="zh-CN" sz="1400" b="0" i="0" u="none" strike="noStrike" dirty="0">
                <a:solidFill>
                  <a:srgbClr val="595959"/>
                </a:solidFill>
                <a:latin typeface="Noto Sans SC"/>
                <a:ea typeface="Noto Sans SC"/>
                <a:cs typeface="Noto Sans SC"/>
                <a:sym typeface="Noto Sans SC"/>
              </a:rPr>
              <a:t>Python</a:t>
            </a:r>
            <a:r>
              <a:rPr lang="zh-CN" altLang="en-US" sz="1400" b="0" i="0" u="none" strike="noStrike" dirty="0">
                <a:solidFill>
                  <a:srgbClr val="595959"/>
                </a:solidFill>
                <a:latin typeface="Noto Sans SC"/>
                <a:ea typeface="Noto Sans SC"/>
                <a:cs typeface="Noto Sans SC"/>
                <a:sym typeface="Noto Sans SC"/>
              </a:rPr>
              <a:t>控制接口开发，算法集成调试与性能量化评估，</a:t>
            </a:r>
            <a:r>
              <a:rPr lang="en-US" altLang="zh-CN" sz="1400" b="0" i="0" u="none" strike="noStrike" dirty="0" err="1">
                <a:solidFill>
                  <a:srgbClr val="595959"/>
                </a:solidFill>
                <a:latin typeface="Noto Sans SC"/>
                <a:ea typeface="Noto Sans SC"/>
                <a:cs typeface="Noto Sans SC"/>
                <a:sym typeface="Noto Sans SC"/>
              </a:rPr>
              <a:t>AirSim</a:t>
            </a:r>
            <a:r>
              <a:rPr lang="zh-CN" altLang="en-US" sz="1400" b="0" i="0" u="none" strike="noStrike" dirty="0">
                <a:solidFill>
                  <a:srgbClr val="595959"/>
                </a:solidFill>
                <a:latin typeface="Noto Sans SC"/>
                <a:ea typeface="Noto Sans SC"/>
                <a:cs typeface="Noto Sans SC"/>
                <a:sym typeface="Noto Sans SC"/>
              </a:rPr>
              <a:t>演示视频制作</a:t>
            </a:r>
            <a:r>
              <a:rPr lang="en-US" sz="1400" b="0" i="0" u="none" strike="noStrike" dirty="0">
                <a:solidFill>
                  <a:srgbClr val="595959"/>
                </a:solidFill>
                <a:latin typeface="Noto Sans SC"/>
                <a:ea typeface="Noto Sans SC"/>
                <a:cs typeface="Noto Sans SC"/>
                <a:sym typeface="Noto Sans SC"/>
              </a:rPr>
              <a:t>。</a:t>
            </a:r>
            <a:endParaRPr lang="en-US" sz="1400" dirty="0"/>
          </a:p>
        </p:txBody>
      </p:sp>
      <p:sp>
        <p:nvSpPr>
          <p:cNvPr id="17" name="AutoShape 33">
            <a:extLst>
              <a:ext uri="{FF2B5EF4-FFF2-40B4-BE49-F238E27FC236}">
                <a16:creationId xmlns:a16="http://schemas.microsoft.com/office/drawing/2014/main" id="{F36B17AD-012F-6E7B-9206-3E716FE23000}"/>
              </a:ext>
            </a:extLst>
          </p:cNvPr>
          <p:cNvSpPr/>
          <p:nvPr/>
        </p:nvSpPr>
        <p:spPr>
          <a:xfrm>
            <a:off x="8394700" y="3441700"/>
            <a:ext cx="1905000" cy="558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244C89"/>
                </a:solidFill>
                <a:latin typeface="Noto Sans SC"/>
                <a:ea typeface="Noto Sans SC"/>
                <a:cs typeface="Noto Sans SC"/>
                <a:sym typeface="Noto Sans SC"/>
              </a:rPr>
              <a:t>成员二 (同学C)</a:t>
            </a:r>
            <a:endParaRPr lang="en-US" sz="1100"/>
          </a:p>
        </p:txBody>
      </p:sp>
    </p:spTree>
    <p:extLst>
      <p:ext uri="{BB962C8B-B14F-4D97-AF65-F5344CB8AC3E}">
        <p14:creationId xmlns:p14="http://schemas.microsoft.com/office/powerpoint/2010/main" val="16225479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anim calcmode="lin" valueType="num">
                                      <p:cBhvr>
                                        <p:cTn id="8" dur="250" fill="hold"/>
                                        <p:tgtEl>
                                          <p:spTgt spid="11"/>
                                        </p:tgtEl>
                                        <p:attrNameLst>
                                          <p:attrName>ppt_x</p:attrName>
                                        </p:attrNameLst>
                                      </p:cBhvr>
                                      <p:tavLst>
                                        <p:tav tm="0">
                                          <p:val>
                                            <p:strVal val="#ppt_x"/>
                                          </p:val>
                                        </p:tav>
                                        <p:tav tm="100000">
                                          <p:val>
                                            <p:strVal val="#ppt_x"/>
                                          </p:val>
                                        </p:tav>
                                      </p:tavLst>
                                    </p:anim>
                                    <p:anim calcmode="lin" valueType="num">
                                      <p:cBhvr>
                                        <p:cTn id="9" dur="25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250"/>
                                        <p:tgtEl>
                                          <p:spTgt spid="15"/>
                                        </p:tgtEl>
                                      </p:cBhvr>
                                    </p:animEffect>
                                    <p:anim calcmode="lin" valueType="num">
                                      <p:cBhvr>
                                        <p:cTn id="13" dur="250" fill="hold"/>
                                        <p:tgtEl>
                                          <p:spTgt spid="15"/>
                                        </p:tgtEl>
                                        <p:attrNameLst>
                                          <p:attrName>ppt_x</p:attrName>
                                        </p:attrNameLst>
                                      </p:cBhvr>
                                      <p:tavLst>
                                        <p:tav tm="0">
                                          <p:val>
                                            <p:strVal val="#ppt_x"/>
                                          </p:val>
                                        </p:tav>
                                        <p:tav tm="100000">
                                          <p:val>
                                            <p:strVal val="#ppt_x"/>
                                          </p:val>
                                        </p:tav>
                                      </p:tavLst>
                                    </p:anim>
                                    <p:anim calcmode="lin" valueType="num">
                                      <p:cBhvr>
                                        <p:cTn id="14" dur="25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anim calcmode="lin" valueType="num">
                                      <p:cBhvr>
                                        <p:cTn id="18" dur="250" fill="hold"/>
                                        <p:tgtEl>
                                          <p:spTgt spid="14"/>
                                        </p:tgtEl>
                                        <p:attrNameLst>
                                          <p:attrName>ppt_x</p:attrName>
                                        </p:attrNameLst>
                                      </p:cBhvr>
                                      <p:tavLst>
                                        <p:tav tm="0">
                                          <p:val>
                                            <p:strVal val="#ppt_x"/>
                                          </p:val>
                                        </p:tav>
                                        <p:tav tm="100000">
                                          <p:val>
                                            <p:strVal val="#ppt_x"/>
                                          </p:val>
                                        </p:tav>
                                      </p:tavLst>
                                    </p:anim>
                                    <p:anim calcmode="lin" valueType="num">
                                      <p:cBhvr>
                                        <p:cTn id="19" dur="25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250"/>
                                        <p:tgtEl>
                                          <p:spTgt spid="2"/>
                                        </p:tgtEl>
                                      </p:cBhvr>
                                    </p:animEffect>
                                    <p:anim calcmode="lin" valueType="num">
                                      <p:cBhvr>
                                        <p:cTn id="23" dur="250" fill="hold"/>
                                        <p:tgtEl>
                                          <p:spTgt spid="2"/>
                                        </p:tgtEl>
                                        <p:attrNameLst>
                                          <p:attrName>ppt_x</p:attrName>
                                        </p:attrNameLst>
                                      </p:cBhvr>
                                      <p:tavLst>
                                        <p:tav tm="0">
                                          <p:val>
                                            <p:strVal val="#ppt_x"/>
                                          </p:val>
                                        </p:tav>
                                        <p:tav tm="100000">
                                          <p:val>
                                            <p:strVal val="#ppt_x"/>
                                          </p:val>
                                        </p:tav>
                                      </p:tavLst>
                                    </p:anim>
                                    <p:anim calcmode="lin" valueType="num">
                                      <p:cBhvr>
                                        <p:cTn id="24" dur="250" fill="hold"/>
                                        <p:tgtEl>
                                          <p:spTgt spid="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250"/>
                                        <p:tgtEl>
                                          <p:spTgt spid="3"/>
                                        </p:tgtEl>
                                      </p:cBhvr>
                                    </p:animEffect>
                                    <p:anim calcmode="lin" valueType="num">
                                      <p:cBhvr>
                                        <p:cTn id="28" dur="250" fill="hold"/>
                                        <p:tgtEl>
                                          <p:spTgt spid="3"/>
                                        </p:tgtEl>
                                        <p:attrNameLst>
                                          <p:attrName>ppt_x</p:attrName>
                                        </p:attrNameLst>
                                      </p:cBhvr>
                                      <p:tavLst>
                                        <p:tav tm="0">
                                          <p:val>
                                            <p:strVal val="#ppt_x"/>
                                          </p:val>
                                        </p:tav>
                                        <p:tav tm="100000">
                                          <p:val>
                                            <p:strVal val="#ppt_x"/>
                                          </p:val>
                                        </p:tav>
                                      </p:tavLst>
                                    </p:anim>
                                    <p:anim calcmode="lin" valueType="num">
                                      <p:cBhvr>
                                        <p:cTn id="29" dur="250" fill="hold"/>
                                        <p:tgtEl>
                                          <p:spTgt spid="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250"/>
                                        <p:tgtEl>
                                          <p:spTgt spid="6"/>
                                        </p:tgtEl>
                                      </p:cBhvr>
                                    </p:animEffect>
                                    <p:anim calcmode="lin" valueType="num">
                                      <p:cBhvr>
                                        <p:cTn id="33" dur="250" fill="hold"/>
                                        <p:tgtEl>
                                          <p:spTgt spid="6"/>
                                        </p:tgtEl>
                                        <p:attrNameLst>
                                          <p:attrName>ppt_x</p:attrName>
                                        </p:attrNameLst>
                                      </p:cBhvr>
                                      <p:tavLst>
                                        <p:tav tm="0">
                                          <p:val>
                                            <p:strVal val="#ppt_x"/>
                                          </p:val>
                                        </p:tav>
                                        <p:tav tm="100000">
                                          <p:val>
                                            <p:strVal val="#ppt_x"/>
                                          </p:val>
                                        </p:tav>
                                      </p:tavLst>
                                    </p:anim>
                                    <p:anim calcmode="lin" valueType="num">
                                      <p:cBhvr>
                                        <p:cTn id="34" dur="250" fill="hold"/>
                                        <p:tgtEl>
                                          <p:spTgt spid="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50"/>
                                        <p:tgtEl>
                                          <p:spTgt spid="8"/>
                                        </p:tgtEl>
                                      </p:cBhvr>
                                    </p:animEffect>
                                    <p:anim calcmode="lin" valueType="num">
                                      <p:cBhvr>
                                        <p:cTn id="38" dur="250" fill="hold"/>
                                        <p:tgtEl>
                                          <p:spTgt spid="8"/>
                                        </p:tgtEl>
                                        <p:attrNameLst>
                                          <p:attrName>ppt_x</p:attrName>
                                        </p:attrNameLst>
                                      </p:cBhvr>
                                      <p:tavLst>
                                        <p:tav tm="0">
                                          <p:val>
                                            <p:strVal val="#ppt_x"/>
                                          </p:val>
                                        </p:tav>
                                        <p:tav tm="100000">
                                          <p:val>
                                            <p:strVal val="#ppt_x"/>
                                          </p:val>
                                        </p:tav>
                                      </p:tavLst>
                                    </p:anim>
                                    <p:anim calcmode="lin" valueType="num">
                                      <p:cBhvr>
                                        <p:cTn id="39" dur="25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50"/>
                                        <p:tgtEl>
                                          <p:spTgt spid="16"/>
                                        </p:tgtEl>
                                      </p:cBhvr>
                                    </p:animEffect>
                                    <p:anim calcmode="lin" valueType="num">
                                      <p:cBhvr>
                                        <p:cTn id="43" dur="250" fill="hold"/>
                                        <p:tgtEl>
                                          <p:spTgt spid="16"/>
                                        </p:tgtEl>
                                        <p:attrNameLst>
                                          <p:attrName>ppt_x</p:attrName>
                                        </p:attrNameLst>
                                      </p:cBhvr>
                                      <p:tavLst>
                                        <p:tav tm="0">
                                          <p:val>
                                            <p:strVal val="#ppt_x"/>
                                          </p:val>
                                        </p:tav>
                                        <p:tav tm="100000">
                                          <p:val>
                                            <p:strVal val="#ppt_x"/>
                                          </p:val>
                                        </p:tav>
                                      </p:tavLst>
                                    </p:anim>
                                    <p:anim calcmode="lin" valueType="num">
                                      <p:cBhvr>
                                        <p:cTn id="44" dur="25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250"/>
                                        <p:tgtEl>
                                          <p:spTgt spid="17"/>
                                        </p:tgtEl>
                                      </p:cBhvr>
                                    </p:animEffect>
                                    <p:anim calcmode="lin" valueType="num">
                                      <p:cBhvr>
                                        <p:cTn id="48" dur="250" fill="hold"/>
                                        <p:tgtEl>
                                          <p:spTgt spid="17"/>
                                        </p:tgtEl>
                                        <p:attrNameLst>
                                          <p:attrName>ppt_x</p:attrName>
                                        </p:attrNameLst>
                                      </p:cBhvr>
                                      <p:tavLst>
                                        <p:tav tm="0">
                                          <p:val>
                                            <p:strVal val="#ppt_x"/>
                                          </p:val>
                                        </p:tav>
                                        <p:tav tm="100000">
                                          <p:val>
                                            <p:strVal val="#ppt_x"/>
                                          </p:val>
                                        </p:tav>
                                      </p:tavLst>
                                    </p:anim>
                                    <p:anim calcmode="lin" valueType="num">
                                      <p:cBhvr>
                                        <p:cTn id="49" dur="25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8" grpId="0"/>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8876-AF71-8DFC-EA67-F0DC9D7D95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F29407-3034-2107-A4E6-557B631F743D}"/>
              </a:ext>
            </a:extLst>
          </p:cNvPr>
          <p:cNvSpPr>
            <a:spLocks noGrp="1"/>
          </p:cNvSpPr>
          <p:nvPr>
            <p:ph type="title"/>
          </p:nvPr>
        </p:nvSpPr>
        <p:spPr/>
        <p:txBody>
          <a:bodyPr/>
          <a:lstStyle/>
          <a:p>
            <a:pPr>
              <a:lnSpc>
                <a:spcPct val="116666"/>
              </a:lnSpc>
              <a:defRPr/>
            </a:pPr>
            <a:r>
              <a:rPr lang="en-US" altLang="zh-CN" dirty="0" err="1">
                <a:latin typeface="Noto Sans SC"/>
                <a:ea typeface="Noto Sans SC"/>
                <a:cs typeface="Noto Sans SC"/>
                <a:sym typeface="Noto Sans SC"/>
              </a:rPr>
              <a:t>项目时间安排</a:t>
            </a:r>
            <a:endParaRPr lang="en-US" altLang="zh-CN" sz="1100" dirty="0"/>
          </a:p>
        </p:txBody>
      </p:sp>
      <p:sp>
        <p:nvSpPr>
          <p:cNvPr id="21" name="椭圆 54">
            <a:extLst>
              <a:ext uri="{FF2B5EF4-FFF2-40B4-BE49-F238E27FC236}">
                <a16:creationId xmlns:a16="http://schemas.microsoft.com/office/drawing/2014/main" id="{CD9F2D5F-63EA-28FD-798B-62CF415AE6C0}"/>
              </a:ext>
            </a:extLst>
          </p:cNvPr>
          <p:cNvSpPr/>
          <p:nvPr/>
        </p:nvSpPr>
        <p:spPr>
          <a:xfrm>
            <a:off x="3723131" y="2794965"/>
            <a:ext cx="4617000" cy="2392601"/>
          </a:xfrm>
          <a:custGeom>
            <a:avLst/>
            <a:gdLst>
              <a:gd name="connsiteX0" fmla="*/ 0 w 3439659"/>
              <a:gd name="connsiteY0" fmla="*/ 1719830 h 3439659"/>
              <a:gd name="connsiteX1" fmla="*/ 1719830 w 3439659"/>
              <a:gd name="connsiteY1" fmla="*/ 0 h 3439659"/>
              <a:gd name="connsiteX2" fmla="*/ 3439660 w 3439659"/>
              <a:gd name="connsiteY2" fmla="*/ 1719830 h 3439659"/>
              <a:gd name="connsiteX3" fmla="*/ 1719830 w 3439659"/>
              <a:gd name="connsiteY3" fmla="*/ 3439660 h 3439659"/>
              <a:gd name="connsiteX4" fmla="*/ 0 w 3439659"/>
              <a:gd name="connsiteY4" fmla="*/ 1719830 h 3439659"/>
              <a:gd name="connsiteX0-1" fmla="*/ 0 w 3487467"/>
              <a:gd name="connsiteY0-2" fmla="*/ 0 h 1719830"/>
              <a:gd name="connsiteX1-3" fmla="*/ 3439660 w 3487467"/>
              <a:gd name="connsiteY1-4" fmla="*/ 0 h 1719830"/>
              <a:gd name="connsiteX2-5" fmla="*/ 1719830 w 3487467"/>
              <a:gd name="connsiteY2-6" fmla="*/ 1719830 h 1719830"/>
              <a:gd name="connsiteX3-7" fmla="*/ 0 w 3487467"/>
              <a:gd name="connsiteY3-8" fmla="*/ 0 h 1719830"/>
              <a:gd name="connsiteX0-9" fmla="*/ 6132 w 3493599"/>
              <a:gd name="connsiteY0-10" fmla="*/ 130018 h 1849848"/>
              <a:gd name="connsiteX1-11" fmla="*/ 3445792 w 3493599"/>
              <a:gd name="connsiteY1-12" fmla="*/ 130018 h 1849848"/>
              <a:gd name="connsiteX2-13" fmla="*/ 1725962 w 3493599"/>
              <a:gd name="connsiteY2-14" fmla="*/ 1849848 h 1849848"/>
              <a:gd name="connsiteX3-15" fmla="*/ 6132 w 3493599"/>
              <a:gd name="connsiteY3-16" fmla="*/ 130018 h 1849848"/>
              <a:gd name="connsiteX0-17" fmla="*/ 6132 w 3493599"/>
              <a:gd name="connsiteY0-18" fmla="*/ 35412 h 1755242"/>
              <a:gd name="connsiteX1-19" fmla="*/ 3445792 w 3493599"/>
              <a:gd name="connsiteY1-20" fmla="*/ 35412 h 1755242"/>
              <a:gd name="connsiteX2-21" fmla="*/ 1725962 w 3493599"/>
              <a:gd name="connsiteY2-22" fmla="*/ 1755242 h 1755242"/>
              <a:gd name="connsiteX3-23" fmla="*/ 6132 w 3493599"/>
              <a:gd name="connsiteY3-24" fmla="*/ 35412 h 1755242"/>
              <a:gd name="connsiteX0-25" fmla="*/ 4377 w 3488420"/>
              <a:gd name="connsiteY0-26" fmla="*/ 11795 h 1772900"/>
              <a:gd name="connsiteX1-27" fmla="*/ 3450912 w 3488420"/>
              <a:gd name="connsiteY1-28" fmla="*/ 53046 h 1772900"/>
              <a:gd name="connsiteX2-29" fmla="*/ 1731082 w 3488420"/>
              <a:gd name="connsiteY2-30" fmla="*/ 1772876 h 1772900"/>
              <a:gd name="connsiteX3-31" fmla="*/ 4377 w 3488420"/>
              <a:gd name="connsiteY3-32" fmla="*/ 11795 h 1772900"/>
              <a:gd name="connsiteX0-33" fmla="*/ 39013 w 3522446"/>
              <a:gd name="connsiteY0-34" fmla="*/ 134148 h 1909003"/>
              <a:gd name="connsiteX1-35" fmla="*/ 3485548 w 3522446"/>
              <a:gd name="connsiteY1-36" fmla="*/ 175399 h 1909003"/>
              <a:gd name="connsiteX2-37" fmla="*/ 1738217 w 3522446"/>
              <a:gd name="connsiteY2-38" fmla="*/ 1908979 h 1909003"/>
              <a:gd name="connsiteX3-39" fmla="*/ 39013 w 3522446"/>
              <a:gd name="connsiteY3-40" fmla="*/ 134148 h 1909003"/>
              <a:gd name="connsiteX0-41" fmla="*/ 55067 w 3553265"/>
              <a:gd name="connsiteY0-42" fmla="*/ 134148 h 1909002"/>
              <a:gd name="connsiteX1-43" fmla="*/ 3501602 w 3553265"/>
              <a:gd name="connsiteY1-44" fmla="*/ 175399 h 1909002"/>
              <a:gd name="connsiteX2-45" fmla="*/ 1754271 w 3553265"/>
              <a:gd name="connsiteY2-46" fmla="*/ 1908979 h 1909002"/>
              <a:gd name="connsiteX3-47" fmla="*/ 55067 w 3553265"/>
              <a:gd name="connsiteY3-48" fmla="*/ 134148 h 1909002"/>
              <a:gd name="connsiteX0-49" fmla="*/ 39426 w 3502160"/>
              <a:gd name="connsiteY0-50" fmla="*/ 134148 h 1909003"/>
              <a:gd name="connsiteX1-51" fmla="*/ 3465335 w 3502160"/>
              <a:gd name="connsiteY1-52" fmla="*/ 175399 h 1909003"/>
              <a:gd name="connsiteX2-53" fmla="*/ 1718004 w 3502160"/>
              <a:gd name="connsiteY2-54" fmla="*/ 1908979 h 1909003"/>
              <a:gd name="connsiteX3-55" fmla="*/ 39426 w 3502160"/>
              <a:gd name="connsiteY3-56" fmla="*/ 134148 h 1909003"/>
              <a:gd name="connsiteX0-57" fmla="*/ 8999 w 3471733"/>
              <a:gd name="connsiteY0-58" fmla="*/ 21578 h 1796433"/>
              <a:gd name="connsiteX1-59" fmla="*/ 3434908 w 3471733"/>
              <a:gd name="connsiteY1-60" fmla="*/ 62829 h 1796433"/>
              <a:gd name="connsiteX2-61" fmla="*/ 1687577 w 3471733"/>
              <a:gd name="connsiteY2-62" fmla="*/ 1796409 h 1796433"/>
              <a:gd name="connsiteX3-63" fmla="*/ 8999 w 3471733"/>
              <a:gd name="connsiteY3-64" fmla="*/ 21578 h 1796433"/>
              <a:gd name="connsiteX0-65" fmla="*/ 39425 w 3502159"/>
              <a:gd name="connsiteY0-66" fmla="*/ 135675 h 1931154"/>
              <a:gd name="connsiteX1-67" fmla="*/ 3465334 w 3502159"/>
              <a:gd name="connsiteY1-68" fmla="*/ 176926 h 1931154"/>
              <a:gd name="connsiteX2-69" fmla="*/ 1718003 w 3502159"/>
              <a:gd name="connsiteY2-70" fmla="*/ 1931131 h 1931154"/>
              <a:gd name="connsiteX3-71" fmla="*/ 39425 w 3502159"/>
              <a:gd name="connsiteY3-72" fmla="*/ 135675 h 1931154"/>
              <a:gd name="connsiteX0-73" fmla="*/ 7276 w 3470010"/>
              <a:gd name="connsiteY0-74" fmla="*/ 26065 h 1821544"/>
              <a:gd name="connsiteX1-75" fmla="*/ 3433185 w 3470010"/>
              <a:gd name="connsiteY1-76" fmla="*/ 67316 h 1821544"/>
              <a:gd name="connsiteX2-77" fmla="*/ 1685854 w 3470010"/>
              <a:gd name="connsiteY2-78" fmla="*/ 1821521 h 1821544"/>
              <a:gd name="connsiteX3-79" fmla="*/ 7276 w 3470010"/>
              <a:gd name="connsiteY3-80" fmla="*/ 26065 h 1821544"/>
              <a:gd name="connsiteX0-81" fmla="*/ 12669 w 3492943"/>
              <a:gd name="connsiteY0-82" fmla="*/ 26065 h 1822469"/>
              <a:gd name="connsiteX1-83" fmla="*/ 3438578 w 3492943"/>
              <a:gd name="connsiteY1-84" fmla="*/ 67316 h 1822469"/>
              <a:gd name="connsiteX2-85" fmla="*/ 1691247 w 3492943"/>
              <a:gd name="connsiteY2-86" fmla="*/ 1821521 h 1822469"/>
              <a:gd name="connsiteX3-87" fmla="*/ 12669 w 3492943"/>
              <a:gd name="connsiteY3-88" fmla="*/ 26065 h 1822469"/>
              <a:gd name="connsiteX0-89" fmla="*/ 48756 w 3529030"/>
              <a:gd name="connsiteY0-90" fmla="*/ 3139 h 1799516"/>
              <a:gd name="connsiteX1-91" fmla="*/ 3474665 w 3529030"/>
              <a:gd name="connsiteY1-92" fmla="*/ 44390 h 1799516"/>
              <a:gd name="connsiteX2-93" fmla="*/ 1727334 w 3529030"/>
              <a:gd name="connsiteY2-94" fmla="*/ 1798595 h 1799516"/>
              <a:gd name="connsiteX3-95" fmla="*/ 48756 w 3529030"/>
              <a:gd name="connsiteY3-96" fmla="*/ 3139 h 1799516"/>
              <a:gd name="connsiteX0-97" fmla="*/ 48756 w 3529030"/>
              <a:gd name="connsiteY0-98" fmla="*/ 5796 h 1802173"/>
              <a:gd name="connsiteX1-99" fmla="*/ 3474665 w 3529030"/>
              <a:gd name="connsiteY1-100" fmla="*/ 47047 h 1802173"/>
              <a:gd name="connsiteX2-101" fmla="*/ 1727334 w 3529030"/>
              <a:gd name="connsiteY2-102" fmla="*/ 1801252 h 1802173"/>
              <a:gd name="connsiteX3-103" fmla="*/ 48756 w 3529030"/>
              <a:gd name="connsiteY3-104" fmla="*/ 5796 h 1802173"/>
              <a:gd name="connsiteX0-105" fmla="*/ 48756 w 3477652"/>
              <a:gd name="connsiteY0-106" fmla="*/ 5796 h 1802173"/>
              <a:gd name="connsiteX1-107" fmla="*/ 3474665 w 3477652"/>
              <a:gd name="connsiteY1-108" fmla="*/ 47047 h 1802173"/>
              <a:gd name="connsiteX2-109" fmla="*/ 1727334 w 3477652"/>
              <a:gd name="connsiteY2-110" fmla="*/ 1801252 h 1802173"/>
              <a:gd name="connsiteX3-111" fmla="*/ 48756 w 3477652"/>
              <a:gd name="connsiteY3-112" fmla="*/ 5796 h 1802173"/>
            </a:gdLst>
            <a:ahLst/>
            <a:cxnLst>
              <a:cxn ang="0">
                <a:pos x="connsiteX0-1" y="connsiteY0-2"/>
              </a:cxn>
              <a:cxn ang="0">
                <a:pos x="connsiteX1-3" y="connsiteY1-4"/>
              </a:cxn>
              <a:cxn ang="0">
                <a:pos x="connsiteX2-5" y="connsiteY2-6"/>
              </a:cxn>
              <a:cxn ang="0">
                <a:pos x="connsiteX3-7" y="connsiteY3-8"/>
              </a:cxn>
            </a:cxnLst>
            <a:rect l="l" t="t" r="r" b="b"/>
            <a:pathLst>
              <a:path w="3477652" h="1802173">
                <a:moveTo>
                  <a:pt x="48756" y="5796"/>
                </a:moveTo>
                <a:cubicBezTo>
                  <a:pt x="305602" y="15937"/>
                  <a:pt x="3181151" y="-33335"/>
                  <a:pt x="3474665" y="47047"/>
                </a:cubicBezTo>
                <a:cubicBezTo>
                  <a:pt x="3527547" y="271809"/>
                  <a:pt x="2875835" y="1753126"/>
                  <a:pt x="1727334" y="1801252"/>
                </a:cubicBezTo>
                <a:cubicBezTo>
                  <a:pt x="578833" y="1849378"/>
                  <a:pt x="-208090" y="-4345"/>
                  <a:pt x="48756" y="5796"/>
                </a:cubicBezTo>
                <a:close/>
              </a:path>
            </a:pathLst>
          </a:cu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prstClr val="white"/>
              </a:solidFill>
              <a:latin typeface="思源黑体" panose="020B0500000000000000" pitchFamily="34" charset="-122"/>
              <a:ea typeface="思源黑体" panose="020B0500000000000000" pitchFamily="34" charset="-122"/>
            </a:endParaRPr>
          </a:p>
        </p:txBody>
      </p:sp>
      <p:sp>
        <p:nvSpPr>
          <p:cNvPr id="22" name="TextBox 1">
            <a:extLst>
              <a:ext uri="{FF2B5EF4-FFF2-40B4-BE49-F238E27FC236}">
                <a16:creationId xmlns:a16="http://schemas.microsoft.com/office/drawing/2014/main" id="{D3F54FE1-AB3A-8079-2647-E59CF15D634B}"/>
              </a:ext>
            </a:extLst>
          </p:cNvPr>
          <p:cNvSpPr txBox="1"/>
          <p:nvPr/>
        </p:nvSpPr>
        <p:spPr>
          <a:xfrm>
            <a:off x="1014622" y="2279491"/>
            <a:ext cx="2463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2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文献调研与技术学习</a:t>
            </a:r>
          </a:p>
        </p:txBody>
      </p:sp>
      <p:cxnSp>
        <p:nvCxnSpPr>
          <p:cNvPr id="35" name="直接连接符 34">
            <a:extLst>
              <a:ext uri="{FF2B5EF4-FFF2-40B4-BE49-F238E27FC236}">
                <a16:creationId xmlns:a16="http://schemas.microsoft.com/office/drawing/2014/main" id="{1AA56623-3D50-D86D-815E-AF1C2DFCEC47}"/>
              </a:ext>
            </a:extLst>
          </p:cNvPr>
          <p:cNvCxnSpPr/>
          <p:nvPr/>
        </p:nvCxnSpPr>
        <p:spPr>
          <a:xfrm flipV="1">
            <a:off x="4012227" y="2789677"/>
            <a:ext cx="1990299" cy="13997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9DCADE06-F375-D861-8E50-64E1B2078044}"/>
              </a:ext>
            </a:extLst>
          </p:cNvPr>
          <p:cNvCxnSpPr/>
          <p:nvPr/>
        </p:nvCxnSpPr>
        <p:spPr>
          <a:xfrm flipV="1">
            <a:off x="5171021" y="2789678"/>
            <a:ext cx="831504" cy="23624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7CB455D-59C9-0057-E140-3BD006FAE300}"/>
              </a:ext>
            </a:extLst>
          </p:cNvPr>
          <p:cNvCxnSpPr/>
          <p:nvPr/>
        </p:nvCxnSpPr>
        <p:spPr>
          <a:xfrm flipH="1" flipV="1">
            <a:off x="6002530" y="2789711"/>
            <a:ext cx="890263" cy="22797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AFA21B5-D05F-43C0-8C46-69A6458D989E}"/>
              </a:ext>
            </a:extLst>
          </p:cNvPr>
          <p:cNvCxnSpPr/>
          <p:nvPr/>
        </p:nvCxnSpPr>
        <p:spPr>
          <a:xfrm flipH="1" flipV="1">
            <a:off x="6002526" y="2789677"/>
            <a:ext cx="1945282" cy="13997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椭圆 38">
            <a:extLst>
              <a:ext uri="{FF2B5EF4-FFF2-40B4-BE49-F238E27FC236}">
                <a16:creationId xmlns:a16="http://schemas.microsoft.com/office/drawing/2014/main" id="{8EC9B036-B016-706D-8742-22D2CC0AE57B}"/>
              </a:ext>
            </a:extLst>
          </p:cNvPr>
          <p:cNvSpPr/>
          <p:nvPr/>
        </p:nvSpPr>
        <p:spPr>
          <a:xfrm>
            <a:off x="3747506" y="3661289"/>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02</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0" name="椭圆 39">
            <a:extLst>
              <a:ext uri="{FF2B5EF4-FFF2-40B4-BE49-F238E27FC236}">
                <a16:creationId xmlns:a16="http://schemas.microsoft.com/office/drawing/2014/main" id="{D4D50902-7519-9EA0-1C77-AD2F395AB2FE}"/>
              </a:ext>
            </a:extLst>
          </p:cNvPr>
          <p:cNvSpPr/>
          <p:nvPr/>
        </p:nvSpPr>
        <p:spPr>
          <a:xfrm>
            <a:off x="4785026" y="4631195"/>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03</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1" name="椭圆 40">
            <a:extLst>
              <a:ext uri="{FF2B5EF4-FFF2-40B4-BE49-F238E27FC236}">
                <a16:creationId xmlns:a16="http://schemas.microsoft.com/office/drawing/2014/main" id="{C0871C9B-47DC-ABA1-45D4-6232FDE497E2}"/>
              </a:ext>
            </a:extLst>
          </p:cNvPr>
          <p:cNvSpPr/>
          <p:nvPr/>
        </p:nvSpPr>
        <p:spPr>
          <a:xfrm>
            <a:off x="6447658" y="4586402"/>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04</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2" name="椭圆 41">
            <a:extLst>
              <a:ext uri="{FF2B5EF4-FFF2-40B4-BE49-F238E27FC236}">
                <a16:creationId xmlns:a16="http://schemas.microsoft.com/office/drawing/2014/main" id="{39FA0FA4-C74C-6752-032F-DE6155F8D767}"/>
              </a:ext>
            </a:extLst>
          </p:cNvPr>
          <p:cNvSpPr/>
          <p:nvPr/>
        </p:nvSpPr>
        <p:spPr>
          <a:xfrm>
            <a:off x="7447943" y="3532697"/>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05</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3" name="椭圆 42">
            <a:extLst>
              <a:ext uri="{FF2B5EF4-FFF2-40B4-BE49-F238E27FC236}">
                <a16:creationId xmlns:a16="http://schemas.microsoft.com/office/drawing/2014/main" id="{2CE79414-0439-8A4D-A59C-E7A2F9696D50}"/>
              </a:ext>
            </a:extLst>
          </p:cNvPr>
          <p:cNvSpPr/>
          <p:nvPr/>
        </p:nvSpPr>
        <p:spPr>
          <a:xfrm>
            <a:off x="7844203" y="2380701"/>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06</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4" name="椭圆 43">
            <a:extLst>
              <a:ext uri="{FF2B5EF4-FFF2-40B4-BE49-F238E27FC236}">
                <a16:creationId xmlns:a16="http://schemas.microsoft.com/office/drawing/2014/main" id="{111B63CD-0CB7-D76D-40E6-3126E919A0B2}"/>
              </a:ext>
            </a:extLst>
          </p:cNvPr>
          <p:cNvSpPr/>
          <p:nvPr/>
        </p:nvSpPr>
        <p:spPr>
          <a:xfrm>
            <a:off x="3374820" y="2365562"/>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01</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5" name="TextBox 34">
            <a:extLst>
              <a:ext uri="{FF2B5EF4-FFF2-40B4-BE49-F238E27FC236}">
                <a16:creationId xmlns:a16="http://schemas.microsoft.com/office/drawing/2014/main" id="{1280FA7D-CDEC-1A46-BBF2-4B273669C67C}"/>
              </a:ext>
            </a:extLst>
          </p:cNvPr>
          <p:cNvSpPr txBox="1"/>
          <p:nvPr/>
        </p:nvSpPr>
        <p:spPr>
          <a:xfrm>
            <a:off x="1109452" y="2616021"/>
            <a:ext cx="2265368" cy="959943"/>
          </a:xfrm>
          <a:prstGeom prst="rect">
            <a:avLst/>
          </a:prstGeom>
          <a:noFill/>
        </p:spPr>
        <p:txBody>
          <a:bodyPr wrap="square" rtlCol="0">
            <a:spAutoFit/>
          </a:bodyPr>
          <a:lstStyle/>
          <a:p>
            <a:pPr algn="just">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2026.06–2026.07</a:t>
            </a: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研读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CBMBA A*</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、人工势场法及 </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Webots</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AirSim</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文档，完成文献综述初稿</a:t>
            </a:r>
          </a:p>
        </p:txBody>
      </p:sp>
      <p:sp>
        <p:nvSpPr>
          <p:cNvPr id="46" name="TextBox 35">
            <a:extLst>
              <a:ext uri="{FF2B5EF4-FFF2-40B4-BE49-F238E27FC236}">
                <a16:creationId xmlns:a16="http://schemas.microsoft.com/office/drawing/2014/main" id="{B289958F-2575-919E-3F7C-507BA4D251BD}"/>
              </a:ext>
            </a:extLst>
          </p:cNvPr>
          <p:cNvSpPr txBox="1"/>
          <p:nvPr/>
        </p:nvSpPr>
        <p:spPr>
          <a:xfrm>
            <a:off x="1167142" y="3720713"/>
            <a:ext cx="240841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r">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三维场景建模与验证	</a:t>
            </a:r>
          </a:p>
        </p:txBody>
      </p:sp>
      <p:sp>
        <p:nvSpPr>
          <p:cNvPr id="47" name="TextBox 36">
            <a:extLst>
              <a:ext uri="{FF2B5EF4-FFF2-40B4-BE49-F238E27FC236}">
                <a16:creationId xmlns:a16="http://schemas.microsoft.com/office/drawing/2014/main" id="{A6CACE43-C54F-4A2E-1BD0-1D8385B48F83}"/>
              </a:ext>
            </a:extLst>
          </p:cNvPr>
          <p:cNvSpPr txBox="1"/>
          <p:nvPr/>
        </p:nvSpPr>
        <p:spPr>
          <a:xfrm>
            <a:off x="1377911" y="3989205"/>
            <a:ext cx="2730333" cy="959943"/>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2026.08–2026.10</a:t>
            </a: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从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OpenStreetMap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获取建筑数据，</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Blender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建模优化，导入 </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Webots</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验证场景可用性的</a:t>
            </a:r>
          </a:p>
        </p:txBody>
      </p:sp>
      <p:sp>
        <p:nvSpPr>
          <p:cNvPr id="48" name="TextBox 37">
            <a:extLst>
              <a:ext uri="{FF2B5EF4-FFF2-40B4-BE49-F238E27FC236}">
                <a16:creationId xmlns:a16="http://schemas.microsoft.com/office/drawing/2014/main" id="{613B574E-67FC-31E2-ABBA-F2769C5AF1D5}"/>
              </a:ext>
            </a:extLst>
          </p:cNvPr>
          <p:cNvSpPr txBox="1"/>
          <p:nvPr/>
        </p:nvSpPr>
        <p:spPr>
          <a:xfrm>
            <a:off x="2009418" y="5030298"/>
            <a:ext cx="2730334" cy="2797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r">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全局路径规划模块开发</a:t>
            </a:r>
          </a:p>
        </p:txBody>
      </p:sp>
      <p:sp>
        <p:nvSpPr>
          <p:cNvPr id="49" name="TextBox 38">
            <a:extLst>
              <a:ext uri="{FF2B5EF4-FFF2-40B4-BE49-F238E27FC236}">
                <a16:creationId xmlns:a16="http://schemas.microsoft.com/office/drawing/2014/main" id="{7D18E561-B7F7-B1DB-3D6D-95BA3DDB98AE}"/>
              </a:ext>
            </a:extLst>
          </p:cNvPr>
          <p:cNvSpPr txBox="1"/>
          <p:nvPr/>
        </p:nvSpPr>
        <p:spPr>
          <a:xfrm>
            <a:off x="2301351" y="5310062"/>
            <a:ext cx="2346643" cy="959943"/>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2026.10–2026.12</a:t>
            </a: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实现 </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OctoMap</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八叉树地图，完成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CBMBA A *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算法三维适配与核心代码编写</a:t>
            </a:r>
          </a:p>
        </p:txBody>
      </p:sp>
      <p:sp>
        <p:nvSpPr>
          <p:cNvPr id="50" name="TextBox 39">
            <a:extLst>
              <a:ext uri="{FF2B5EF4-FFF2-40B4-BE49-F238E27FC236}">
                <a16:creationId xmlns:a16="http://schemas.microsoft.com/office/drawing/2014/main" id="{346C9E2A-6EC2-3195-D6E6-A848A95F3D99}"/>
              </a:ext>
            </a:extLst>
          </p:cNvPr>
          <p:cNvSpPr txBox="1"/>
          <p:nvPr/>
        </p:nvSpPr>
        <p:spPr>
          <a:xfrm>
            <a:off x="7337921" y="4927707"/>
            <a:ext cx="3137617"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局部避障与融合策略开发</a:t>
            </a:r>
          </a:p>
        </p:txBody>
      </p:sp>
      <p:sp>
        <p:nvSpPr>
          <p:cNvPr id="51" name="TextBox 40">
            <a:extLst>
              <a:ext uri="{FF2B5EF4-FFF2-40B4-BE49-F238E27FC236}">
                <a16:creationId xmlns:a16="http://schemas.microsoft.com/office/drawing/2014/main" id="{F11496E9-FEAC-6B96-3D04-C5CAC639FF0C}"/>
              </a:ext>
            </a:extLst>
          </p:cNvPr>
          <p:cNvSpPr txBox="1"/>
          <p:nvPr/>
        </p:nvSpPr>
        <p:spPr>
          <a:xfrm>
            <a:off x="7447943" y="5224105"/>
            <a:ext cx="2414720" cy="959943"/>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2027.01–2027.03</a:t>
            </a: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实现改进人工势场法，开发传感器模拟接口，设计全局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局部避障融合策略</a:t>
            </a:r>
          </a:p>
        </p:txBody>
      </p:sp>
      <p:sp>
        <p:nvSpPr>
          <p:cNvPr id="52" name="TextBox 41">
            <a:extLst>
              <a:ext uri="{FF2B5EF4-FFF2-40B4-BE49-F238E27FC236}">
                <a16:creationId xmlns:a16="http://schemas.microsoft.com/office/drawing/2014/main" id="{C9D75830-197F-9A44-A313-EA72574D4F85}"/>
              </a:ext>
            </a:extLst>
          </p:cNvPr>
          <p:cNvSpPr txBox="1"/>
          <p:nvPr/>
        </p:nvSpPr>
        <p:spPr>
          <a:xfrm>
            <a:off x="8487706" y="3720713"/>
            <a:ext cx="2412724" cy="310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仿真验证与成果制作</a:t>
            </a:r>
          </a:p>
        </p:txBody>
      </p:sp>
      <p:sp>
        <p:nvSpPr>
          <p:cNvPr id="53" name="TextBox 42">
            <a:extLst>
              <a:ext uri="{FF2B5EF4-FFF2-40B4-BE49-F238E27FC236}">
                <a16:creationId xmlns:a16="http://schemas.microsoft.com/office/drawing/2014/main" id="{D0CE9FA1-7BFC-2BD3-533E-93B1E57F521A}"/>
              </a:ext>
            </a:extLst>
          </p:cNvPr>
          <p:cNvSpPr txBox="1"/>
          <p:nvPr/>
        </p:nvSpPr>
        <p:spPr>
          <a:xfrm>
            <a:off x="8485710" y="4000476"/>
            <a:ext cx="2857480" cy="738344"/>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2027.03–2027.05</a:t>
            </a:r>
          </a:p>
          <a:p>
            <a:pPr>
              <a:lnSpc>
                <a:spcPct val="120000"/>
              </a:lnSpc>
              <a:defRPr/>
            </a:pP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Webots</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集成仿真与性能评估，</a:t>
            </a:r>
            <a:r>
              <a:rPr lang="en-US" altLang="zh-CN" sz="1200" dirty="0" err="1">
                <a:solidFill>
                  <a:schemeClr val="tx1">
                    <a:lumMod val="65000"/>
                    <a:lumOff val="35000"/>
                  </a:schemeClr>
                </a:solidFill>
                <a:latin typeface="思源黑体" panose="020B0500000000000000" pitchFamily="34" charset="-122"/>
                <a:ea typeface="思源黑体" panose="020B0500000000000000" pitchFamily="34" charset="-122"/>
              </a:rPr>
              <a:t>AirSim</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场景重建与渲染，制作演示视频</a:t>
            </a:r>
          </a:p>
        </p:txBody>
      </p:sp>
      <p:sp>
        <p:nvSpPr>
          <p:cNvPr id="54" name="TextBox 43">
            <a:extLst>
              <a:ext uri="{FF2B5EF4-FFF2-40B4-BE49-F238E27FC236}">
                <a16:creationId xmlns:a16="http://schemas.microsoft.com/office/drawing/2014/main" id="{7ED8D483-B442-C0DF-C8BA-CF85F314A3A0}"/>
              </a:ext>
            </a:extLst>
          </p:cNvPr>
          <p:cNvSpPr txBox="1"/>
          <p:nvPr/>
        </p:nvSpPr>
        <p:spPr>
          <a:xfrm>
            <a:off x="8847482" y="2235743"/>
            <a:ext cx="241272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结题与答辩准备</a:t>
            </a:r>
          </a:p>
        </p:txBody>
      </p:sp>
      <p:sp>
        <p:nvSpPr>
          <p:cNvPr id="55" name="TextBox 44">
            <a:extLst>
              <a:ext uri="{FF2B5EF4-FFF2-40B4-BE49-F238E27FC236}">
                <a16:creationId xmlns:a16="http://schemas.microsoft.com/office/drawing/2014/main" id="{98C3B911-597F-90B0-2D08-281850280F74}"/>
              </a:ext>
            </a:extLst>
          </p:cNvPr>
          <p:cNvSpPr txBox="1"/>
          <p:nvPr/>
        </p:nvSpPr>
        <p:spPr>
          <a:xfrm>
            <a:off x="8845486" y="2515923"/>
            <a:ext cx="2414720" cy="738344"/>
          </a:xfrm>
          <a:prstGeom prst="rect">
            <a:avLst/>
          </a:prstGeom>
          <a:noFill/>
        </p:spPr>
        <p:txBody>
          <a:bodyPr wrap="square" rtlCol="0">
            <a:spAutoFit/>
          </a:bodyPr>
          <a:lstStyle/>
          <a:p>
            <a:pPr>
              <a:lnSpc>
                <a:spcPct val="120000"/>
              </a:lnSpc>
              <a:defRPr/>
            </a:pP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2027.05–2027.06</a:t>
            </a:r>
          </a:p>
          <a:p>
            <a:pPr>
              <a:lnSpc>
                <a:spcPct val="120000"/>
              </a:lnSpc>
              <a:defRPr/>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整理项目文档，撰写结题报告，完成答辩 </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PPT </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制作</a:t>
            </a:r>
          </a:p>
        </p:txBody>
      </p:sp>
      <p:grpSp>
        <p:nvGrpSpPr>
          <p:cNvPr id="56" name="组合 55">
            <a:extLst>
              <a:ext uri="{FF2B5EF4-FFF2-40B4-BE49-F238E27FC236}">
                <a16:creationId xmlns:a16="http://schemas.microsoft.com/office/drawing/2014/main" id="{89FCB492-B1D8-C281-B183-0531DFA194AC}"/>
              </a:ext>
            </a:extLst>
          </p:cNvPr>
          <p:cNvGrpSpPr/>
          <p:nvPr/>
        </p:nvGrpSpPr>
        <p:grpSpPr>
          <a:xfrm>
            <a:off x="5046640" y="1808940"/>
            <a:ext cx="1911773" cy="1911773"/>
            <a:chOff x="3832951" y="1054702"/>
            <a:chExt cx="1440000" cy="1440000"/>
          </a:xfrm>
          <a:solidFill>
            <a:srgbClr val="244C89"/>
          </a:solidFill>
        </p:grpSpPr>
        <p:sp>
          <p:nvSpPr>
            <p:cNvPr id="57" name="椭圆 56">
              <a:extLst>
                <a:ext uri="{FF2B5EF4-FFF2-40B4-BE49-F238E27FC236}">
                  <a16:creationId xmlns:a16="http://schemas.microsoft.com/office/drawing/2014/main" id="{C4C073F2-3526-941D-E100-06F1362D9AD7}"/>
                </a:ext>
              </a:extLst>
            </p:cNvPr>
            <p:cNvSpPr/>
            <p:nvPr/>
          </p:nvSpPr>
          <p:spPr>
            <a:xfrm>
              <a:off x="3832951" y="1054702"/>
              <a:ext cx="1440000" cy="1440000"/>
            </a:xfrm>
            <a:prstGeom prst="ellipse">
              <a:avLst/>
            </a:prstGeom>
            <a:gr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pPr>
              <a:endParaRPr lang="zh-CN" altLang="en-US" sz="1400">
                <a:latin typeface="Impact" panose="020B0806030902050204" pitchFamily="34" charset="0"/>
              </a:endParaRPr>
            </a:p>
          </p:txBody>
        </p:sp>
        <p:sp>
          <p:nvSpPr>
            <p:cNvPr id="58" name="TextBox 21">
              <a:extLst>
                <a:ext uri="{FF2B5EF4-FFF2-40B4-BE49-F238E27FC236}">
                  <a16:creationId xmlns:a16="http://schemas.microsoft.com/office/drawing/2014/main" id="{C13996A9-96A2-B4A4-316D-090CCB36DB87}"/>
                </a:ext>
              </a:extLst>
            </p:cNvPr>
            <p:cNvSpPr txBox="1"/>
            <p:nvPr/>
          </p:nvSpPr>
          <p:spPr>
            <a:xfrm>
              <a:off x="4076989" y="1410715"/>
              <a:ext cx="916389" cy="70788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algn="ctr">
                <a:defRPr sz="1400">
                  <a:solidFill>
                    <a:schemeClr val="lt1"/>
                  </a:solidFill>
                  <a:latin typeface="Impact" panose="020B080603090205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2800" b="1" dirty="0">
                  <a:latin typeface="思源黑体" panose="020B0500000000000000" pitchFamily="34" charset="-122"/>
                  <a:ea typeface="思源黑体" panose="020B0500000000000000" pitchFamily="34" charset="-122"/>
                </a:rPr>
                <a:t>各阶段内容</a:t>
              </a:r>
              <a:endParaRPr lang="en-US" altLang="zh-CN" sz="2800" b="1" dirty="0">
                <a:latin typeface="思源黑体" panose="020B0500000000000000" pitchFamily="34" charset="-122"/>
                <a:ea typeface="思源黑体" panose="020B0500000000000000" pitchFamily="34" charset="-122"/>
              </a:endParaRPr>
            </a:p>
          </p:txBody>
        </p:sp>
      </p:grpSp>
    </p:spTree>
    <p:extLst>
      <p:ext uri="{BB962C8B-B14F-4D97-AF65-F5344CB8AC3E}">
        <p14:creationId xmlns:p14="http://schemas.microsoft.com/office/powerpoint/2010/main" val="36535772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additive="base">
                                        <p:cTn id="27" dur="500" fill="hold"/>
                                        <p:tgtEl>
                                          <p:spTgt spid="38"/>
                                        </p:tgtEl>
                                        <p:attrNameLst>
                                          <p:attrName>ppt_x</p:attrName>
                                        </p:attrNameLst>
                                      </p:cBhvr>
                                      <p:tavLst>
                                        <p:tav tm="0">
                                          <p:val>
                                            <p:strVal val="#ppt_x"/>
                                          </p:val>
                                        </p:tav>
                                        <p:tav tm="100000">
                                          <p:val>
                                            <p:strVal val="#ppt_x"/>
                                          </p:val>
                                        </p:tav>
                                      </p:tavLst>
                                    </p:anim>
                                    <p:anim calcmode="lin" valueType="num">
                                      <p:cBhvr additive="base">
                                        <p:cTn id="28" dur="500" fill="hold"/>
                                        <p:tgtEl>
                                          <p:spTgt spid="3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500" fill="hold"/>
                                        <p:tgtEl>
                                          <p:spTgt spid="39"/>
                                        </p:tgtEl>
                                        <p:attrNameLst>
                                          <p:attrName>ppt_x</p:attrName>
                                        </p:attrNameLst>
                                      </p:cBhvr>
                                      <p:tavLst>
                                        <p:tav tm="0">
                                          <p:val>
                                            <p:strVal val="#ppt_x"/>
                                          </p:val>
                                        </p:tav>
                                        <p:tav tm="100000">
                                          <p:val>
                                            <p:strVal val="#ppt_x"/>
                                          </p:val>
                                        </p:tav>
                                      </p:tavLst>
                                    </p:anim>
                                    <p:anim calcmode="lin" valueType="num">
                                      <p:cBhvr additive="base">
                                        <p:cTn id="32" dur="500" fill="hold"/>
                                        <p:tgtEl>
                                          <p:spTgt spid="3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ppt_x"/>
                                          </p:val>
                                        </p:tav>
                                        <p:tav tm="100000">
                                          <p:val>
                                            <p:strVal val="#ppt_x"/>
                                          </p:val>
                                        </p:tav>
                                      </p:tavLst>
                                    </p:anim>
                                    <p:anim calcmode="lin" valueType="num">
                                      <p:cBhvr additive="base">
                                        <p:cTn id="36" dur="500" fill="hold"/>
                                        <p:tgtEl>
                                          <p:spTgt spid="4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additive="base">
                                        <p:cTn id="39" dur="500" fill="hold"/>
                                        <p:tgtEl>
                                          <p:spTgt spid="41"/>
                                        </p:tgtEl>
                                        <p:attrNameLst>
                                          <p:attrName>ppt_x</p:attrName>
                                        </p:attrNameLst>
                                      </p:cBhvr>
                                      <p:tavLst>
                                        <p:tav tm="0">
                                          <p:val>
                                            <p:strVal val="#ppt_x"/>
                                          </p:val>
                                        </p:tav>
                                        <p:tav tm="100000">
                                          <p:val>
                                            <p:strVal val="#ppt_x"/>
                                          </p:val>
                                        </p:tav>
                                      </p:tavLst>
                                    </p:anim>
                                    <p:anim calcmode="lin" valueType="num">
                                      <p:cBhvr additive="base">
                                        <p:cTn id="40" dur="500" fill="hold"/>
                                        <p:tgtEl>
                                          <p:spTgt spid="4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 calcmode="lin" valueType="num">
                                      <p:cBhvr additive="base">
                                        <p:cTn id="47" dur="500" fill="hold"/>
                                        <p:tgtEl>
                                          <p:spTgt spid="43"/>
                                        </p:tgtEl>
                                        <p:attrNameLst>
                                          <p:attrName>ppt_x</p:attrName>
                                        </p:attrNameLst>
                                      </p:cBhvr>
                                      <p:tavLst>
                                        <p:tav tm="0">
                                          <p:val>
                                            <p:strVal val="#ppt_x"/>
                                          </p:val>
                                        </p:tav>
                                        <p:tav tm="100000">
                                          <p:val>
                                            <p:strVal val="#ppt_x"/>
                                          </p:val>
                                        </p:tav>
                                      </p:tavLst>
                                    </p:anim>
                                    <p:anim calcmode="lin" valueType="num">
                                      <p:cBhvr additive="base">
                                        <p:cTn id="48" dur="500" fill="hold"/>
                                        <p:tgtEl>
                                          <p:spTgt spid="4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 calcmode="lin" valueType="num">
                                      <p:cBhvr additive="base">
                                        <p:cTn id="51" dur="500" fill="hold"/>
                                        <p:tgtEl>
                                          <p:spTgt spid="44"/>
                                        </p:tgtEl>
                                        <p:attrNameLst>
                                          <p:attrName>ppt_x</p:attrName>
                                        </p:attrNameLst>
                                      </p:cBhvr>
                                      <p:tavLst>
                                        <p:tav tm="0">
                                          <p:val>
                                            <p:strVal val="#ppt_x"/>
                                          </p:val>
                                        </p:tav>
                                        <p:tav tm="100000">
                                          <p:val>
                                            <p:strVal val="#ppt_x"/>
                                          </p:val>
                                        </p:tav>
                                      </p:tavLst>
                                    </p:anim>
                                    <p:anim calcmode="lin" valueType="num">
                                      <p:cBhvr additive="base">
                                        <p:cTn id="52" dur="500" fill="hold"/>
                                        <p:tgtEl>
                                          <p:spTgt spid="4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 calcmode="lin" valueType="num">
                                      <p:cBhvr additive="base">
                                        <p:cTn id="55" dur="500" fill="hold"/>
                                        <p:tgtEl>
                                          <p:spTgt spid="45"/>
                                        </p:tgtEl>
                                        <p:attrNameLst>
                                          <p:attrName>ppt_x</p:attrName>
                                        </p:attrNameLst>
                                      </p:cBhvr>
                                      <p:tavLst>
                                        <p:tav tm="0">
                                          <p:val>
                                            <p:strVal val="#ppt_x"/>
                                          </p:val>
                                        </p:tav>
                                        <p:tav tm="100000">
                                          <p:val>
                                            <p:strVal val="#ppt_x"/>
                                          </p:val>
                                        </p:tav>
                                      </p:tavLst>
                                    </p:anim>
                                    <p:anim calcmode="lin" valueType="num">
                                      <p:cBhvr additive="base">
                                        <p:cTn id="56" dur="500" fill="hold"/>
                                        <p:tgtEl>
                                          <p:spTgt spid="4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 calcmode="lin" valueType="num">
                                      <p:cBhvr additive="base">
                                        <p:cTn id="59" dur="500" fill="hold"/>
                                        <p:tgtEl>
                                          <p:spTgt spid="46"/>
                                        </p:tgtEl>
                                        <p:attrNameLst>
                                          <p:attrName>ppt_x</p:attrName>
                                        </p:attrNameLst>
                                      </p:cBhvr>
                                      <p:tavLst>
                                        <p:tav tm="0">
                                          <p:val>
                                            <p:strVal val="#ppt_x"/>
                                          </p:val>
                                        </p:tav>
                                        <p:tav tm="100000">
                                          <p:val>
                                            <p:strVal val="#ppt_x"/>
                                          </p:val>
                                        </p:tav>
                                      </p:tavLst>
                                    </p:anim>
                                    <p:anim calcmode="lin" valueType="num">
                                      <p:cBhvr additive="base">
                                        <p:cTn id="60" dur="500" fill="hold"/>
                                        <p:tgtEl>
                                          <p:spTgt spid="4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 calcmode="lin" valueType="num">
                                      <p:cBhvr additive="base">
                                        <p:cTn id="63" dur="500" fill="hold"/>
                                        <p:tgtEl>
                                          <p:spTgt spid="47"/>
                                        </p:tgtEl>
                                        <p:attrNameLst>
                                          <p:attrName>ppt_x</p:attrName>
                                        </p:attrNameLst>
                                      </p:cBhvr>
                                      <p:tavLst>
                                        <p:tav tm="0">
                                          <p:val>
                                            <p:strVal val="#ppt_x"/>
                                          </p:val>
                                        </p:tav>
                                        <p:tav tm="100000">
                                          <p:val>
                                            <p:strVal val="#ppt_x"/>
                                          </p:val>
                                        </p:tav>
                                      </p:tavLst>
                                    </p:anim>
                                    <p:anim calcmode="lin" valueType="num">
                                      <p:cBhvr additive="base">
                                        <p:cTn id="64" dur="500" fill="hold"/>
                                        <p:tgtEl>
                                          <p:spTgt spid="4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additive="base">
                                        <p:cTn id="67" dur="500" fill="hold"/>
                                        <p:tgtEl>
                                          <p:spTgt spid="48"/>
                                        </p:tgtEl>
                                        <p:attrNameLst>
                                          <p:attrName>ppt_x</p:attrName>
                                        </p:attrNameLst>
                                      </p:cBhvr>
                                      <p:tavLst>
                                        <p:tav tm="0">
                                          <p:val>
                                            <p:strVal val="#ppt_x"/>
                                          </p:val>
                                        </p:tav>
                                        <p:tav tm="100000">
                                          <p:val>
                                            <p:strVal val="#ppt_x"/>
                                          </p:val>
                                        </p:tav>
                                      </p:tavLst>
                                    </p:anim>
                                    <p:anim calcmode="lin" valueType="num">
                                      <p:cBhvr additive="base">
                                        <p:cTn id="68" dur="500" fill="hold"/>
                                        <p:tgtEl>
                                          <p:spTgt spid="4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 calcmode="lin" valueType="num">
                                      <p:cBhvr additive="base">
                                        <p:cTn id="71" dur="500" fill="hold"/>
                                        <p:tgtEl>
                                          <p:spTgt spid="49"/>
                                        </p:tgtEl>
                                        <p:attrNameLst>
                                          <p:attrName>ppt_x</p:attrName>
                                        </p:attrNameLst>
                                      </p:cBhvr>
                                      <p:tavLst>
                                        <p:tav tm="0">
                                          <p:val>
                                            <p:strVal val="#ppt_x"/>
                                          </p:val>
                                        </p:tav>
                                        <p:tav tm="100000">
                                          <p:val>
                                            <p:strVal val="#ppt_x"/>
                                          </p:val>
                                        </p:tav>
                                      </p:tavLst>
                                    </p:anim>
                                    <p:anim calcmode="lin" valueType="num">
                                      <p:cBhvr additive="base">
                                        <p:cTn id="72" dur="500" fill="hold"/>
                                        <p:tgtEl>
                                          <p:spTgt spid="4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anim calcmode="lin" valueType="num">
                                      <p:cBhvr additive="base">
                                        <p:cTn id="75" dur="500" fill="hold"/>
                                        <p:tgtEl>
                                          <p:spTgt spid="50"/>
                                        </p:tgtEl>
                                        <p:attrNameLst>
                                          <p:attrName>ppt_x</p:attrName>
                                        </p:attrNameLst>
                                      </p:cBhvr>
                                      <p:tavLst>
                                        <p:tav tm="0">
                                          <p:val>
                                            <p:strVal val="#ppt_x"/>
                                          </p:val>
                                        </p:tav>
                                        <p:tav tm="100000">
                                          <p:val>
                                            <p:strVal val="#ppt_x"/>
                                          </p:val>
                                        </p:tav>
                                      </p:tavLst>
                                    </p:anim>
                                    <p:anim calcmode="lin" valueType="num">
                                      <p:cBhvr additive="base">
                                        <p:cTn id="76" dur="500" fill="hold"/>
                                        <p:tgtEl>
                                          <p:spTgt spid="5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1"/>
                                        </p:tgtEl>
                                        <p:attrNameLst>
                                          <p:attrName>style.visibility</p:attrName>
                                        </p:attrNameLst>
                                      </p:cBhvr>
                                      <p:to>
                                        <p:strVal val="visible"/>
                                      </p:to>
                                    </p:set>
                                    <p:anim calcmode="lin" valueType="num">
                                      <p:cBhvr additive="base">
                                        <p:cTn id="79" dur="500" fill="hold"/>
                                        <p:tgtEl>
                                          <p:spTgt spid="51"/>
                                        </p:tgtEl>
                                        <p:attrNameLst>
                                          <p:attrName>ppt_x</p:attrName>
                                        </p:attrNameLst>
                                      </p:cBhvr>
                                      <p:tavLst>
                                        <p:tav tm="0">
                                          <p:val>
                                            <p:strVal val="#ppt_x"/>
                                          </p:val>
                                        </p:tav>
                                        <p:tav tm="100000">
                                          <p:val>
                                            <p:strVal val="#ppt_x"/>
                                          </p:val>
                                        </p:tav>
                                      </p:tavLst>
                                    </p:anim>
                                    <p:anim calcmode="lin" valueType="num">
                                      <p:cBhvr additive="base">
                                        <p:cTn id="80" dur="500" fill="hold"/>
                                        <p:tgtEl>
                                          <p:spTgt spid="5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500" fill="hold"/>
                                        <p:tgtEl>
                                          <p:spTgt spid="52"/>
                                        </p:tgtEl>
                                        <p:attrNameLst>
                                          <p:attrName>ppt_x</p:attrName>
                                        </p:attrNameLst>
                                      </p:cBhvr>
                                      <p:tavLst>
                                        <p:tav tm="0">
                                          <p:val>
                                            <p:strVal val="#ppt_x"/>
                                          </p:val>
                                        </p:tav>
                                        <p:tav tm="100000">
                                          <p:val>
                                            <p:strVal val="#ppt_x"/>
                                          </p:val>
                                        </p:tav>
                                      </p:tavLst>
                                    </p:anim>
                                    <p:anim calcmode="lin" valueType="num">
                                      <p:cBhvr additive="base">
                                        <p:cTn id="84" dur="500" fill="hold"/>
                                        <p:tgtEl>
                                          <p:spTgt spid="5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anim calcmode="lin" valueType="num">
                                      <p:cBhvr additive="base">
                                        <p:cTn id="87" dur="500" fill="hold"/>
                                        <p:tgtEl>
                                          <p:spTgt spid="53"/>
                                        </p:tgtEl>
                                        <p:attrNameLst>
                                          <p:attrName>ppt_x</p:attrName>
                                        </p:attrNameLst>
                                      </p:cBhvr>
                                      <p:tavLst>
                                        <p:tav tm="0">
                                          <p:val>
                                            <p:strVal val="#ppt_x"/>
                                          </p:val>
                                        </p:tav>
                                        <p:tav tm="100000">
                                          <p:val>
                                            <p:strVal val="#ppt_x"/>
                                          </p:val>
                                        </p:tav>
                                      </p:tavLst>
                                    </p:anim>
                                    <p:anim calcmode="lin" valueType="num">
                                      <p:cBhvr additive="base">
                                        <p:cTn id="88" dur="500" fill="hold"/>
                                        <p:tgtEl>
                                          <p:spTgt spid="5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4"/>
                                        </p:tgtEl>
                                        <p:attrNameLst>
                                          <p:attrName>style.visibility</p:attrName>
                                        </p:attrNameLst>
                                      </p:cBhvr>
                                      <p:to>
                                        <p:strVal val="visible"/>
                                      </p:to>
                                    </p:set>
                                    <p:anim calcmode="lin" valueType="num">
                                      <p:cBhvr additive="base">
                                        <p:cTn id="91" dur="500" fill="hold"/>
                                        <p:tgtEl>
                                          <p:spTgt spid="54"/>
                                        </p:tgtEl>
                                        <p:attrNameLst>
                                          <p:attrName>ppt_x</p:attrName>
                                        </p:attrNameLst>
                                      </p:cBhvr>
                                      <p:tavLst>
                                        <p:tav tm="0">
                                          <p:val>
                                            <p:strVal val="#ppt_x"/>
                                          </p:val>
                                        </p:tav>
                                        <p:tav tm="100000">
                                          <p:val>
                                            <p:strVal val="#ppt_x"/>
                                          </p:val>
                                        </p:tav>
                                      </p:tavLst>
                                    </p:anim>
                                    <p:anim calcmode="lin" valueType="num">
                                      <p:cBhvr additive="base">
                                        <p:cTn id="92" dur="500" fill="hold"/>
                                        <p:tgtEl>
                                          <p:spTgt spid="54"/>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anim calcmode="lin" valueType="num">
                                      <p:cBhvr additive="base">
                                        <p:cTn id="95" dur="500" fill="hold"/>
                                        <p:tgtEl>
                                          <p:spTgt spid="55"/>
                                        </p:tgtEl>
                                        <p:attrNameLst>
                                          <p:attrName>ppt_x</p:attrName>
                                        </p:attrNameLst>
                                      </p:cBhvr>
                                      <p:tavLst>
                                        <p:tav tm="0">
                                          <p:val>
                                            <p:strVal val="#ppt_x"/>
                                          </p:val>
                                        </p:tav>
                                        <p:tav tm="100000">
                                          <p:val>
                                            <p:strVal val="#ppt_x"/>
                                          </p:val>
                                        </p:tav>
                                      </p:tavLst>
                                    </p:anim>
                                    <p:anim calcmode="lin" valueType="num">
                                      <p:cBhvr additive="base">
                                        <p:cTn id="96" dur="500" fill="hold"/>
                                        <p:tgtEl>
                                          <p:spTgt spid="55"/>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additive="base">
                                        <p:cTn id="99" dur="500" fill="hold"/>
                                        <p:tgtEl>
                                          <p:spTgt spid="56"/>
                                        </p:tgtEl>
                                        <p:attrNameLst>
                                          <p:attrName>ppt_x</p:attrName>
                                        </p:attrNameLst>
                                      </p:cBhvr>
                                      <p:tavLst>
                                        <p:tav tm="0">
                                          <p:val>
                                            <p:strVal val="#ppt_x"/>
                                          </p:val>
                                        </p:tav>
                                        <p:tav tm="100000">
                                          <p:val>
                                            <p:strVal val="#ppt_x"/>
                                          </p:val>
                                        </p:tav>
                                      </p:tavLst>
                                    </p:anim>
                                    <p:anim calcmode="lin" valueType="num">
                                      <p:cBhvr additive="base">
                                        <p:cTn id="10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39" grpId="0" animBg="1"/>
      <p:bldP spid="40" grpId="0" animBg="1"/>
      <p:bldP spid="41" grpId="0" animBg="1"/>
      <p:bldP spid="42" grpId="0" animBg="1"/>
      <p:bldP spid="43" grpId="0" animBg="1"/>
      <p:bldP spid="44" grpId="0" animBg="1"/>
      <p:bldP spid="45" grpId="0"/>
      <p:bldP spid="46" grpId="0"/>
      <p:bldP spid="47" grpId="0"/>
      <p:bldP spid="48" grpId="0"/>
      <p:bldP spid="49" grpId="0"/>
      <p:bldP spid="50" grpId="0"/>
      <p:bldP spid="51" grpId="0"/>
      <p:bldP spid="52" grpId="0"/>
      <p:bldP spid="53" grpId="0"/>
      <p:bldP spid="54" grpId="0"/>
      <p:bldP spid="5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151" b="151"/>
          <a:stretch>
            <a:fillRect/>
          </a:stretch>
        </p:blipFill>
        <p:spPr>
          <a:xfrm>
            <a:off x="0" y="4318"/>
            <a:ext cx="12192000" cy="6858000"/>
          </a:xfrm>
          <a:prstGeom prst="rect">
            <a:avLst/>
          </a:prstGeom>
          <a:noFill/>
          <a:ln w="25400" cap="flat" cmpd="sng">
            <a:noFill/>
            <a:prstDash val="solid"/>
            <a:round/>
          </a:ln>
        </p:spPr>
      </p:pic>
      <p:sp>
        <p:nvSpPr>
          <p:cNvPr id="3" name="AutoShape 3"/>
          <p:cNvSpPr/>
          <p:nvPr/>
        </p:nvSpPr>
        <p:spPr>
          <a:xfrm>
            <a:off x="393700" y="450850"/>
            <a:ext cx="11404600" cy="5956300"/>
          </a:xfrm>
          <a:prstGeom prst="roundRect">
            <a:avLst>
              <a:gd name="adj" fmla="val 0"/>
            </a:avLst>
          </a:prstGeom>
          <a:solidFill>
            <a:srgbClr val="FFFFFF">
              <a:alpha val="100000"/>
            </a:srgbClr>
          </a:solidFill>
          <a:ln w="25400" cap="flat" cmpd="sng">
            <a:noFill/>
            <a:prstDash val="solid"/>
            <a:round/>
          </a:ln>
          <a:effectLst>
            <a:outerShdw blurRad="190500" dist="63500" dir="2700000" algn="tl" rotWithShape="0">
              <a:srgbClr val="000000">
                <a:alpha val="30000"/>
              </a:srgbClr>
            </a:outerShdw>
          </a:effectLst>
        </p:spPr>
        <p:txBody>
          <a:bodyPr vert="horz" wrap="square" lIns="63500" tIns="63500" rIns="63500" bIns="63500" rtlCol="0" anchor="ctr"/>
          <a:lstStyle/>
          <a:p>
            <a:pPr algn="ctr">
              <a:defRPr/>
            </a:pPr>
            <a:endParaRPr lang="zh-CN" altLang="en-US"/>
          </a:p>
        </p:txBody>
      </p:sp>
      <p:sp>
        <p:nvSpPr>
          <p:cNvPr id="4" name="Freeform 4"/>
          <p:cNvSpPr/>
          <p:nvPr/>
        </p:nvSpPr>
        <p:spPr>
          <a:xfrm>
            <a:off x="863600" y="863600"/>
            <a:ext cx="441095" cy="525189"/>
          </a:xfrm>
          <a:custGeom>
            <a:avLst/>
            <a:gdLst/>
            <a:ahLst/>
            <a:cxnLst/>
            <a:rect l="l" t="t" r="r" b="b"/>
            <a:pathLst>
              <a:path w="441095" h="525189">
                <a:moveTo>
                  <a:pt x="220958" y="0"/>
                </a:moveTo>
                <a:lnTo>
                  <a:pt x="331027" y="65754"/>
                </a:lnTo>
                <a:lnTo>
                  <a:pt x="441095" y="131508"/>
                </a:lnTo>
                <a:lnTo>
                  <a:pt x="441095" y="262174"/>
                </a:lnTo>
                <a:lnTo>
                  <a:pt x="441095" y="393682"/>
                </a:lnTo>
                <a:lnTo>
                  <a:pt x="331027" y="459436"/>
                </a:lnTo>
                <a:lnTo>
                  <a:pt x="220958" y="525189"/>
                </a:lnTo>
                <a:lnTo>
                  <a:pt x="110068" y="459436"/>
                </a:lnTo>
                <a:lnTo>
                  <a:pt x="0" y="393682"/>
                </a:lnTo>
                <a:lnTo>
                  <a:pt x="0" y="262174"/>
                </a:lnTo>
                <a:lnTo>
                  <a:pt x="0" y="131508"/>
                </a:lnTo>
                <a:lnTo>
                  <a:pt x="110068" y="65754"/>
                </a:lnTo>
                <a:lnTo>
                  <a:pt x="220958" y="0"/>
                </a:lnTo>
                <a:close/>
                <a:moveTo>
                  <a:pt x="220958" y="44679"/>
                </a:moveTo>
                <a:lnTo>
                  <a:pt x="312134" y="98631"/>
                </a:lnTo>
                <a:lnTo>
                  <a:pt x="404132" y="153426"/>
                </a:lnTo>
                <a:lnTo>
                  <a:pt x="404132" y="262174"/>
                </a:lnTo>
                <a:lnTo>
                  <a:pt x="404132" y="371763"/>
                </a:lnTo>
                <a:lnTo>
                  <a:pt x="312134" y="425715"/>
                </a:lnTo>
                <a:lnTo>
                  <a:pt x="220958" y="480511"/>
                </a:lnTo>
                <a:lnTo>
                  <a:pt x="128961" y="425715"/>
                </a:lnTo>
                <a:lnTo>
                  <a:pt x="37785" y="371763"/>
                </a:lnTo>
                <a:lnTo>
                  <a:pt x="37785" y="262174"/>
                </a:lnTo>
                <a:lnTo>
                  <a:pt x="37785" y="153426"/>
                </a:lnTo>
                <a:lnTo>
                  <a:pt x="128961" y="98631"/>
                </a:lnTo>
                <a:lnTo>
                  <a:pt x="220958" y="44679"/>
                </a:lnTo>
                <a:close/>
                <a:moveTo>
                  <a:pt x="176602" y="383565"/>
                </a:moveTo>
                <a:lnTo>
                  <a:pt x="301456" y="383565"/>
                </a:lnTo>
                <a:cubicBezTo>
                  <a:pt x="304742" y="383565"/>
                  <a:pt x="308027" y="386095"/>
                  <a:pt x="308027" y="390310"/>
                </a:cubicBezTo>
                <a:cubicBezTo>
                  <a:pt x="308027" y="393682"/>
                  <a:pt x="304742" y="397054"/>
                  <a:pt x="301456" y="397054"/>
                </a:cubicBezTo>
                <a:lnTo>
                  <a:pt x="176602" y="397054"/>
                </a:lnTo>
                <a:cubicBezTo>
                  <a:pt x="173317" y="397054"/>
                  <a:pt x="170031" y="393682"/>
                  <a:pt x="170031" y="390310"/>
                </a:cubicBezTo>
                <a:cubicBezTo>
                  <a:pt x="170031" y="386095"/>
                  <a:pt x="173317" y="383565"/>
                  <a:pt x="176602" y="383565"/>
                </a:cubicBezTo>
                <a:close/>
                <a:moveTo>
                  <a:pt x="179066" y="320341"/>
                </a:moveTo>
                <a:lnTo>
                  <a:pt x="248064" y="204006"/>
                </a:lnTo>
                <a:lnTo>
                  <a:pt x="271885" y="219180"/>
                </a:lnTo>
                <a:lnTo>
                  <a:pt x="203709" y="335515"/>
                </a:lnTo>
                <a:lnTo>
                  <a:pt x="179066" y="320341"/>
                </a:lnTo>
                <a:close/>
                <a:moveTo>
                  <a:pt x="130603" y="289993"/>
                </a:moveTo>
                <a:lnTo>
                  <a:pt x="199602" y="174502"/>
                </a:lnTo>
                <a:lnTo>
                  <a:pt x="223422" y="188832"/>
                </a:lnTo>
                <a:lnTo>
                  <a:pt x="155246" y="305167"/>
                </a:lnTo>
                <a:lnTo>
                  <a:pt x="130603" y="289993"/>
                </a:lnTo>
                <a:close/>
                <a:moveTo>
                  <a:pt x="119925" y="384409"/>
                </a:moveTo>
                <a:lnTo>
                  <a:pt x="126497" y="326241"/>
                </a:lnTo>
                <a:lnTo>
                  <a:pt x="173317" y="355746"/>
                </a:lnTo>
                <a:lnTo>
                  <a:pt x="127318" y="388624"/>
                </a:lnTo>
                <a:cubicBezTo>
                  <a:pt x="122390" y="391996"/>
                  <a:pt x="119104" y="390310"/>
                  <a:pt x="119925" y="384409"/>
                </a:cubicBezTo>
                <a:close/>
                <a:moveTo>
                  <a:pt x="218495" y="141624"/>
                </a:moveTo>
                <a:lnTo>
                  <a:pt x="207815" y="158485"/>
                </a:lnTo>
                <a:lnTo>
                  <a:pt x="280921" y="204006"/>
                </a:lnTo>
                <a:lnTo>
                  <a:pt x="290778" y="187146"/>
                </a:lnTo>
                <a:lnTo>
                  <a:pt x="218495" y="141624"/>
                </a:lnTo>
                <a:close/>
                <a:moveTo>
                  <a:pt x="234100" y="116335"/>
                </a:moveTo>
                <a:cubicBezTo>
                  <a:pt x="238208" y="108748"/>
                  <a:pt x="248064" y="106218"/>
                  <a:pt x="255457" y="110433"/>
                </a:cubicBezTo>
                <a:lnTo>
                  <a:pt x="300634" y="139095"/>
                </a:lnTo>
                <a:cubicBezTo>
                  <a:pt x="308027" y="143311"/>
                  <a:pt x="310491" y="153426"/>
                  <a:pt x="306385" y="161013"/>
                </a:cubicBezTo>
                <a:lnTo>
                  <a:pt x="299813" y="171972"/>
                </a:lnTo>
                <a:lnTo>
                  <a:pt x="227529" y="126450"/>
                </a:lnTo>
                <a:lnTo>
                  <a:pt x="234100" y="116335"/>
                </a:ln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511300" y="1130300"/>
            <a:ext cx="1981200" cy="317500"/>
          </a:xfrm>
          <a:prstGeom prst="rect">
            <a:avLst/>
          </a:prstGeom>
          <a:noFill/>
          <a:ln w="12700" cap="flat" cmpd="sng">
            <a:noFill/>
            <a:prstDash val="solid"/>
            <a:round/>
          </a:ln>
        </p:spPr>
        <p:txBody>
          <a:bodyPr vert="horz" wrap="square" lIns="0" tIns="0" rIns="0" bIns="50800" rtlCol="0" anchor="t" anchorCtr="0"/>
          <a:lstStyle/>
          <a:p>
            <a:pPr marL="0" indent="0" algn="l">
              <a:lnSpc>
                <a:spcPts val="2300"/>
              </a:lnSpc>
              <a:defRPr/>
            </a:pPr>
            <a:r>
              <a:rPr lang="en-US" sz="1400" b="0" i="0" u="none" strike="noStrike">
                <a:solidFill>
                  <a:srgbClr val="313D51"/>
                </a:solidFill>
                <a:latin typeface="Calibri"/>
                <a:ea typeface="Calibri"/>
                <a:cs typeface="Calibri"/>
                <a:sym typeface="Calibri"/>
              </a:rPr>
              <a:t>EXPECTED RESULTS</a:t>
            </a:r>
            <a:endParaRPr lang="en-US" sz="1100"/>
          </a:p>
        </p:txBody>
      </p:sp>
      <p:sp>
        <p:nvSpPr>
          <p:cNvPr id="6" name="AutoShape 6"/>
          <p:cNvSpPr/>
          <p:nvPr/>
        </p:nvSpPr>
        <p:spPr>
          <a:xfrm>
            <a:off x="1409700" y="749300"/>
            <a:ext cx="36322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2400" b="1" i="0" u="none" strike="noStrike">
                <a:solidFill>
                  <a:srgbClr val="244C89"/>
                </a:solidFill>
                <a:latin typeface="Noto Sans SC"/>
                <a:ea typeface="Noto Sans SC"/>
                <a:cs typeface="Noto Sans SC"/>
                <a:sym typeface="Noto Sans SC"/>
              </a:rPr>
              <a:t>预期研究成果</a:t>
            </a:r>
            <a:endParaRPr lang="en-US" sz="1100"/>
          </a:p>
        </p:txBody>
      </p:sp>
      <p:sp>
        <p:nvSpPr>
          <p:cNvPr id="7" name="Freeform 7"/>
          <p:cNvSpPr/>
          <p:nvPr/>
        </p:nvSpPr>
        <p:spPr>
          <a:xfrm>
            <a:off x="2006600" y="21717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222500" y="2260600"/>
            <a:ext cx="3429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sz="2800" b="0" i="0" u="none" strike="noStrike">
                <a:solidFill>
                  <a:srgbClr val="F2F2F2"/>
                </a:solidFill>
                <a:latin typeface="Agency FB"/>
                <a:ea typeface="Agency FB"/>
                <a:cs typeface="Agency FB"/>
                <a:sym typeface="Agency FB"/>
              </a:rPr>
              <a:t>01</a:t>
            </a:r>
            <a:endParaRPr lang="en-US" sz="1100"/>
          </a:p>
        </p:txBody>
      </p:sp>
      <p:sp>
        <p:nvSpPr>
          <p:cNvPr id="9" name="Freeform 9"/>
          <p:cNvSpPr/>
          <p:nvPr/>
        </p:nvSpPr>
        <p:spPr>
          <a:xfrm rot="1799999">
            <a:off x="1905000" y="20828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3051308" y="2371725"/>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333"/>
              </a:lnSpc>
              <a:defRPr/>
            </a:pPr>
            <a:r>
              <a:rPr lang="zh-CN" altLang="en-US" sz="1200" b="0" i="0" u="none" strike="noStrike" dirty="0">
                <a:solidFill>
                  <a:srgbClr val="595959"/>
                </a:solidFill>
                <a:latin typeface="Noto Sans SC"/>
                <a:ea typeface="Noto Sans SC"/>
                <a:cs typeface="Noto Sans SC"/>
                <a:sym typeface="Noto Sans SC"/>
              </a:rPr>
              <a:t>完成一套基于</a:t>
            </a:r>
            <a:r>
              <a:rPr lang="en-US" altLang="zh-CN" sz="1200" b="0" i="0" u="none" strike="noStrike" dirty="0" err="1">
                <a:solidFill>
                  <a:srgbClr val="595959"/>
                </a:solidFill>
                <a:latin typeface="Noto Sans SC"/>
                <a:ea typeface="Noto Sans SC"/>
                <a:cs typeface="Noto Sans SC"/>
                <a:sym typeface="Noto Sans SC"/>
              </a:rPr>
              <a:t>Webots</a:t>
            </a:r>
            <a:r>
              <a:rPr lang="zh-CN" altLang="en-US" sz="1200" b="0" i="0" u="none" strike="noStrike" dirty="0">
                <a:solidFill>
                  <a:srgbClr val="595959"/>
                </a:solidFill>
                <a:latin typeface="Noto Sans SC"/>
                <a:ea typeface="Noto Sans SC"/>
                <a:cs typeface="Noto Sans SC"/>
                <a:sym typeface="Noto Sans SC"/>
              </a:rPr>
              <a:t>的可运行三维建筑群无人机飞行仿真系统，集成全局路径规划与局部实时避障算法，支持场景可视化与性能指标输出。</a:t>
            </a:r>
            <a:endParaRPr lang="en-US" sz="1100" dirty="0"/>
          </a:p>
        </p:txBody>
      </p:sp>
      <p:sp>
        <p:nvSpPr>
          <p:cNvPr id="11" name="AutoShape 11"/>
          <p:cNvSpPr/>
          <p:nvPr/>
        </p:nvSpPr>
        <p:spPr>
          <a:xfrm>
            <a:off x="3048000" y="2070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600" b="1" i="0" u="none" strike="noStrike" dirty="0" err="1">
                <a:solidFill>
                  <a:srgbClr val="313D51"/>
                </a:solidFill>
                <a:latin typeface="Noto Sans SC"/>
                <a:ea typeface="Noto Sans SC"/>
                <a:cs typeface="Noto Sans SC"/>
                <a:sym typeface="Noto Sans SC"/>
              </a:rPr>
              <a:t>三维仿真系统</a:t>
            </a:r>
            <a:endParaRPr lang="en-US" sz="1100" dirty="0"/>
          </a:p>
        </p:txBody>
      </p:sp>
      <p:sp>
        <p:nvSpPr>
          <p:cNvPr id="12" name="AutoShape 12"/>
          <p:cNvSpPr/>
          <p:nvPr/>
        </p:nvSpPr>
        <p:spPr>
          <a:xfrm>
            <a:off x="3048000" y="3746304"/>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333"/>
              </a:lnSpc>
              <a:defRPr/>
            </a:pPr>
            <a:r>
              <a:rPr lang="zh-CN" altLang="en-US" sz="1200" b="0" i="0" u="none" strike="noStrike" dirty="0">
                <a:solidFill>
                  <a:srgbClr val="595959"/>
                </a:solidFill>
                <a:latin typeface="Noto Sans SC"/>
                <a:ea typeface="Noto Sans SC"/>
                <a:cs typeface="Noto Sans SC"/>
                <a:sym typeface="Noto Sans SC"/>
              </a:rPr>
              <a:t>实现并开源基于</a:t>
            </a:r>
            <a:r>
              <a:rPr lang="en-US" altLang="zh-CN" sz="1200" b="0" i="0" u="none" strike="noStrike" dirty="0">
                <a:solidFill>
                  <a:srgbClr val="595959"/>
                </a:solidFill>
                <a:latin typeface="Noto Sans SC"/>
                <a:ea typeface="Noto Sans SC"/>
                <a:cs typeface="Noto Sans SC"/>
                <a:sym typeface="Noto Sans SC"/>
              </a:rPr>
              <a:t>Python</a:t>
            </a:r>
            <a:r>
              <a:rPr lang="zh-CN" altLang="en-US" sz="1200" b="0" i="0" u="none" strike="noStrike" dirty="0">
                <a:solidFill>
                  <a:srgbClr val="595959"/>
                </a:solidFill>
                <a:latin typeface="Noto Sans SC"/>
                <a:ea typeface="Noto Sans SC"/>
                <a:cs typeface="Noto Sans SC"/>
                <a:sym typeface="Noto Sans SC"/>
              </a:rPr>
              <a:t>的</a:t>
            </a:r>
            <a:r>
              <a:rPr lang="en-US" altLang="zh-CN" sz="1200" b="0" i="0" u="none" strike="noStrike" dirty="0">
                <a:solidFill>
                  <a:srgbClr val="595959"/>
                </a:solidFill>
                <a:latin typeface="Noto Sans SC"/>
                <a:ea typeface="Noto Sans SC"/>
                <a:cs typeface="Noto Sans SC"/>
                <a:sym typeface="Noto Sans SC"/>
              </a:rPr>
              <a:t>CBMBA A*</a:t>
            </a:r>
            <a:r>
              <a:rPr lang="zh-CN" altLang="en-US" sz="1200" b="0" i="0" u="none" strike="noStrike" dirty="0">
                <a:solidFill>
                  <a:srgbClr val="595959"/>
                </a:solidFill>
                <a:latin typeface="Noto Sans SC"/>
                <a:ea typeface="Noto Sans SC"/>
                <a:cs typeface="Noto Sans SC"/>
                <a:sym typeface="Noto Sans SC"/>
              </a:rPr>
              <a:t>全局路径规划算法与改进人工势场局部避障算法，避障成功率达到</a:t>
            </a:r>
            <a:r>
              <a:rPr lang="en-US" altLang="zh-CN" sz="1200" b="0" i="0" u="none" strike="noStrike" dirty="0">
                <a:solidFill>
                  <a:srgbClr val="595959"/>
                </a:solidFill>
                <a:latin typeface="Noto Sans SC"/>
                <a:ea typeface="Noto Sans SC"/>
                <a:cs typeface="Noto Sans SC"/>
                <a:sym typeface="Noto Sans SC"/>
              </a:rPr>
              <a:t>90%</a:t>
            </a:r>
            <a:r>
              <a:rPr lang="zh-CN" altLang="en-US" sz="1200" b="0" i="0" u="none" strike="noStrike" dirty="0">
                <a:solidFill>
                  <a:srgbClr val="595959"/>
                </a:solidFill>
                <a:latin typeface="Noto Sans SC"/>
                <a:ea typeface="Noto Sans SC"/>
                <a:cs typeface="Noto Sans SC"/>
                <a:sym typeface="Noto Sans SC"/>
              </a:rPr>
              <a:t>以上，路径规划成功率不低于</a:t>
            </a:r>
            <a:r>
              <a:rPr lang="en-US" altLang="zh-CN" sz="1200" b="0" i="0" u="none" strike="noStrike" dirty="0">
                <a:solidFill>
                  <a:srgbClr val="595959"/>
                </a:solidFill>
                <a:latin typeface="Noto Sans SC"/>
                <a:ea typeface="Noto Sans SC"/>
                <a:cs typeface="Noto Sans SC"/>
                <a:sym typeface="Noto Sans SC"/>
              </a:rPr>
              <a:t>95%</a:t>
            </a:r>
            <a:r>
              <a:rPr lang="zh-CN" altLang="en-US" sz="1200" b="0" i="0" u="none" strike="noStrike" dirty="0">
                <a:solidFill>
                  <a:srgbClr val="595959"/>
                </a:solidFill>
                <a:latin typeface="Noto Sans SC"/>
                <a:ea typeface="Noto Sans SC"/>
                <a:cs typeface="Noto Sans SC"/>
                <a:sym typeface="Noto Sans SC"/>
              </a:rPr>
              <a:t>。 </a:t>
            </a:r>
            <a:endParaRPr lang="en-US" sz="1100" dirty="0"/>
          </a:p>
        </p:txBody>
      </p:sp>
      <p:sp>
        <p:nvSpPr>
          <p:cNvPr id="13" name="AutoShape 13"/>
          <p:cNvSpPr/>
          <p:nvPr/>
        </p:nvSpPr>
        <p:spPr>
          <a:xfrm>
            <a:off x="3048000" y="3467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zh-CN" altLang="en-US" sz="1600" b="1" i="0" u="none" strike="noStrike" dirty="0">
                <a:solidFill>
                  <a:srgbClr val="313D51"/>
                </a:solidFill>
                <a:latin typeface="Noto Sans SC"/>
                <a:ea typeface="Noto Sans SC"/>
                <a:cs typeface="Noto Sans SC"/>
                <a:sym typeface="Noto Sans SC"/>
              </a:rPr>
              <a:t>核心</a:t>
            </a:r>
            <a:r>
              <a:rPr lang="en-US" sz="1600" b="1" i="0" u="none" strike="noStrike" dirty="0" err="1">
                <a:solidFill>
                  <a:srgbClr val="313D51"/>
                </a:solidFill>
                <a:latin typeface="Noto Sans SC"/>
                <a:ea typeface="Noto Sans SC"/>
                <a:cs typeface="Noto Sans SC"/>
                <a:sym typeface="Noto Sans SC"/>
              </a:rPr>
              <a:t>算法模块</a:t>
            </a:r>
            <a:endParaRPr lang="en-US" sz="1100" dirty="0"/>
          </a:p>
        </p:txBody>
      </p:sp>
      <p:sp>
        <p:nvSpPr>
          <p:cNvPr id="14" name="AutoShape 14"/>
          <p:cNvSpPr/>
          <p:nvPr/>
        </p:nvSpPr>
        <p:spPr>
          <a:xfrm>
            <a:off x="7962900" y="2371725"/>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333"/>
              </a:lnSpc>
              <a:defRPr/>
            </a:pPr>
            <a:r>
              <a:rPr lang="zh-CN" altLang="en-US" sz="1200" b="0" i="0" u="none" strike="noStrike" dirty="0">
                <a:solidFill>
                  <a:srgbClr val="595959"/>
                </a:solidFill>
                <a:latin typeface="Noto Sans SC"/>
                <a:ea typeface="Noto Sans SC"/>
                <a:cs typeface="Noto Sans SC"/>
                <a:sym typeface="Noto Sans SC"/>
              </a:rPr>
              <a:t>利用</a:t>
            </a:r>
            <a:r>
              <a:rPr lang="en-US" altLang="zh-CN" sz="1200" b="0" i="0" u="none" strike="noStrike" dirty="0" err="1">
                <a:solidFill>
                  <a:srgbClr val="595959"/>
                </a:solidFill>
                <a:latin typeface="Noto Sans SC"/>
                <a:ea typeface="Noto Sans SC"/>
                <a:cs typeface="Noto Sans SC"/>
                <a:sym typeface="Noto Sans SC"/>
              </a:rPr>
              <a:t>AirSim</a:t>
            </a:r>
            <a:r>
              <a:rPr lang="zh-CN" altLang="en-US" sz="1200" b="0" i="0" u="none" strike="noStrike" dirty="0">
                <a:solidFill>
                  <a:srgbClr val="595959"/>
                </a:solidFill>
                <a:latin typeface="Noto Sans SC"/>
                <a:ea typeface="Noto Sans SC"/>
                <a:cs typeface="Noto Sans SC"/>
                <a:sym typeface="Noto Sans SC"/>
              </a:rPr>
              <a:t>平台制作时长</a:t>
            </a:r>
            <a:r>
              <a:rPr lang="en-US" altLang="zh-CN" sz="1200" b="0" i="0" u="none" strike="noStrike" dirty="0">
                <a:solidFill>
                  <a:srgbClr val="595959"/>
                </a:solidFill>
                <a:latin typeface="Noto Sans SC"/>
                <a:ea typeface="Noto Sans SC"/>
                <a:cs typeface="Noto Sans SC"/>
                <a:sym typeface="Noto Sans SC"/>
              </a:rPr>
              <a:t>3-5</a:t>
            </a:r>
            <a:r>
              <a:rPr lang="zh-CN" altLang="en-US" sz="1200" b="0" i="0" u="none" strike="noStrike" dirty="0">
                <a:solidFill>
                  <a:srgbClr val="595959"/>
                </a:solidFill>
                <a:latin typeface="Noto Sans SC"/>
                <a:ea typeface="Noto Sans SC"/>
                <a:cs typeface="Noto Sans SC"/>
                <a:sym typeface="Noto Sans SC"/>
              </a:rPr>
              <a:t>分钟的三维飞行仿真演示视频，完整展示无人机在建筑群中的自主路径规划与动态避障全过程。 </a:t>
            </a:r>
            <a:endParaRPr lang="en-US" sz="1100" dirty="0"/>
          </a:p>
        </p:txBody>
      </p:sp>
      <p:sp>
        <p:nvSpPr>
          <p:cNvPr id="15" name="AutoShape 15"/>
          <p:cNvSpPr/>
          <p:nvPr/>
        </p:nvSpPr>
        <p:spPr>
          <a:xfrm>
            <a:off x="7962900" y="2070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600" b="1" i="0" u="none" strike="noStrike" dirty="0" err="1">
                <a:solidFill>
                  <a:srgbClr val="313D51"/>
                </a:solidFill>
                <a:latin typeface="Noto Sans SC"/>
                <a:ea typeface="Noto Sans SC"/>
                <a:cs typeface="Noto Sans SC"/>
                <a:sym typeface="Noto Sans SC"/>
              </a:rPr>
              <a:t>高真实感演示视频</a:t>
            </a:r>
            <a:endParaRPr lang="en-US" sz="1100" dirty="0"/>
          </a:p>
        </p:txBody>
      </p:sp>
      <p:sp>
        <p:nvSpPr>
          <p:cNvPr id="16" name="AutoShape 16"/>
          <p:cNvSpPr/>
          <p:nvPr/>
        </p:nvSpPr>
        <p:spPr>
          <a:xfrm>
            <a:off x="7940669" y="3770562"/>
            <a:ext cx="2928877"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333"/>
              </a:lnSpc>
              <a:defRPr/>
            </a:pPr>
            <a:r>
              <a:rPr lang="zh-CN" altLang="en-US" sz="1200" b="0" i="0" u="none" strike="noStrike" dirty="0">
                <a:solidFill>
                  <a:srgbClr val="595959"/>
                </a:solidFill>
                <a:latin typeface="Noto Sans SC"/>
                <a:ea typeface="Noto Sans SC"/>
                <a:cs typeface="Noto Sans SC"/>
                <a:sym typeface="Noto Sans SC"/>
              </a:rPr>
              <a:t>撰写并投稿项目相关学术论文</a:t>
            </a:r>
            <a:r>
              <a:rPr lang="en-US" altLang="zh-CN" sz="1200" b="0" i="0" u="none" strike="noStrike" dirty="0">
                <a:solidFill>
                  <a:srgbClr val="595959"/>
                </a:solidFill>
                <a:latin typeface="Noto Sans SC"/>
                <a:ea typeface="Noto Sans SC"/>
                <a:cs typeface="Noto Sans SC"/>
                <a:sym typeface="Noto Sans SC"/>
              </a:rPr>
              <a:t>1</a:t>
            </a:r>
            <a:r>
              <a:rPr lang="zh-CN" altLang="en-US" sz="1200" b="0" i="0" u="none" strike="noStrike" dirty="0">
                <a:solidFill>
                  <a:srgbClr val="595959"/>
                </a:solidFill>
                <a:latin typeface="Noto Sans SC"/>
                <a:ea typeface="Noto Sans SC"/>
                <a:cs typeface="Noto Sans SC"/>
                <a:sym typeface="Noto Sans SC"/>
              </a:rPr>
              <a:t>篇，拟投稿至</a:t>
            </a:r>
            <a:r>
              <a:rPr lang="en-US" altLang="zh-CN" sz="1200" b="0" i="0" u="none" strike="noStrike" dirty="0">
                <a:solidFill>
                  <a:srgbClr val="595959"/>
                </a:solidFill>
                <a:latin typeface="Noto Sans SC"/>
                <a:ea typeface="Noto Sans SC"/>
                <a:cs typeface="Noto Sans SC"/>
                <a:sym typeface="Noto Sans SC"/>
              </a:rPr>
              <a:t>IEEE</a:t>
            </a:r>
            <a:r>
              <a:rPr lang="zh-CN" altLang="en-US" sz="1200" b="0" i="0" u="none" strike="noStrike" dirty="0">
                <a:solidFill>
                  <a:srgbClr val="595959"/>
                </a:solidFill>
                <a:latin typeface="Noto Sans SC"/>
                <a:ea typeface="Noto Sans SC"/>
                <a:cs typeface="Noto Sans SC"/>
                <a:sym typeface="Noto Sans SC"/>
              </a:rPr>
              <a:t>、</a:t>
            </a:r>
            <a:r>
              <a:rPr lang="en-US" altLang="zh-CN" sz="1200" b="0" i="0" u="none" strike="noStrike" dirty="0">
                <a:solidFill>
                  <a:srgbClr val="595959"/>
                </a:solidFill>
                <a:latin typeface="Noto Sans SC"/>
                <a:ea typeface="Noto Sans SC"/>
                <a:cs typeface="Noto Sans SC"/>
                <a:sym typeface="Noto Sans SC"/>
              </a:rPr>
              <a:t>Springer</a:t>
            </a:r>
            <a:r>
              <a:rPr lang="zh-CN" altLang="en-US" sz="1200" b="0" i="0" u="none" strike="noStrike" dirty="0">
                <a:solidFill>
                  <a:srgbClr val="595959"/>
                </a:solidFill>
                <a:latin typeface="Noto Sans SC"/>
                <a:ea typeface="Noto Sans SC"/>
                <a:cs typeface="Noto Sans SC"/>
                <a:sym typeface="Noto Sans SC"/>
              </a:rPr>
              <a:t>或国内核心期刊，涵盖</a:t>
            </a:r>
            <a:r>
              <a:rPr lang="en-US" altLang="zh-CN" sz="1200" b="0" i="0" u="none" strike="noStrike" dirty="0">
                <a:solidFill>
                  <a:srgbClr val="595959"/>
                </a:solidFill>
                <a:latin typeface="Noto Sans SC"/>
                <a:ea typeface="Noto Sans SC"/>
                <a:cs typeface="Noto Sans SC"/>
                <a:sym typeface="Noto Sans SC"/>
              </a:rPr>
              <a:t>CBMBA A*</a:t>
            </a:r>
            <a:r>
              <a:rPr lang="zh-CN" altLang="en-US" sz="1200" b="0" i="0" u="none" strike="noStrike" dirty="0">
                <a:solidFill>
                  <a:srgbClr val="595959"/>
                </a:solidFill>
                <a:latin typeface="Noto Sans SC"/>
                <a:ea typeface="Noto Sans SC"/>
                <a:cs typeface="Noto Sans SC"/>
                <a:sym typeface="Noto Sans SC"/>
              </a:rPr>
              <a:t>算法三维适配改进与全局</a:t>
            </a:r>
            <a:r>
              <a:rPr lang="en-US" altLang="zh-CN" sz="1200" b="0" i="0" u="none" strike="noStrike" dirty="0">
                <a:solidFill>
                  <a:srgbClr val="595959"/>
                </a:solidFill>
                <a:latin typeface="Noto Sans SC"/>
                <a:ea typeface="Noto Sans SC"/>
                <a:cs typeface="Noto Sans SC"/>
                <a:sym typeface="Noto Sans SC"/>
              </a:rPr>
              <a:t>-</a:t>
            </a:r>
            <a:r>
              <a:rPr lang="zh-CN" altLang="en-US" sz="1200" b="0" i="0" u="none" strike="noStrike" dirty="0">
                <a:solidFill>
                  <a:srgbClr val="595959"/>
                </a:solidFill>
                <a:latin typeface="Noto Sans SC"/>
                <a:ea typeface="Noto Sans SC"/>
                <a:cs typeface="Noto Sans SC"/>
                <a:sym typeface="Noto Sans SC"/>
              </a:rPr>
              <a:t>局部融合避障策略的研究成果。 </a:t>
            </a:r>
            <a:endParaRPr lang="en-US" sz="1100" dirty="0"/>
          </a:p>
        </p:txBody>
      </p:sp>
      <p:sp>
        <p:nvSpPr>
          <p:cNvPr id="17" name="AutoShape 17"/>
          <p:cNvSpPr/>
          <p:nvPr/>
        </p:nvSpPr>
        <p:spPr>
          <a:xfrm>
            <a:off x="7962900" y="34671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600" b="1" i="0" u="none" strike="noStrike">
                <a:solidFill>
                  <a:srgbClr val="313D51"/>
                </a:solidFill>
                <a:latin typeface="Noto Sans SC"/>
                <a:ea typeface="Noto Sans SC"/>
                <a:cs typeface="Noto Sans SC"/>
                <a:sym typeface="Noto Sans SC"/>
              </a:rPr>
              <a:t>学术论文</a:t>
            </a:r>
            <a:endParaRPr lang="en-US" sz="1100"/>
          </a:p>
        </p:txBody>
      </p:sp>
      <p:sp>
        <p:nvSpPr>
          <p:cNvPr id="18" name="AutoShape 18"/>
          <p:cNvSpPr/>
          <p:nvPr/>
        </p:nvSpPr>
        <p:spPr>
          <a:xfrm>
            <a:off x="3060700" y="5118492"/>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333"/>
              </a:lnSpc>
              <a:defRPr/>
            </a:pPr>
            <a:r>
              <a:rPr lang="zh-CN" altLang="en-US" sz="1200" b="0" i="0" u="none" strike="noStrike" dirty="0">
                <a:solidFill>
                  <a:srgbClr val="595959"/>
                </a:solidFill>
                <a:latin typeface="Noto Sans SC"/>
                <a:ea typeface="Noto Sans SC"/>
                <a:cs typeface="Noto Sans SC"/>
                <a:sym typeface="Noto Sans SC"/>
              </a:rPr>
              <a:t>基于公开城市数据构建不少于一个真实城市片区的三维建筑群仿真场景，建筑数量不少于</a:t>
            </a:r>
            <a:r>
              <a:rPr lang="en-US" altLang="zh-CN" sz="1200" b="0" i="0" u="none" strike="noStrike" dirty="0">
                <a:solidFill>
                  <a:srgbClr val="595959"/>
                </a:solidFill>
                <a:latin typeface="Noto Sans SC"/>
                <a:ea typeface="Noto Sans SC"/>
                <a:cs typeface="Noto Sans SC"/>
                <a:sym typeface="Noto Sans SC"/>
              </a:rPr>
              <a:t>50</a:t>
            </a:r>
            <a:r>
              <a:rPr lang="zh-CN" altLang="en-US" sz="1200" b="0" i="0" u="none" strike="noStrike" dirty="0">
                <a:solidFill>
                  <a:srgbClr val="595959"/>
                </a:solidFill>
                <a:latin typeface="Noto Sans SC"/>
                <a:ea typeface="Noto Sans SC"/>
                <a:cs typeface="Noto Sans SC"/>
                <a:sym typeface="Noto Sans SC"/>
              </a:rPr>
              <a:t>栋，场景复杂程度满足算法验证需求。 </a:t>
            </a:r>
            <a:endParaRPr lang="en-US" sz="1100" dirty="0"/>
          </a:p>
        </p:txBody>
      </p:sp>
      <p:sp>
        <p:nvSpPr>
          <p:cNvPr id="19" name="AutoShape 19"/>
          <p:cNvSpPr/>
          <p:nvPr/>
        </p:nvSpPr>
        <p:spPr>
          <a:xfrm>
            <a:off x="3048000" y="48387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600" b="1" i="0" u="none" strike="noStrike" dirty="0" err="1">
                <a:solidFill>
                  <a:srgbClr val="313D51"/>
                </a:solidFill>
                <a:latin typeface="Noto Sans SC"/>
                <a:ea typeface="Noto Sans SC"/>
                <a:cs typeface="Noto Sans SC"/>
                <a:sym typeface="Noto Sans SC"/>
              </a:rPr>
              <a:t>三维</a:t>
            </a:r>
            <a:r>
              <a:rPr lang="zh-CN" altLang="en-US" sz="1600" b="1" i="0" u="none" strike="noStrike" dirty="0">
                <a:solidFill>
                  <a:srgbClr val="313D51"/>
                </a:solidFill>
                <a:latin typeface="Noto Sans SC"/>
                <a:ea typeface="Noto Sans SC"/>
                <a:cs typeface="Noto Sans SC"/>
                <a:sym typeface="Noto Sans SC"/>
              </a:rPr>
              <a:t>建筑群</a:t>
            </a:r>
            <a:r>
              <a:rPr lang="en-US" sz="1600" b="1" i="0" u="none" strike="noStrike" dirty="0" err="1">
                <a:solidFill>
                  <a:srgbClr val="313D51"/>
                </a:solidFill>
                <a:latin typeface="Noto Sans SC"/>
                <a:ea typeface="Noto Sans SC"/>
                <a:cs typeface="Noto Sans SC"/>
                <a:sym typeface="Noto Sans SC"/>
              </a:rPr>
              <a:t>场景模型</a:t>
            </a:r>
            <a:endParaRPr lang="en-US" sz="1100" dirty="0"/>
          </a:p>
        </p:txBody>
      </p:sp>
      <p:sp>
        <p:nvSpPr>
          <p:cNvPr id="20" name="AutoShape 20"/>
          <p:cNvSpPr/>
          <p:nvPr/>
        </p:nvSpPr>
        <p:spPr>
          <a:xfrm>
            <a:off x="7962900" y="5165725"/>
            <a:ext cx="2489200" cy="635000"/>
          </a:xfrm>
          <a:prstGeom prst="rect">
            <a:avLst/>
          </a:prstGeom>
          <a:noFill/>
          <a:ln w="12700" cap="flat" cmpd="sng">
            <a:noFill/>
            <a:prstDash val="solid"/>
            <a:round/>
          </a:ln>
        </p:spPr>
        <p:txBody>
          <a:bodyPr vert="horz" wrap="square" lIns="0" tIns="0" rIns="0" bIns="0" rtlCol="0" anchor="t" anchorCtr="0"/>
          <a:lstStyle/>
          <a:p>
            <a:pPr marL="0" indent="0" algn="just">
              <a:lnSpc>
                <a:spcPct val="108333"/>
              </a:lnSpc>
              <a:defRPr/>
            </a:pPr>
            <a:r>
              <a:rPr lang="zh-CN" altLang="en-US" sz="1200" b="0" i="0" u="none" strike="noStrike" dirty="0">
                <a:solidFill>
                  <a:srgbClr val="595959"/>
                </a:solidFill>
                <a:latin typeface="Noto Sans SC"/>
                <a:ea typeface="Noto Sans SC"/>
                <a:cs typeface="Noto Sans SC"/>
                <a:sym typeface="Noto Sans SC"/>
              </a:rPr>
              <a:t>计划申请软件著作权</a:t>
            </a:r>
            <a:r>
              <a:rPr lang="en-US" altLang="zh-CN" sz="1200" b="0" i="0" u="none" strike="noStrike" dirty="0">
                <a:solidFill>
                  <a:srgbClr val="595959"/>
                </a:solidFill>
                <a:latin typeface="Noto Sans SC"/>
                <a:ea typeface="Noto Sans SC"/>
                <a:cs typeface="Noto Sans SC"/>
                <a:sym typeface="Noto Sans SC"/>
              </a:rPr>
              <a:t>1</a:t>
            </a:r>
            <a:r>
              <a:rPr lang="zh-CN" altLang="en-US" sz="1200" b="0" i="0" u="none" strike="noStrike" dirty="0">
                <a:solidFill>
                  <a:srgbClr val="595959"/>
                </a:solidFill>
                <a:latin typeface="Noto Sans SC"/>
                <a:ea typeface="Noto Sans SC"/>
                <a:cs typeface="Noto Sans SC"/>
                <a:sym typeface="Noto Sans SC"/>
              </a:rPr>
              <a:t>项（无人机三维仿真避障系统），为后续成果转化积累知识产权储备</a:t>
            </a:r>
            <a:endParaRPr lang="en-US" sz="1100" dirty="0"/>
          </a:p>
        </p:txBody>
      </p:sp>
      <p:sp>
        <p:nvSpPr>
          <p:cNvPr id="21" name="AutoShape 21"/>
          <p:cNvSpPr/>
          <p:nvPr/>
        </p:nvSpPr>
        <p:spPr>
          <a:xfrm>
            <a:off x="7962900" y="4838700"/>
            <a:ext cx="2667000" cy="355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600" b="1" i="0" u="none" strike="noStrike" dirty="0" err="1">
                <a:solidFill>
                  <a:srgbClr val="313D51"/>
                </a:solidFill>
                <a:latin typeface="Noto Sans SC"/>
                <a:ea typeface="Noto Sans SC"/>
                <a:cs typeface="Noto Sans SC"/>
                <a:sym typeface="Noto Sans SC"/>
              </a:rPr>
              <a:t>软件著作权</a:t>
            </a:r>
            <a:endParaRPr lang="en-US" sz="1100" dirty="0"/>
          </a:p>
        </p:txBody>
      </p:sp>
      <p:sp>
        <p:nvSpPr>
          <p:cNvPr id="22" name="Freeform 22"/>
          <p:cNvSpPr/>
          <p:nvPr/>
        </p:nvSpPr>
        <p:spPr>
          <a:xfrm>
            <a:off x="2006600" y="35433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2197100" y="3619500"/>
            <a:ext cx="3937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sz="2800" b="0" i="0" u="none" strike="noStrike">
                <a:solidFill>
                  <a:srgbClr val="F2F2F2"/>
                </a:solidFill>
                <a:latin typeface="Agency FB"/>
                <a:ea typeface="Agency FB"/>
                <a:cs typeface="Agency FB"/>
                <a:sym typeface="Agency FB"/>
              </a:rPr>
              <a:t>02</a:t>
            </a:r>
            <a:endParaRPr lang="en-US" sz="1100"/>
          </a:p>
        </p:txBody>
      </p:sp>
      <p:sp>
        <p:nvSpPr>
          <p:cNvPr id="24" name="Freeform 24"/>
          <p:cNvSpPr/>
          <p:nvPr/>
        </p:nvSpPr>
        <p:spPr>
          <a:xfrm rot="1799999">
            <a:off x="1905000" y="34544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endParaRPr/>
          </a:p>
        </p:txBody>
      </p:sp>
      <p:sp>
        <p:nvSpPr>
          <p:cNvPr id="25" name="Freeform 25"/>
          <p:cNvSpPr/>
          <p:nvPr/>
        </p:nvSpPr>
        <p:spPr>
          <a:xfrm>
            <a:off x="2006600" y="49276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2159000" y="5041900"/>
            <a:ext cx="4572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sz="2800" b="0" i="0" u="none" strike="noStrike">
                <a:solidFill>
                  <a:srgbClr val="F2F2F2"/>
                </a:solidFill>
                <a:latin typeface="Agency FB"/>
                <a:ea typeface="Agency FB"/>
                <a:cs typeface="Agency FB"/>
                <a:sym typeface="Agency FB"/>
              </a:rPr>
              <a:t>03</a:t>
            </a:r>
            <a:endParaRPr lang="en-US" sz="1100"/>
          </a:p>
        </p:txBody>
      </p:sp>
      <p:sp>
        <p:nvSpPr>
          <p:cNvPr id="27" name="Freeform 27"/>
          <p:cNvSpPr/>
          <p:nvPr/>
        </p:nvSpPr>
        <p:spPr>
          <a:xfrm rot="1799999">
            <a:off x="1905000" y="48387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endParaRPr/>
          </a:p>
        </p:txBody>
      </p:sp>
      <p:sp>
        <p:nvSpPr>
          <p:cNvPr id="28" name="Freeform 28"/>
          <p:cNvSpPr/>
          <p:nvPr/>
        </p:nvSpPr>
        <p:spPr>
          <a:xfrm>
            <a:off x="6870700" y="21717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7073900" y="2260600"/>
            <a:ext cx="3429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sz="2800" b="0" i="0" u="none" strike="noStrike">
                <a:solidFill>
                  <a:srgbClr val="F2F2F2"/>
                </a:solidFill>
                <a:latin typeface="Agency FB"/>
                <a:ea typeface="Agency FB"/>
                <a:cs typeface="Agency FB"/>
                <a:sym typeface="Agency FB"/>
              </a:rPr>
              <a:t>04</a:t>
            </a:r>
            <a:endParaRPr lang="en-US" sz="1100"/>
          </a:p>
        </p:txBody>
      </p:sp>
      <p:sp>
        <p:nvSpPr>
          <p:cNvPr id="30" name="Freeform 30"/>
          <p:cNvSpPr/>
          <p:nvPr/>
        </p:nvSpPr>
        <p:spPr>
          <a:xfrm rot="1799999">
            <a:off x="6769100" y="20828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endParaRPr/>
          </a:p>
        </p:txBody>
      </p:sp>
      <p:sp>
        <p:nvSpPr>
          <p:cNvPr id="31" name="Freeform 31"/>
          <p:cNvSpPr/>
          <p:nvPr/>
        </p:nvSpPr>
        <p:spPr>
          <a:xfrm>
            <a:off x="6870700" y="35433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7048500" y="3619500"/>
            <a:ext cx="3937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sz="2800" b="0" i="0" u="none" strike="noStrike">
                <a:solidFill>
                  <a:srgbClr val="F2F2F2"/>
                </a:solidFill>
                <a:latin typeface="Agency FB"/>
                <a:ea typeface="Agency FB"/>
                <a:cs typeface="Agency FB"/>
                <a:sym typeface="Agency FB"/>
              </a:rPr>
              <a:t>05</a:t>
            </a:r>
            <a:endParaRPr lang="en-US" sz="1100"/>
          </a:p>
        </p:txBody>
      </p:sp>
      <p:sp>
        <p:nvSpPr>
          <p:cNvPr id="33" name="Freeform 33"/>
          <p:cNvSpPr/>
          <p:nvPr/>
        </p:nvSpPr>
        <p:spPr>
          <a:xfrm rot="1799999">
            <a:off x="6769100" y="34544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endParaRPr/>
          </a:p>
        </p:txBody>
      </p:sp>
      <p:sp>
        <p:nvSpPr>
          <p:cNvPr id="34" name="Freeform 34"/>
          <p:cNvSpPr/>
          <p:nvPr/>
        </p:nvSpPr>
        <p:spPr>
          <a:xfrm>
            <a:off x="6870700" y="4927600"/>
            <a:ext cx="782577" cy="724214"/>
          </a:xfrm>
          <a:custGeom>
            <a:avLst/>
            <a:gdLst/>
            <a:ahLst/>
            <a:cxnLst/>
            <a:rect l="l" t="t" r="r" b="b"/>
            <a:pathLst>
              <a:path w="782577" h="724214">
                <a:moveTo>
                  <a:pt x="475188" y="687414"/>
                </a:moveTo>
                <a:cubicBezTo>
                  <a:pt x="449909" y="674902"/>
                  <a:pt x="421331" y="667911"/>
                  <a:pt x="391288" y="667911"/>
                </a:cubicBezTo>
                <a:cubicBezTo>
                  <a:pt x="361245" y="667911"/>
                  <a:pt x="332669" y="674902"/>
                  <a:pt x="307388" y="687414"/>
                </a:cubicBezTo>
                <a:cubicBezTo>
                  <a:pt x="233015" y="724214"/>
                  <a:pt x="157908" y="678214"/>
                  <a:pt x="152046" y="596152"/>
                </a:cubicBezTo>
                <a:cubicBezTo>
                  <a:pt x="149847" y="568184"/>
                  <a:pt x="141787" y="540584"/>
                  <a:pt x="127132" y="514825"/>
                </a:cubicBezTo>
                <a:cubicBezTo>
                  <a:pt x="112111" y="489066"/>
                  <a:pt x="92326" y="467722"/>
                  <a:pt x="69245" y="452266"/>
                </a:cubicBezTo>
                <a:cubicBezTo>
                  <a:pt x="0" y="405163"/>
                  <a:pt x="366" y="317580"/>
                  <a:pt x="69245" y="270844"/>
                </a:cubicBezTo>
                <a:cubicBezTo>
                  <a:pt x="92326" y="255021"/>
                  <a:pt x="112111" y="234044"/>
                  <a:pt x="127132" y="208285"/>
                </a:cubicBezTo>
                <a:cubicBezTo>
                  <a:pt x="141787" y="182526"/>
                  <a:pt x="149847" y="154558"/>
                  <a:pt x="152046" y="126958"/>
                </a:cubicBezTo>
                <a:cubicBezTo>
                  <a:pt x="157908" y="41952"/>
                  <a:pt x="233747" y="0"/>
                  <a:pt x="309221" y="36431"/>
                </a:cubicBezTo>
                <a:cubicBezTo>
                  <a:pt x="334134" y="48208"/>
                  <a:pt x="361978" y="55199"/>
                  <a:pt x="391288" y="55199"/>
                </a:cubicBezTo>
                <a:cubicBezTo>
                  <a:pt x="420964" y="55199"/>
                  <a:pt x="448809" y="48208"/>
                  <a:pt x="473723" y="36063"/>
                </a:cubicBezTo>
                <a:cubicBezTo>
                  <a:pt x="511825" y="17663"/>
                  <a:pt x="549929" y="19872"/>
                  <a:pt x="578872" y="37535"/>
                </a:cubicBezTo>
                <a:cubicBezTo>
                  <a:pt x="607450" y="54463"/>
                  <a:pt x="627601" y="86479"/>
                  <a:pt x="630531" y="126958"/>
                </a:cubicBezTo>
                <a:cubicBezTo>
                  <a:pt x="632363" y="154558"/>
                  <a:pt x="640423" y="182526"/>
                  <a:pt x="655444" y="208285"/>
                </a:cubicBezTo>
                <a:cubicBezTo>
                  <a:pt x="670100" y="234044"/>
                  <a:pt x="690250" y="255021"/>
                  <a:pt x="713332" y="270844"/>
                </a:cubicBezTo>
                <a:cubicBezTo>
                  <a:pt x="781111" y="317212"/>
                  <a:pt x="782577" y="405530"/>
                  <a:pt x="713698" y="451898"/>
                </a:cubicBezTo>
                <a:cubicBezTo>
                  <a:pt x="690617" y="467354"/>
                  <a:pt x="670100" y="488697"/>
                  <a:pt x="655444" y="514825"/>
                </a:cubicBezTo>
                <a:cubicBezTo>
                  <a:pt x="640423" y="540584"/>
                  <a:pt x="632363" y="568552"/>
                  <a:pt x="630531" y="596520"/>
                </a:cubicBezTo>
                <a:cubicBezTo>
                  <a:pt x="624670" y="678214"/>
                  <a:pt x="549196" y="724214"/>
                  <a:pt x="475188" y="687414"/>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7023100" y="5041900"/>
            <a:ext cx="457200" cy="4699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sz="2800" b="0" i="0" u="none" strike="noStrike">
                <a:solidFill>
                  <a:srgbClr val="F2F2F2"/>
                </a:solidFill>
                <a:latin typeface="Agency FB"/>
                <a:ea typeface="Agency FB"/>
                <a:cs typeface="Agency FB"/>
                <a:sym typeface="Agency FB"/>
              </a:rPr>
              <a:t>06</a:t>
            </a:r>
            <a:endParaRPr lang="en-US" sz="1100"/>
          </a:p>
        </p:txBody>
      </p:sp>
      <p:sp>
        <p:nvSpPr>
          <p:cNvPr id="36" name="Freeform 36"/>
          <p:cNvSpPr/>
          <p:nvPr/>
        </p:nvSpPr>
        <p:spPr>
          <a:xfrm rot="1799999">
            <a:off x="6769100" y="4838700"/>
            <a:ext cx="978986" cy="904442"/>
          </a:xfrm>
          <a:custGeom>
            <a:avLst/>
            <a:gdLst/>
            <a:ahLst/>
            <a:cxnLst/>
            <a:rect l="l" t="t" r="r" b="b"/>
            <a:pathLst>
              <a:path w="978986" h="904442">
                <a:moveTo>
                  <a:pt x="594053" y="858652"/>
                </a:moveTo>
                <a:cubicBezTo>
                  <a:pt x="562461" y="842815"/>
                  <a:pt x="526750" y="834207"/>
                  <a:pt x="489321" y="834207"/>
                </a:cubicBezTo>
                <a:cubicBezTo>
                  <a:pt x="451550" y="834207"/>
                  <a:pt x="416180" y="842815"/>
                  <a:pt x="384589" y="858308"/>
                </a:cubicBezTo>
                <a:cubicBezTo>
                  <a:pt x="291189" y="904442"/>
                  <a:pt x="197446" y="847291"/>
                  <a:pt x="189890" y="744348"/>
                </a:cubicBezTo>
                <a:cubicBezTo>
                  <a:pt x="187488" y="709576"/>
                  <a:pt x="177185" y="674803"/>
                  <a:pt x="158643" y="642784"/>
                </a:cubicBezTo>
                <a:cubicBezTo>
                  <a:pt x="140100" y="610420"/>
                  <a:pt x="115377" y="584255"/>
                  <a:pt x="86533" y="564631"/>
                </a:cubicBezTo>
                <a:cubicBezTo>
                  <a:pt x="0" y="506101"/>
                  <a:pt x="0" y="396618"/>
                  <a:pt x="86533" y="338089"/>
                </a:cubicBezTo>
                <a:cubicBezTo>
                  <a:pt x="115377" y="318465"/>
                  <a:pt x="140100" y="292299"/>
                  <a:pt x="158643" y="259937"/>
                </a:cubicBezTo>
                <a:cubicBezTo>
                  <a:pt x="177185" y="227918"/>
                  <a:pt x="187488" y="193145"/>
                  <a:pt x="189890" y="158372"/>
                </a:cubicBezTo>
                <a:cubicBezTo>
                  <a:pt x="197446" y="52332"/>
                  <a:pt x="292219" y="0"/>
                  <a:pt x="386650" y="45446"/>
                </a:cubicBezTo>
                <a:cubicBezTo>
                  <a:pt x="417897" y="60250"/>
                  <a:pt x="452580" y="68857"/>
                  <a:pt x="489321" y="68857"/>
                </a:cubicBezTo>
                <a:cubicBezTo>
                  <a:pt x="526406" y="68857"/>
                  <a:pt x="561431" y="60250"/>
                  <a:pt x="592680" y="45102"/>
                </a:cubicBezTo>
                <a:cubicBezTo>
                  <a:pt x="640410" y="21690"/>
                  <a:pt x="687796" y="24789"/>
                  <a:pt x="724196" y="46478"/>
                </a:cubicBezTo>
                <a:cubicBezTo>
                  <a:pt x="759907" y="68169"/>
                  <a:pt x="784974" y="107762"/>
                  <a:pt x="788408" y="158372"/>
                </a:cubicBezTo>
                <a:cubicBezTo>
                  <a:pt x="791155" y="193145"/>
                  <a:pt x="801113" y="227918"/>
                  <a:pt x="819657" y="259937"/>
                </a:cubicBezTo>
                <a:cubicBezTo>
                  <a:pt x="838199" y="292299"/>
                  <a:pt x="863266" y="318465"/>
                  <a:pt x="892110" y="338089"/>
                </a:cubicBezTo>
                <a:cubicBezTo>
                  <a:pt x="977269" y="395930"/>
                  <a:pt x="978986" y="506101"/>
                  <a:pt x="892797" y="564286"/>
                </a:cubicBezTo>
                <a:cubicBezTo>
                  <a:pt x="863609" y="583910"/>
                  <a:pt x="838542" y="610076"/>
                  <a:pt x="819657" y="642784"/>
                </a:cubicBezTo>
                <a:cubicBezTo>
                  <a:pt x="801113" y="675147"/>
                  <a:pt x="791155" y="709920"/>
                  <a:pt x="788751" y="745037"/>
                </a:cubicBezTo>
                <a:cubicBezTo>
                  <a:pt x="781197" y="846946"/>
                  <a:pt x="686766" y="904442"/>
                  <a:pt x="594053" y="858652"/>
                </a:cubicBezTo>
                <a:close/>
              </a:path>
            </a:pathLst>
          </a:custGeom>
          <a:noFill/>
          <a:ln w="12700" cap="flat" cmpd="sng">
            <a:solidFill>
              <a:srgbClr val="313D51">
                <a:alpha val="100000"/>
              </a:srgbClr>
            </a:solidFill>
            <a:prstDash val="solid"/>
            <a:miter lim="10000000"/>
          </a:ln>
        </p:spPr>
        <p:txBody>
          <a:bodyPr vert="horz" wrap="square" lIns="63500" tIns="63500" rIns="63500" bIns="63500" rtlCol="0" anchor="ctr"/>
          <a:lstStyle/>
          <a:p>
            <a:pPr algn="ctr">
              <a:defRPr/>
            </a:pPr>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ppt_x</p:attrName>
                                        </p:attrNameLst>
                                      </p:cBhvr>
                                      <p:tavLst>
                                        <p:tav tm="0">
                                          <p:val>
                                            <p:strVal val="#ppt_x"/>
                                          </p:val>
                                        </p:tav>
                                        <p:tav tm="100000">
                                          <p:val>
                                            <p:strVal val="#ppt_x"/>
                                          </p:val>
                                        </p:tav>
                                      </p:tavLst>
                                    </p:anim>
                                    <p:anim calcmode="lin" valueType="num">
                                      <p:cBhvr additive="base">
                                        <p:cTn id="12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P spid="11" grpId="0"/>
      <p:bldP spid="12" grpId="0"/>
      <p:bldP spid="13" grpId="0"/>
      <p:bldP spid="14" grpId="0"/>
      <p:bldP spid="15" grpId="0"/>
      <p:bldP spid="16" grpId="0"/>
      <p:bldP spid="17" grpId="0"/>
      <p:bldP spid="18" grpId="0"/>
      <p:bldP spid="19" grpId="0"/>
      <p:bldP spid="20" grpId="0"/>
      <p:bldP spid="21" grpId="0"/>
      <p:bldP spid="22" grpId="0" animBg="1"/>
      <p:bldP spid="23" grpId="0"/>
      <p:bldP spid="24" grpId="0" animBg="1"/>
      <p:bldP spid="25" grpId="0" animBg="1"/>
      <p:bldP spid="26" grpId="0"/>
      <p:bldP spid="27" grpId="0" animBg="1"/>
      <p:bldP spid="28" grpId="0" animBg="1"/>
      <p:bldP spid="29" grpId="0"/>
      <p:bldP spid="30" grpId="0" animBg="1"/>
      <p:bldP spid="31" grpId="0" animBg="1"/>
      <p:bldP spid="32" grpId="0"/>
      <p:bldP spid="33" grpId="0" animBg="1"/>
      <p:bldP spid="34" grpId="0" animBg="1"/>
      <p:bldP spid="35" grpId="0"/>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151" b="151"/>
          <a:stretch>
            <a:fillRect/>
          </a:stretch>
        </p:blipFill>
        <p:spPr>
          <a:xfrm>
            <a:off x="0" y="4318"/>
            <a:ext cx="12192000" cy="6858000"/>
          </a:xfrm>
          <a:prstGeom prst="rect">
            <a:avLst/>
          </a:prstGeom>
          <a:noFill/>
          <a:ln w="25400" cap="flat" cmpd="sng">
            <a:noFill/>
            <a:prstDash val="solid"/>
            <a:round/>
          </a:ln>
        </p:spPr>
      </p:pic>
      <p:sp>
        <p:nvSpPr>
          <p:cNvPr id="3" name="AutoShape 3"/>
          <p:cNvSpPr/>
          <p:nvPr/>
        </p:nvSpPr>
        <p:spPr>
          <a:xfrm>
            <a:off x="393700" y="442384"/>
            <a:ext cx="11404600" cy="5956300"/>
          </a:xfrm>
          <a:prstGeom prst="roundRect">
            <a:avLst>
              <a:gd name="adj" fmla="val 0"/>
            </a:avLst>
          </a:prstGeom>
          <a:solidFill>
            <a:srgbClr val="FFFFFF">
              <a:alpha val="100000"/>
            </a:srgbClr>
          </a:solidFill>
          <a:ln w="25400" cap="flat" cmpd="sng">
            <a:noFill/>
            <a:prstDash val="solid"/>
            <a:round/>
          </a:ln>
          <a:effectLst>
            <a:outerShdw blurRad="190500" dist="63500" dir="2700000" algn="tl" rotWithShape="0">
              <a:srgbClr val="000000">
                <a:alpha val="30000"/>
              </a:srgbClr>
            </a:outerShdw>
          </a:effectLst>
        </p:spPr>
        <p:txBody>
          <a:bodyPr vert="horz" wrap="square" lIns="63500" tIns="63500" rIns="63500" bIns="63500" rtlCol="0" anchor="ctr"/>
          <a:lstStyle/>
          <a:p>
            <a:pPr algn="ctr">
              <a:defRPr/>
            </a:pPr>
            <a:endParaRPr/>
          </a:p>
        </p:txBody>
      </p:sp>
      <p:sp>
        <p:nvSpPr>
          <p:cNvPr id="4" name="Freeform 4"/>
          <p:cNvSpPr/>
          <p:nvPr/>
        </p:nvSpPr>
        <p:spPr>
          <a:xfrm>
            <a:off x="406400" y="5336714"/>
            <a:ext cx="11380902" cy="1061970"/>
          </a:xfrm>
          <a:custGeom>
            <a:avLst/>
            <a:gdLst/>
            <a:ahLst/>
            <a:cxnLst/>
            <a:rect l="l" t="t" r="r" b="b"/>
            <a:pathLst>
              <a:path w="11380902" h="1061970">
                <a:moveTo>
                  <a:pt x="8968746" y="22732"/>
                </a:moveTo>
                <a:cubicBezTo>
                  <a:pt x="10021918" y="25437"/>
                  <a:pt x="10978702" y="147362"/>
                  <a:pt x="11374181" y="205839"/>
                </a:cubicBezTo>
                <a:lnTo>
                  <a:pt x="11380902" y="207522"/>
                </a:lnTo>
                <a:lnTo>
                  <a:pt x="11380902" y="303501"/>
                </a:lnTo>
                <a:lnTo>
                  <a:pt x="11380902" y="965991"/>
                </a:lnTo>
                <a:lnTo>
                  <a:pt x="11380902" y="1061970"/>
                </a:lnTo>
                <a:lnTo>
                  <a:pt x="0" y="1061970"/>
                </a:lnTo>
                <a:lnTo>
                  <a:pt x="0" y="965991"/>
                </a:lnTo>
                <a:lnTo>
                  <a:pt x="0" y="303869"/>
                </a:lnTo>
                <a:lnTo>
                  <a:pt x="0" y="207890"/>
                </a:lnTo>
                <a:lnTo>
                  <a:pt x="3308" y="207890"/>
                </a:lnTo>
                <a:lnTo>
                  <a:pt x="14234" y="205839"/>
                </a:lnTo>
                <a:cubicBezTo>
                  <a:pt x="640597" y="104256"/>
                  <a:pt x="1754527" y="0"/>
                  <a:pt x="2829310" y="32078"/>
                </a:cubicBezTo>
                <a:cubicBezTo>
                  <a:pt x="4146098" y="72177"/>
                  <a:pt x="5099876" y="312768"/>
                  <a:pt x="5587444" y="721775"/>
                </a:cubicBezTo>
                <a:cubicBezTo>
                  <a:pt x="5587444" y="721775"/>
                  <a:pt x="5587444" y="721775"/>
                  <a:pt x="5690649" y="809992"/>
                </a:cubicBezTo>
                <a:cubicBezTo>
                  <a:pt x="5690649" y="809992"/>
                  <a:pt x="5690649" y="809992"/>
                  <a:pt x="5797415" y="724449"/>
                </a:cubicBezTo>
                <a:cubicBezTo>
                  <a:pt x="6313454" y="304749"/>
                  <a:pt x="7228087" y="72177"/>
                  <a:pt x="8512840" y="29406"/>
                </a:cubicBezTo>
                <a:cubicBezTo>
                  <a:pt x="8665873" y="24393"/>
                  <a:pt x="8818293" y="22346"/>
                  <a:pt x="8968746" y="22732"/>
                </a:cubicBezTo>
                <a:close/>
              </a:path>
            </a:pathLst>
          </a:custGeom>
          <a:solidFill>
            <a:srgbClr val="244C8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013200" y="1574800"/>
            <a:ext cx="4216400" cy="825500"/>
          </a:xfrm>
          <a:prstGeom prst="roundRect">
            <a:avLst>
              <a:gd name="adj" fmla="val 0"/>
            </a:avLst>
          </a:prstGeom>
          <a:noFill/>
          <a:ln w="25400" cap="flat" cmpd="sng">
            <a:noFill/>
            <a:prstDash val="solid"/>
            <a:round/>
          </a:ln>
        </p:spPr>
        <p:txBody>
          <a:bodyPr vert="horz" wrap="none" lIns="88900" tIns="50800" rIns="88900" bIns="50800" rtlCol="0" anchor="ctr" anchorCtr="0"/>
          <a:lstStyle/>
          <a:p>
            <a:pPr indent="0" algn="ctr">
              <a:lnSpc>
                <a:spcPct val="116666"/>
              </a:lnSpc>
              <a:defRPr/>
            </a:pPr>
            <a:r>
              <a:rPr lang="en-US" sz="4800" b="1" i="0" u="none" strike="noStrike" dirty="0" err="1">
                <a:solidFill>
                  <a:srgbClr val="C00000"/>
                </a:solidFill>
                <a:latin typeface="Noto Sans SC"/>
                <a:ea typeface="Noto Sans SC"/>
                <a:cs typeface="Noto Sans SC"/>
                <a:sym typeface="Noto Sans SC"/>
              </a:rPr>
              <a:t>致谢</a:t>
            </a:r>
            <a:endParaRPr lang="en-US" sz="1100" dirty="0"/>
          </a:p>
        </p:txBody>
      </p:sp>
      <p:sp>
        <p:nvSpPr>
          <p:cNvPr id="6" name="AutoShape 6"/>
          <p:cNvSpPr/>
          <p:nvPr/>
        </p:nvSpPr>
        <p:spPr>
          <a:xfrm>
            <a:off x="2438400" y="2730500"/>
            <a:ext cx="7315200" cy="304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800" b="0" i="0" u="none" strike="noStrike">
                <a:solidFill>
                  <a:srgbClr val="595959"/>
                </a:solidFill>
                <a:latin typeface="Noto Sans SC"/>
                <a:ea typeface="Noto Sans SC"/>
                <a:cs typeface="Noto Sans SC"/>
                <a:sym typeface="Noto Sans SC"/>
              </a:rPr>
              <a:t>感谢母校提供了宝贵的学习与实践的机会！</a:t>
            </a:r>
            <a:endParaRPr lang="en-US" sz="1100"/>
          </a:p>
        </p:txBody>
      </p:sp>
      <p:sp>
        <p:nvSpPr>
          <p:cNvPr id="7" name="AutoShape 7"/>
          <p:cNvSpPr/>
          <p:nvPr/>
        </p:nvSpPr>
        <p:spPr>
          <a:xfrm>
            <a:off x="2997200" y="3251200"/>
            <a:ext cx="6184900" cy="304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800" b="0" i="0" u="none" strike="noStrike" dirty="0" err="1">
                <a:solidFill>
                  <a:srgbClr val="595959"/>
                </a:solidFill>
                <a:latin typeface="Noto Sans SC"/>
                <a:ea typeface="Noto Sans SC"/>
                <a:cs typeface="Noto Sans SC"/>
                <a:sym typeface="Noto Sans SC"/>
              </a:rPr>
              <a:t>感谢我</a:t>
            </a:r>
            <a:r>
              <a:rPr lang="zh-CN" altLang="en-US" sz="1800" b="0" i="0" u="none" strike="noStrike" dirty="0">
                <a:solidFill>
                  <a:srgbClr val="595959"/>
                </a:solidFill>
                <a:latin typeface="Noto Sans SC"/>
                <a:ea typeface="Noto Sans SC"/>
                <a:cs typeface="Noto Sans SC"/>
                <a:sym typeface="Noto Sans SC"/>
              </a:rPr>
              <a:t>们</a:t>
            </a:r>
            <a:r>
              <a:rPr lang="en-US" sz="1800" b="0" i="0" u="none" strike="noStrike" dirty="0" err="1">
                <a:solidFill>
                  <a:srgbClr val="595959"/>
                </a:solidFill>
                <a:latin typeface="Noto Sans SC"/>
                <a:ea typeface="Noto Sans SC"/>
                <a:cs typeface="Noto Sans SC"/>
                <a:sym typeface="Noto Sans SC"/>
              </a:rPr>
              <a:t>的导师团队</a:t>
            </a:r>
            <a:r>
              <a:rPr lang="en-US" sz="1800" b="0" i="0" u="none" strike="noStrike" dirty="0">
                <a:solidFill>
                  <a:srgbClr val="595959"/>
                </a:solidFill>
                <a:latin typeface="Noto Sans SC"/>
                <a:ea typeface="Noto Sans SC"/>
                <a:cs typeface="Noto Sans SC"/>
                <a:sym typeface="Noto Sans SC"/>
              </a:rPr>
              <a:t>！</a:t>
            </a:r>
            <a:endParaRPr lang="en-US" sz="1100" dirty="0"/>
          </a:p>
        </p:txBody>
      </p:sp>
      <p:sp>
        <p:nvSpPr>
          <p:cNvPr id="8" name="AutoShape 8"/>
          <p:cNvSpPr/>
          <p:nvPr/>
        </p:nvSpPr>
        <p:spPr>
          <a:xfrm>
            <a:off x="2286000" y="3759200"/>
            <a:ext cx="7620000" cy="304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800" b="0" i="0" u="none" strike="noStrike" dirty="0" err="1">
                <a:solidFill>
                  <a:srgbClr val="595959"/>
                </a:solidFill>
                <a:latin typeface="Noto Sans SC"/>
                <a:ea typeface="Noto Sans SC"/>
                <a:cs typeface="Noto Sans SC"/>
                <a:sym typeface="Noto Sans SC"/>
              </a:rPr>
              <a:t>感谢我的导师</a:t>
            </a:r>
            <a:r>
              <a:rPr lang="en-US" sz="1800" b="0" i="0" u="none" strike="noStrike" dirty="0">
                <a:solidFill>
                  <a:srgbClr val="595959"/>
                </a:solidFill>
                <a:latin typeface="Noto Sans SC"/>
                <a:ea typeface="Noto Sans SC"/>
                <a:cs typeface="Noto Sans SC"/>
                <a:sym typeface="Noto Sans SC"/>
              </a:rPr>
              <a:t>[</a:t>
            </a:r>
            <a:r>
              <a:rPr lang="en-US" sz="1800" b="0" i="0" u="none" strike="noStrike" dirty="0" err="1">
                <a:solidFill>
                  <a:srgbClr val="595959"/>
                </a:solidFill>
                <a:latin typeface="Noto Sans SC"/>
                <a:ea typeface="Noto Sans SC"/>
                <a:cs typeface="Noto Sans SC"/>
                <a:sym typeface="Noto Sans SC"/>
              </a:rPr>
              <a:t>指导教师姓名</a:t>
            </a:r>
            <a:r>
              <a:rPr lang="en-US" sz="1800" b="0" i="0" u="none" strike="noStrike" dirty="0">
                <a:solidFill>
                  <a:srgbClr val="595959"/>
                </a:solidFill>
                <a:latin typeface="Noto Sans SC"/>
                <a:ea typeface="Noto Sans SC"/>
                <a:cs typeface="Noto Sans SC"/>
                <a:sym typeface="Noto Sans SC"/>
              </a:rPr>
              <a:t>]</a:t>
            </a:r>
            <a:r>
              <a:rPr lang="en-US" sz="1800" b="0" i="0" u="none" strike="noStrike" dirty="0" err="1">
                <a:solidFill>
                  <a:srgbClr val="595959"/>
                </a:solidFill>
                <a:latin typeface="Noto Sans SC"/>
                <a:ea typeface="Noto Sans SC"/>
                <a:cs typeface="Noto Sans SC"/>
                <a:sym typeface="Noto Sans SC"/>
              </a:rPr>
              <a:t>教授给与的耐心指导</a:t>
            </a:r>
            <a:r>
              <a:rPr lang="en-US" sz="1800" b="0" i="0" u="none" strike="noStrike" dirty="0">
                <a:solidFill>
                  <a:srgbClr val="595959"/>
                </a:solidFill>
                <a:latin typeface="Noto Sans SC"/>
                <a:ea typeface="Noto Sans SC"/>
                <a:cs typeface="Noto Sans SC"/>
                <a:sym typeface="Noto Sans SC"/>
              </a:rPr>
              <a:t>！</a:t>
            </a:r>
            <a:endParaRPr lang="en-US" sz="1100" dirty="0"/>
          </a:p>
        </p:txBody>
      </p:sp>
      <p:sp>
        <p:nvSpPr>
          <p:cNvPr id="9" name="AutoShape 9"/>
          <p:cNvSpPr/>
          <p:nvPr/>
        </p:nvSpPr>
        <p:spPr>
          <a:xfrm>
            <a:off x="3263900" y="4241800"/>
            <a:ext cx="5651500" cy="304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800" b="0" i="0" u="none" strike="noStrike" dirty="0" err="1">
                <a:solidFill>
                  <a:srgbClr val="595959"/>
                </a:solidFill>
                <a:latin typeface="Noto Sans SC"/>
                <a:ea typeface="Noto Sans SC"/>
                <a:cs typeface="Noto Sans SC"/>
                <a:sym typeface="Noto Sans SC"/>
              </a:rPr>
              <a:t>感谢同学的支持与帮助</a:t>
            </a:r>
            <a:r>
              <a:rPr lang="en-US" sz="1800" b="0" i="0" u="none" strike="noStrike" dirty="0">
                <a:solidFill>
                  <a:srgbClr val="595959"/>
                </a:solidFill>
                <a:latin typeface="Noto Sans SC"/>
                <a:ea typeface="Noto Sans SC"/>
                <a:cs typeface="Noto Sans SC"/>
                <a:sym typeface="Noto Sans SC"/>
              </a:rPr>
              <a:t>！</a:t>
            </a:r>
            <a:endParaRPr lang="en-US" sz="1100" dirty="0"/>
          </a:p>
        </p:txBody>
      </p:sp>
      <p:sp>
        <p:nvSpPr>
          <p:cNvPr id="10" name="AutoShape 10"/>
          <p:cNvSpPr/>
          <p:nvPr/>
        </p:nvSpPr>
        <p:spPr>
          <a:xfrm>
            <a:off x="3263900" y="4762500"/>
            <a:ext cx="5651500" cy="304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800" b="0" i="0" u="none" strike="noStrike" dirty="0" err="1">
                <a:solidFill>
                  <a:srgbClr val="595959"/>
                </a:solidFill>
                <a:latin typeface="Noto Sans SC"/>
                <a:ea typeface="Noto Sans SC"/>
                <a:cs typeface="Noto Sans SC"/>
                <a:sym typeface="Noto Sans SC"/>
              </a:rPr>
              <a:t>感谢各位答辩评审</a:t>
            </a:r>
            <a:r>
              <a:rPr lang="en-US" sz="1800" b="0" i="0" u="none" strike="noStrike" dirty="0">
                <a:solidFill>
                  <a:srgbClr val="595959"/>
                </a:solidFill>
                <a:latin typeface="Noto Sans SC"/>
                <a:ea typeface="Noto Sans SC"/>
                <a:cs typeface="Noto Sans SC"/>
                <a:sym typeface="Noto Sans SC"/>
              </a:rPr>
              <a:t>！</a:t>
            </a:r>
            <a:endParaRPr lang="en-US" sz="1100" dirty="0"/>
          </a:p>
        </p:txBody>
      </p:sp>
      <p:sp>
        <p:nvSpPr>
          <p:cNvPr id="12" name="Freeform 12"/>
          <p:cNvSpPr/>
          <p:nvPr/>
        </p:nvSpPr>
        <p:spPr>
          <a:xfrm>
            <a:off x="406400" y="4999905"/>
            <a:ext cx="11398686" cy="1032530"/>
          </a:xfrm>
          <a:custGeom>
            <a:avLst/>
            <a:gdLst/>
            <a:ahLst/>
            <a:cxnLst/>
            <a:rect l="l" t="t" r="r" b="b"/>
            <a:pathLst>
              <a:path w="11398686" h="1032530">
                <a:moveTo>
                  <a:pt x="11398686" y="275789"/>
                </a:moveTo>
                <a:lnTo>
                  <a:pt x="11387992" y="272426"/>
                </a:lnTo>
                <a:cubicBezTo>
                  <a:pt x="10935334" y="188343"/>
                  <a:pt x="9748441" y="0"/>
                  <a:pt x="8522344" y="50448"/>
                </a:cubicBezTo>
                <a:cubicBezTo>
                  <a:pt x="7235655" y="104262"/>
                  <a:pt x="6319646" y="396869"/>
                  <a:pt x="5802831" y="924904"/>
                </a:cubicBezTo>
                <a:lnTo>
                  <a:pt x="5695903" y="1032530"/>
                </a:lnTo>
                <a:lnTo>
                  <a:pt x="5592540" y="921541"/>
                </a:lnTo>
                <a:cubicBezTo>
                  <a:pt x="5104239" y="406957"/>
                  <a:pt x="4149025" y="104262"/>
                  <a:pt x="2830256" y="53811"/>
                </a:cubicBezTo>
                <a:cubicBezTo>
                  <a:pt x="1753855" y="13453"/>
                  <a:pt x="638249" y="144621"/>
                  <a:pt x="10942" y="272426"/>
                </a:cubicBezTo>
                <a:lnTo>
                  <a:pt x="0" y="275007"/>
                </a:lnTo>
              </a:path>
            </a:pathLst>
          </a:custGeom>
          <a:noFill/>
          <a:ln w="12700" cap="flat" cmpd="sng">
            <a:solidFill>
              <a:srgbClr val="244C89">
                <a:alpha val="100000"/>
              </a:srgbClr>
            </a:solidFill>
            <a:prstDash val="solid"/>
            <a:miter lim="10000000"/>
          </a:ln>
        </p:spPr>
        <p:txBody>
          <a:bodyPr vert="horz" wrap="square" lIns="63500" tIns="63500" rIns="63500" bIns="63500" rtlCol="0" anchor="ctr"/>
          <a:lstStyle/>
          <a:p>
            <a:pPr algn="ctr">
              <a:defRPr/>
            </a:pPr>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5BFDF-6C55-CBB1-642F-3AAF8124FA1B}"/>
            </a:ext>
          </a:extLst>
        </p:cNvPr>
        <p:cNvGrpSpPr/>
        <p:nvPr/>
      </p:nvGrpSpPr>
      <p:grpSpPr>
        <a:xfrm>
          <a:off x="0" y="0"/>
          <a:ext cx="0" cy="0"/>
          <a:chOff x="0" y="0"/>
          <a:chExt cx="0" cy="0"/>
        </a:xfrm>
      </p:grpSpPr>
      <p:sp>
        <p:nvSpPr>
          <p:cNvPr id="5" name="椭圆形标注 4">
            <a:extLst>
              <a:ext uri="{FF2B5EF4-FFF2-40B4-BE49-F238E27FC236}">
                <a16:creationId xmlns:a16="http://schemas.microsoft.com/office/drawing/2014/main" id="{A9F544C3-20DD-6503-61D2-82AB8F20C440}"/>
              </a:ext>
            </a:extLst>
          </p:cNvPr>
          <p:cNvSpPr/>
          <p:nvPr/>
        </p:nvSpPr>
        <p:spPr>
          <a:xfrm>
            <a:off x="5834084" y="1516652"/>
            <a:ext cx="3824696" cy="3824696"/>
          </a:xfrm>
          <a:prstGeom prst="wedgeEllipseCallout">
            <a:avLst>
              <a:gd name="adj1" fmla="val -59289"/>
              <a:gd name="adj2" fmla="val 42591"/>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6" name="圆角矩形 5">
            <a:extLst>
              <a:ext uri="{FF2B5EF4-FFF2-40B4-BE49-F238E27FC236}">
                <a16:creationId xmlns:a16="http://schemas.microsoft.com/office/drawing/2014/main" id="{40C95858-0E83-7347-9C50-25D85A7C3858}"/>
              </a:ext>
            </a:extLst>
          </p:cNvPr>
          <p:cNvSpPr/>
          <p:nvPr/>
        </p:nvSpPr>
        <p:spPr>
          <a:xfrm>
            <a:off x="5583229" y="2617111"/>
            <a:ext cx="4364492" cy="1152810"/>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5400" b="1" dirty="0">
                <a:solidFill>
                  <a:schemeClr val="bg1"/>
                </a:solidFill>
                <a:latin typeface="思源黑体" panose="020B0500000000000000" pitchFamily="34" charset="-122"/>
                <a:ea typeface="思源黑体" panose="020B0500000000000000" pitchFamily="34" charset="-122"/>
              </a:rPr>
              <a:t>Q&amp;A</a:t>
            </a:r>
            <a:endParaRPr lang="zh-CN" altLang="en-US" sz="5400" b="1" dirty="0">
              <a:solidFill>
                <a:schemeClr val="bg1"/>
              </a:solidFill>
              <a:latin typeface="思源黑体" panose="020B0500000000000000" pitchFamily="34" charset="-122"/>
              <a:ea typeface="思源黑体" panose="020B0500000000000000" pitchFamily="34" charset="-122"/>
            </a:endParaRPr>
          </a:p>
        </p:txBody>
      </p:sp>
      <p:sp>
        <p:nvSpPr>
          <p:cNvPr id="7" name="文本框 6">
            <a:extLst>
              <a:ext uri="{FF2B5EF4-FFF2-40B4-BE49-F238E27FC236}">
                <a16:creationId xmlns:a16="http://schemas.microsoft.com/office/drawing/2014/main" id="{28B56FC2-C50D-8166-8C81-38DC3759BDC7}"/>
              </a:ext>
            </a:extLst>
          </p:cNvPr>
          <p:cNvSpPr txBox="1"/>
          <p:nvPr/>
        </p:nvSpPr>
        <p:spPr>
          <a:xfrm>
            <a:off x="5755937" y="3726133"/>
            <a:ext cx="4019076" cy="236603"/>
          </a:xfrm>
          <a:prstGeom prst="rect">
            <a:avLst/>
          </a:prstGeom>
          <a:noFill/>
        </p:spPr>
        <p:txBody>
          <a:bodyPr wrap="square" lIns="0" tIns="0" rIns="0" bIns="0" rtlCol="0">
            <a:spAutoFit/>
          </a:bodyPr>
          <a:lstStyle/>
          <a:p>
            <a:pPr algn="ctr">
              <a:lnSpc>
                <a:spcPct val="120000"/>
              </a:lnSpc>
            </a:pPr>
            <a:r>
              <a:rPr lang="zh-CN" altLang="en-US" sz="1400" dirty="0">
                <a:solidFill>
                  <a:schemeClr val="bg1"/>
                </a:solidFill>
                <a:latin typeface="思源黑体" panose="020B0500000000000000" pitchFamily="34" charset="-122"/>
                <a:ea typeface="思源黑体" panose="020B0500000000000000" pitchFamily="34" charset="-122"/>
              </a:rPr>
              <a:t>请老师们对我们组的课题提出宝贵意见</a:t>
            </a:r>
          </a:p>
        </p:txBody>
      </p:sp>
      <p:pic>
        <p:nvPicPr>
          <p:cNvPr id="8" name="图片 7">
            <a:extLst>
              <a:ext uri="{FF2B5EF4-FFF2-40B4-BE49-F238E27FC236}">
                <a16:creationId xmlns:a16="http://schemas.microsoft.com/office/drawing/2014/main" id="{AF7A9382-A081-E65B-43D3-5EBB2459D6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5739" y="2209183"/>
            <a:ext cx="2786181" cy="3507105"/>
          </a:xfrm>
          <a:prstGeom prst="rect">
            <a:avLst/>
          </a:prstGeom>
        </p:spPr>
      </p:pic>
    </p:spTree>
    <p:extLst>
      <p:ext uri="{BB962C8B-B14F-4D97-AF65-F5344CB8AC3E}">
        <p14:creationId xmlns:p14="http://schemas.microsoft.com/office/powerpoint/2010/main" val="31809110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FCAAA-FD96-A62B-B362-28BA8EC93C4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2C9A6F6D-2DB4-3FCC-3822-A71D2CCC20A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3" name="矩形 2">
            <a:extLst>
              <a:ext uri="{FF2B5EF4-FFF2-40B4-BE49-F238E27FC236}">
                <a16:creationId xmlns:a16="http://schemas.microsoft.com/office/drawing/2014/main" id="{B2B4364A-C993-D4EE-8FAD-4D24B5A710AE}"/>
              </a:ext>
            </a:extLst>
          </p:cNvPr>
          <p:cNvSpPr/>
          <p:nvPr/>
        </p:nvSpPr>
        <p:spPr>
          <a:xfrm>
            <a:off x="2160496" y="1456722"/>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微软雅黑 Light"/>
              <a:cs typeface="+mn-cs"/>
            </a:endParaRPr>
          </a:p>
        </p:txBody>
      </p:sp>
      <p:sp>
        <p:nvSpPr>
          <p:cNvPr id="9" name="矩形 8">
            <a:extLst>
              <a:ext uri="{FF2B5EF4-FFF2-40B4-BE49-F238E27FC236}">
                <a16:creationId xmlns:a16="http://schemas.microsoft.com/office/drawing/2014/main" id="{80B1B5C5-6406-E5B8-796B-04978144D687}"/>
              </a:ext>
            </a:extLst>
          </p:cNvPr>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微软雅黑 Light"/>
              <a:cs typeface="+mn-cs"/>
            </a:endParaRPr>
          </a:p>
        </p:txBody>
      </p:sp>
      <p:sp>
        <p:nvSpPr>
          <p:cNvPr id="4" name="文本框 3">
            <a:extLst>
              <a:ext uri="{FF2B5EF4-FFF2-40B4-BE49-F238E27FC236}">
                <a16:creationId xmlns:a16="http://schemas.microsoft.com/office/drawing/2014/main" id="{77C76901-EDBC-B76C-861E-FD1BC6312E8A}"/>
              </a:ext>
            </a:extLst>
          </p:cNvPr>
          <p:cNvSpPr txBox="1"/>
          <p:nvPr/>
        </p:nvSpPr>
        <p:spPr>
          <a:xfrm>
            <a:off x="2569302" y="2609419"/>
            <a:ext cx="7053116" cy="830997"/>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rPr>
              <a:t>感谢聆听   批评指正</a:t>
            </a:r>
          </a:p>
        </p:txBody>
      </p:sp>
      <p:sp>
        <p:nvSpPr>
          <p:cNvPr id="7" name="PA_圆角矩形 31">
            <a:extLst>
              <a:ext uri="{FF2B5EF4-FFF2-40B4-BE49-F238E27FC236}">
                <a16:creationId xmlns:a16="http://schemas.microsoft.com/office/drawing/2014/main" id="{9E1E5315-EDDA-9AA4-FF85-03DD7FE73C7A}"/>
              </a:ext>
            </a:extLst>
          </p:cNvPr>
          <p:cNvSpPr/>
          <p:nvPr>
            <p:custDataLst>
              <p:tags r:id="rId1"/>
            </p:custDataLst>
          </p:nvPr>
        </p:nvSpPr>
        <p:spPr>
          <a:xfrm>
            <a:off x="4419755" y="4537102"/>
            <a:ext cx="1421591" cy="23290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5" b="0" i="0" u="none" strike="noStrike" kern="1200" cap="none" spc="0" normalizeH="0" baseline="0" noProof="0" dirty="0">
                <a:ln>
                  <a:noFill/>
                </a:ln>
                <a:solidFill>
                  <a:srgbClr val="223762"/>
                </a:solidFill>
                <a:effectLst/>
                <a:uLnTx/>
                <a:uFillTx/>
                <a:latin typeface="思源黑体" panose="020B0500000000000000" pitchFamily="34" charset="-122"/>
                <a:ea typeface="思源黑体" panose="020B0500000000000000" pitchFamily="34" charset="-122"/>
                <a:cs typeface="+mn-cs"/>
              </a:rPr>
              <a:t>答辩人：优品</a:t>
            </a:r>
            <a:r>
              <a:rPr kumimoji="0" lang="en-US" altLang="zh-CN" sz="1065" b="0" i="0" u="none" strike="noStrike" kern="1200" cap="none" spc="0" normalizeH="0" baseline="0" noProof="0" dirty="0">
                <a:ln>
                  <a:noFill/>
                </a:ln>
                <a:solidFill>
                  <a:srgbClr val="223762"/>
                </a:solidFill>
                <a:effectLst/>
                <a:uLnTx/>
                <a:uFillTx/>
                <a:latin typeface="思源黑体" panose="020B0500000000000000" pitchFamily="34" charset="-122"/>
                <a:ea typeface="思源黑体" panose="020B0500000000000000" pitchFamily="34" charset="-122"/>
                <a:cs typeface="+mn-cs"/>
              </a:rPr>
              <a:t>PPT</a:t>
            </a:r>
            <a:endParaRPr kumimoji="0" lang="zh-CN" altLang="en-US" sz="1065" b="0" i="0" u="none" strike="noStrike" kern="1200" cap="none" spc="0" normalizeH="0" baseline="0" noProof="0" dirty="0">
              <a:ln>
                <a:noFill/>
              </a:ln>
              <a:solidFill>
                <a:srgbClr val="223762"/>
              </a:solidFill>
              <a:effectLst/>
              <a:uLnTx/>
              <a:uFillTx/>
              <a:latin typeface="思源黑体" panose="020B0500000000000000" pitchFamily="34" charset="-122"/>
              <a:ea typeface="思源黑体" panose="020B0500000000000000" pitchFamily="34" charset="-122"/>
              <a:cs typeface="+mn-cs"/>
            </a:endParaRPr>
          </a:p>
        </p:txBody>
      </p:sp>
      <p:grpSp>
        <p:nvGrpSpPr>
          <p:cNvPr id="25" name="组合 24">
            <a:extLst>
              <a:ext uri="{FF2B5EF4-FFF2-40B4-BE49-F238E27FC236}">
                <a16:creationId xmlns:a16="http://schemas.microsoft.com/office/drawing/2014/main" id="{3C559906-EC30-42C0-4E35-4B47FC34FB7E}"/>
              </a:ext>
            </a:extLst>
          </p:cNvPr>
          <p:cNvGrpSpPr/>
          <p:nvPr/>
        </p:nvGrpSpPr>
        <p:grpSpPr>
          <a:xfrm>
            <a:off x="5387350" y="978500"/>
            <a:ext cx="1471399" cy="1390482"/>
            <a:chOff x="5387350" y="978500"/>
            <a:chExt cx="1471399" cy="1390482"/>
          </a:xfrm>
        </p:grpSpPr>
        <p:sp>
          <p:nvSpPr>
            <p:cNvPr id="23" name="椭圆 22">
              <a:extLst>
                <a:ext uri="{FF2B5EF4-FFF2-40B4-BE49-F238E27FC236}">
                  <a16:creationId xmlns:a16="http://schemas.microsoft.com/office/drawing/2014/main" id="{B2147913-7334-502F-9E4C-101692FD7678}"/>
                </a:ext>
              </a:extLst>
            </p:cNvPr>
            <p:cNvSpPr/>
            <p:nvPr/>
          </p:nvSpPr>
          <p:spPr>
            <a:xfrm>
              <a:off x="5387350" y="978500"/>
              <a:ext cx="1390484" cy="1390482"/>
            </a:xfrm>
            <a:prstGeom prst="ellipse">
              <a:avLst/>
            </a:prstGeom>
            <a:solidFill>
              <a:srgbClr val="244C89"/>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微软雅黑 Light"/>
                <a:cs typeface="+mn-cs"/>
              </a:endParaRPr>
            </a:p>
          </p:txBody>
        </p:sp>
        <p:grpSp>
          <p:nvGrpSpPr>
            <p:cNvPr id="12" name="组合 11">
              <a:extLst>
                <a:ext uri="{FF2B5EF4-FFF2-40B4-BE49-F238E27FC236}">
                  <a16:creationId xmlns:a16="http://schemas.microsoft.com/office/drawing/2014/main" id="{826F023E-9154-5AC7-554B-0040A53CA917}"/>
                </a:ext>
              </a:extLst>
            </p:cNvPr>
            <p:cNvGrpSpPr/>
            <p:nvPr/>
          </p:nvGrpSpPr>
          <p:grpSpPr>
            <a:xfrm>
              <a:off x="5467041" y="1057257"/>
              <a:ext cx="1391708" cy="1240164"/>
              <a:chOff x="5136357" y="497958"/>
              <a:chExt cx="2111099" cy="1881221"/>
            </a:xfrm>
          </p:grpSpPr>
          <p:grpSp>
            <p:nvGrpSpPr>
              <p:cNvPr id="13" name="组合 12">
                <a:extLst>
                  <a:ext uri="{FF2B5EF4-FFF2-40B4-BE49-F238E27FC236}">
                    <a16:creationId xmlns:a16="http://schemas.microsoft.com/office/drawing/2014/main" id="{B56F3A38-5A71-DC24-B4C6-B6809E054E31}"/>
                  </a:ext>
                </a:extLst>
              </p:cNvPr>
              <p:cNvGrpSpPr/>
              <p:nvPr/>
            </p:nvGrpSpPr>
            <p:grpSpPr>
              <a:xfrm>
                <a:off x="5136357" y="497958"/>
                <a:ext cx="2111099" cy="1881221"/>
                <a:chOff x="5151347" y="437998"/>
                <a:chExt cx="2111099" cy="1881221"/>
              </a:xfrm>
            </p:grpSpPr>
            <p:sp>
              <p:nvSpPr>
                <p:cNvPr id="16" name="椭圆 15">
                  <a:extLst>
                    <a:ext uri="{FF2B5EF4-FFF2-40B4-BE49-F238E27FC236}">
                      <a16:creationId xmlns:a16="http://schemas.microsoft.com/office/drawing/2014/main" id="{CD689C90-E0B3-0ADB-1D0A-B4226E2EEF48}"/>
                    </a:ext>
                  </a:extLst>
                </p:cNvPr>
                <p:cNvSpPr/>
                <p:nvPr/>
              </p:nvSpPr>
              <p:spPr>
                <a:xfrm>
                  <a:off x="5174792" y="470865"/>
                  <a:ext cx="1813907" cy="181390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Calibri"/>
                    <a:ea typeface="微软雅黑 Light"/>
                    <a:cs typeface="+mn-cs"/>
                  </a:endParaRPr>
                </a:p>
              </p:txBody>
            </p:sp>
            <p:pic>
              <p:nvPicPr>
                <p:cNvPr id="17" name="图片 16">
                  <a:extLst>
                    <a:ext uri="{FF2B5EF4-FFF2-40B4-BE49-F238E27FC236}">
                      <a16:creationId xmlns:a16="http://schemas.microsoft.com/office/drawing/2014/main" id="{11F3DDBF-DAF3-675B-4203-A5DE902E303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a:stretch>
                  <a:fillRect/>
                </a:stretch>
              </p:blipFill>
              <p:spPr>
                <a:xfrm>
                  <a:off x="5151347" y="437998"/>
                  <a:ext cx="2111099" cy="1881221"/>
                </a:xfrm>
                <a:prstGeom prst="rect">
                  <a:avLst/>
                </a:prstGeom>
              </p:spPr>
            </p:pic>
          </p:grpSp>
          <p:sp>
            <p:nvSpPr>
              <p:cNvPr id="14" name="椭圆 13">
                <a:extLst>
                  <a:ext uri="{FF2B5EF4-FFF2-40B4-BE49-F238E27FC236}">
                    <a16:creationId xmlns:a16="http://schemas.microsoft.com/office/drawing/2014/main" id="{8160FF1C-1181-5E64-D4DD-60989406ECDE}"/>
                  </a:ext>
                </a:extLst>
              </p:cNvPr>
              <p:cNvSpPr/>
              <p:nvPr/>
            </p:nvSpPr>
            <p:spPr>
              <a:xfrm>
                <a:off x="5472591" y="827607"/>
                <a:ext cx="1209821" cy="1209821"/>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Calibri"/>
                  <a:ea typeface="微软雅黑 Light"/>
                  <a:cs typeface="+mn-cs"/>
                </a:endParaRPr>
              </a:p>
            </p:txBody>
          </p:sp>
          <p:sp>
            <p:nvSpPr>
              <p:cNvPr id="15" name="文本框 14">
                <a:extLst>
                  <a:ext uri="{FF2B5EF4-FFF2-40B4-BE49-F238E27FC236}">
                    <a16:creationId xmlns:a16="http://schemas.microsoft.com/office/drawing/2014/main" id="{D4A41808-6A16-7F4A-05A9-806E2B61EFD5}"/>
                  </a:ext>
                </a:extLst>
              </p:cNvPr>
              <p:cNvSpPr txBox="1"/>
              <p:nvPr/>
            </p:nvSpPr>
            <p:spPr>
              <a:xfrm>
                <a:off x="5457405" y="1186254"/>
                <a:ext cx="1243041" cy="608391"/>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Adobe 仿宋 Std R" panose="02020400000000000000" pitchFamily="18" charset="-122"/>
                    <a:ea typeface="Adobe 仿宋 Std R" panose="02020400000000000000" pitchFamily="18" charset="-122"/>
                    <a:cs typeface="+mn-cs"/>
                  </a:rPr>
                  <a:t>LOGO</a:t>
                </a:r>
                <a:endParaRPr kumimoji="0" lang="zh-CN" altLang="en-US" sz="1800" b="1" i="0" u="none" strike="noStrike" kern="1200" cap="none" spc="0" normalizeH="0" baseline="0" noProof="0" dirty="0">
                  <a:ln>
                    <a:noFill/>
                  </a:ln>
                  <a:solidFill>
                    <a:prstClr val="white"/>
                  </a:solidFill>
                  <a:effectLst/>
                  <a:uLnTx/>
                  <a:uFillTx/>
                  <a:latin typeface="Adobe 仿宋 Std R" panose="02020400000000000000" pitchFamily="18" charset="-122"/>
                  <a:ea typeface="Adobe 仿宋 Std R" panose="02020400000000000000" pitchFamily="18" charset="-122"/>
                  <a:cs typeface="+mn-cs"/>
                </a:endParaRPr>
              </a:p>
            </p:txBody>
          </p:sp>
        </p:grpSp>
      </p:grpSp>
      <p:sp>
        <p:nvSpPr>
          <p:cNvPr id="18" name="矩形 259">
            <a:extLst>
              <a:ext uri="{FF2B5EF4-FFF2-40B4-BE49-F238E27FC236}">
                <a16:creationId xmlns:a16="http://schemas.microsoft.com/office/drawing/2014/main" id="{DB3E3098-3A6D-03DB-963B-779685691ED2}"/>
              </a:ext>
            </a:extLst>
          </p:cNvPr>
          <p:cNvSpPr>
            <a:spLocks noChangeArrowheads="1"/>
          </p:cNvSpPr>
          <p:nvPr/>
        </p:nvSpPr>
        <p:spPr bwMode="auto">
          <a:xfrm>
            <a:off x="1928355" y="3377980"/>
            <a:ext cx="8335010" cy="304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sym typeface="Calibri" panose="020F0502020204030204" pitchFamily="34" charset="0"/>
              </a:rPr>
              <a:t>院系</a:t>
            </a:r>
            <a:r>
              <a:rPr kumimoji="0" lang="en-US" altLang="zh-CN" sz="18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sym typeface="Calibri" panose="020F0502020204030204" pitchFamily="34" charset="0"/>
              </a:rPr>
              <a:t>/</a:t>
            </a:r>
            <a:r>
              <a:rPr kumimoji="0" lang="zh-CN" altLang="en-US" sz="18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sym typeface="Calibri" panose="020F0502020204030204" pitchFamily="34" charset="0"/>
              </a:rPr>
              <a:t>专业：电子信息科学与技术</a:t>
            </a:r>
            <a:r>
              <a:rPr kumimoji="0" lang="en-US" altLang="zh-CN" sz="18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sym typeface="Calibri" panose="020F0502020204030204" pitchFamily="34" charset="0"/>
              </a:rPr>
              <a:t>xxx</a:t>
            </a:r>
            <a:r>
              <a:rPr kumimoji="0" lang="zh-CN" altLang="en-US" sz="18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sym typeface="Calibri" panose="020F0502020204030204" pitchFamily="34" charset="0"/>
              </a:rPr>
              <a:t>班</a:t>
            </a:r>
            <a:endParaRPr kumimoji="0" lang="en-US" altLang="zh-CN" sz="18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mn-cs"/>
              <a:sym typeface="Calibri" panose="020F0502020204030204" pitchFamily="34" charset="0"/>
            </a:endParaRPr>
          </a:p>
        </p:txBody>
      </p:sp>
      <p:sp>
        <p:nvSpPr>
          <p:cNvPr id="19" name="矩形 259">
            <a:extLst>
              <a:ext uri="{FF2B5EF4-FFF2-40B4-BE49-F238E27FC236}">
                <a16:creationId xmlns:a16="http://schemas.microsoft.com/office/drawing/2014/main" id="{F7AD5931-A1A8-20B5-7290-B66AB9FA211D}"/>
              </a:ext>
            </a:extLst>
          </p:cNvPr>
          <p:cNvSpPr>
            <a:spLocks noChangeArrowheads="1"/>
          </p:cNvSpPr>
          <p:nvPr/>
        </p:nvSpPr>
        <p:spPr bwMode="auto">
          <a:xfrm>
            <a:off x="3686048" y="3761228"/>
            <a:ext cx="481962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en-US" altLang="zh-CN" sz="7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Arial" panose="020B0604020202020204" pitchFamily="34" charset="0"/>
                <a:sym typeface="Calibri" panose="020F0502020204030204" pitchFamily="34" charset="0"/>
              </a:rPr>
              <a:t>CONTRACTED WIND POWERPOINT TEMPLATE DESIGNS CONTRACTED WIND POWERPOINT</a:t>
            </a:r>
          </a:p>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en-US" altLang="zh-CN" sz="7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Arial" panose="020B0604020202020204" pitchFamily="34" charset="0"/>
                <a:sym typeface="Calibri" panose="020F0502020204030204" pitchFamily="34" charset="0"/>
              </a:rPr>
              <a:t> TEMPLATE DESIGNS CONTRACTED WIND POWERPOINT TEMPLATE DESIGNS CONTRACTED WIND POWERPOINT TEMPLATE DESIGNS</a:t>
            </a:r>
            <a:endParaRPr kumimoji="0" lang="zh-CN" altLang="en-US" sz="700" b="0" i="0" u="none" strike="noStrike" kern="1200" cap="none" spc="0" normalizeH="0" baseline="0" noProof="0" dirty="0">
              <a:ln>
                <a:noFill/>
              </a:ln>
              <a:solidFill>
                <a:prstClr val="white"/>
              </a:solidFill>
              <a:effectLst/>
              <a:uLnTx/>
              <a:uFillTx/>
              <a:latin typeface="思源黑体" panose="020B0500000000000000" pitchFamily="34" charset="-122"/>
              <a:ea typeface="思源黑体" panose="020B0500000000000000" pitchFamily="34" charset="-122"/>
              <a:cs typeface="Arial" panose="020B0604020202020204" pitchFamily="34" charset="0"/>
              <a:sym typeface="Calibri" panose="020F0502020204030204" pitchFamily="34" charset="0"/>
            </a:endParaRPr>
          </a:p>
        </p:txBody>
      </p:sp>
      <p:sp>
        <p:nvSpPr>
          <p:cNvPr id="20" name="PA_圆角矩形 31">
            <a:extLst>
              <a:ext uri="{FF2B5EF4-FFF2-40B4-BE49-F238E27FC236}">
                <a16:creationId xmlns:a16="http://schemas.microsoft.com/office/drawing/2014/main" id="{8AD5424F-958B-CB5E-DE14-B57FA77BFC25}"/>
              </a:ext>
            </a:extLst>
          </p:cNvPr>
          <p:cNvSpPr/>
          <p:nvPr>
            <p:custDataLst>
              <p:tags r:id="rId2"/>
            </p:custDataLst>
          </p:nvPr>
        </p:nvSpPr>
        <p:spPr>
          <a:xfrm>
            <a:off x="6402773" y="4537102"/>
            <a:ext cx="1421591" cy="23290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5" b="0" i="0" u="none" strike="noStrike" kern="1200" cap="none" spc="0" normalizeH="0" baseline="0" noProof="0" dirty="0">
                <a:ln>
                  <a:noFill/>
                </a:ln>
                <a:solidFill>
                  <a:srgbClr val="223762"/>
                </a:solidFill>
                <a:effectLst/>
                <a:uLnTx/>
                <a:uFillTx/>
                <a:latin typeface="思源黑体" panose="020B0500000000000000" pitchFamily="34" charset="-122"/>
                <a:ea typeface="思源黑体" panose="020B0500000000000000" pitchFamily="34" charset="-122"/>
                <a:cs typeface="+mn-cs"/>
              </a:rPr>
              <a:t>指导老师：张教授</a:t>
            </a:r>
          </a:p>
        </p:txBody>
      </p:sp>
    </p:spTree>
    <p:extLst>
      <p:ext uri="{BB962C8B-B14F-4D97-AF65-F5344CB8AC3E}">
        <p14:creationId xmlns:p14="http://schemas.microsoft.com/office/powerpoint/2010/main" val="19176314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21"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heel(8)">
                                      <p:cBhvr>
                                        <p:cTn id="17" dur="750"/>
                                        <p:tgtEl>
                                          <p:spTgt spid="9"/>
                                        </p:tgtEl>
                                      </p:cBhvr>
                                    </p:animEffect>
                                  </p:child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16" presetClass="entr" presetSubtype="21" fill="hold" grpId="0" nodeType="withEffect">
                                  <p:stCondLst>
                                    <p:cond delay="250"/>
                                  </p:stCondLst>
                                  <p:childTnLst>
                                    <p:set>
                                      <p:cBhvr>
                                        <p:cTn id="24" dur="1" fill="hold">
                                          <p:stCondLst>
                                            <p:cond delay="0"/>
                                          </p:stCondLst>
                                        </p:cTn>
                                        <p:tgtEl>
                                          <p:spTgt spid="18"/>
                                        </p:tgtEl>
                                        <p:attrNameLst>
                                          <p:attrName>style.visibility</p:attrName>
                                        </p:attrNameLst>
                                      </p:cBhvr>
                                      <p:to>
                                        <p:strVal val="visible"/>
                                      </p:to>
                                    </p:set>
                                    <p:animEffect transition="in" filter="barn(inVertical)">
                                      <p:cBhvr>
                                        <p:cTn id="25" dur="500"/>
                                        <p:tgtEl>
                                          <p:spTgt spid="18"/>
                                        </p:tgtEl>
                                      </p:cBhvr>
                                    </p:animEffect>
                                  </p:childTnLst>
                                </p:cTn>
                              </p:par>
                              <p:par>
                                <p:cTn id="26" presetID="53" presetClass="entr" presetSubtype="16" fill="hold" grpId="0" nodeType="withEffect">
                                  <p:stCondLst>
                                    <p:cond delay="75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1" presetID="10" presetClass="entr" presetSubtype="0" fill="hold" grpId="0" nodeType="withEffect">
                                  <p:stCondLst>
                                    <p:cond delay="50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53" presetClass="entr" presetSubtype="16" fill="hold" grpId="0" nodeType="withEffect">
                                  <p:stCondLst>
                                    <p:cond delay="75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ppt_w</p:attrName>
                                        </p:attrNameLst>
                                      </p:cBhvr>
                                      <p:tavLst>
                                        <p:tav tm="0">
                                          <p:val>
                                            <p:fltVal val="0"/>
                                          </p:val>
                                        </p:tav>
                                        <p:tav tm="100000">
                                          <p:val>
                                            <p:strVal val="#ppt_w"/>
                                          </p:val>
                                        </p:tav>
                                      </p:tavLst>
                                    </p:anim>
                                    <p:anim calcmode="lin" valueType="num">
                                      <p:cBhvr>
                                        <p:cTn id="37" dur="500" fill="hold"/>
                                        <p:tgtEl>
                                          <p:spTgt spid="20"/>
                                        </p:tgtEl>
                                        <p:attrNameLst>
                                          <p:attrName>ppt_h</p:attrName>
                                        </p:attrNameLst>
                                      </p:cBhvr>
                                      <p:tavLst>
                                        <p:tav tm="0">
                                          <p:val>
                                            <p:fltVal val="0"/>
                                          </p:val>
                                        </p:tav>
                                        <p:tav tm="100000">
                                          <p:val>
                                            <p:strVal val="#ppt_h"/>
                                          </p:val>
                                        </p:tav>
                                      </p:tavLst>
                                    </p:anim>
                                    <p:animEffect transition="in" filter="fade">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4" grpId="0"/>
      <p:bldP spid="7" grpId="0" animBg="1"/>
      <p:bldP spid="18" grpId="0"/>
      <p:bldP spid="19" grpId="0"/>
      <p:bldP spid="2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PA" val="v3.2.0"/>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885</Words>
  <Application>Microsoft Office PowerPoint</Application>
  <PresentationFormat>宽屏</PresentationFormat>
  <Paragraphs>126</Paragraphs>
  <Slides>9</Slides>
  <Notes>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Adobe 仿宋 Std R</vt:lpstr>
      <vt:lpstr>Noto Sans SC</vt:lpstr>
      <vt:lpstr>等线</vt:lpstr>
      <vt:lpstr>等线 Light</vt:lpstr>
      <vt:lpstr>思源黑体</vt:lpstr>
      <vt:lpstr>微软雅黑 Light</vt:lpstr>
      <vt:lpstr>Agency FB</vt:lpstr>
      <vt:lpstr>Arial</vt:lpstr>
      <vt:lpstr>Calibri</vt:lpstr>
      <vt:lpstr>Impact</vt:lpstr>
      <vt:lpstr>Office 主题​​</vt:lpstr>
      <vt:lpstr>PowerPoint 演示文稿</vt:lpstr>
      <vt:lpstr>理论基础</vt:lpstr>
      <vt:lpstr>研究方法与步骤</vt:lpstr>
      <vt:lpstr>团队成员及分工</vt:lpstr>
      <vt:lpstr>项目时间安排</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笑颜 王</dc:creator>
  <cp:lastModifiedBy>笑颜 王</cp:lastModifiedBy>
  <cp:revision>3</cp:revision>
  <dcterms:created xsi:type="dcterms:W3CDTF">2026-05-24T14:10:25Z</dcterms:created>
  <dcterms:modified xsi:type="dcterms:W3CDTF">2026-05-28T10:55:00Z</dcterms:modified>
</cp:coreProperties>
</file>